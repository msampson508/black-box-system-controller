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4"/>
  </p:sldMasterIdLst>
  <p:notesMasterIdLst>
    <p:notesMasterId r:id="rId26"/>
  </p:notesMasterIdLst>
  <p:sldIdLst>
    <p:sldId id="279" r:id="rId5"/>
    <p:sldId id="280" r:id="rId6"/>
    <p:sldId id="258" r:id="rId7"/>
    <p:sldId id="259" r:id="rId8"/>
    <p:sldId id="257" r:id="rId9"/>
    <p:sldId id="298" r:id="rId10"/>
    <p:sldId id="282" r:id="rId11"/>
    <p:sldId id="284" r:id="rId12"/>
    <p:sldId id="292" r:id="rId13"/>
    <p:sldId id="289" r:id="rId14"/>
    <p:sldId id="290" r:id="rId15"/>
    <p:sldId id="291" r:id="rId16"/>
    <p:sldId id="285" r:id="rId17"/>
    <p:sldId id="297" r:id="rId18"/>
    <p:sldId id="286" r:id="rId19"/>
    <p:sldId id="287" r:id="rId20"/>
    <p:sldId id="294" r:id="rId21"/>
    <p:sldId id="299" r:id="rId22"/>
    <p:sldId id="296" r:id="rId23"/>
    <p:sldId id="295" r:id="rId24"/>
    <p:sldId id="293" r:id="rId25"/>
  </p:sldIdLst>
  <p:sldSz cx="9144000" cy="5143500" type="screen16x9"/>
  <p:notesSz cx="6858000" cy="9144000"/>
  <p:embeddedFontLst>
    <p:embeddedFont>
      <p:font typeface="Montserrat Medium" panose="00000600000000000000" pitchFamily="2" charset="0"/>
      <p:regular r:id="rId27"/>
      <p:bold r:id="rId28"/>
      <p:italic r:id="rId29"/>
      <p:boldItalic r:id="rId30"/>
    </p:embeddedFont>
    <p:embeddedFont>
      <p:font typeface="Work Sans" pitchFamily="2" charset="0"/>
      <p:regular r:id="rId31"/>
      <p:bold r:id="rId32"/>
      <p:italic r:id="rId33"/>
      <p:boldItalic r:id="rId34"/>
    </p:embeddedFont>
    <p:embeddedFont>
      <p:font typeface="Work Sans Black" pitchFamily="2" charset="0"/>
      <p:bold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67">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837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AAE56C-ED00-4863-BFCA-50439806C549}">
  <a:tblStyle styleId="{FAAAE56C-ED00-4863-BFCA-50439806C54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78" y="363"/>
      </p:cViewPr>
      <p:guideLst>
        <p:guide orient="horz" pos="66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8.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Ritchie" userId="39f8e0c76616aa2c" providerId="LiveId" clId="{FB2FAC0E-EF3E-4C11-98EB-222E71C8C80F}"/>
    <pc:docChg chg="modSld">
      <pc:chgData name="Brendan Ritchie" userId="39f8e0c76616aa2c" providerId="LiveId" clId="{FB2FAC0E-EF3E-4C11-98EB-222E71C8C80F}" dt="2026-04-07T15:48:46.002" v="2" actId="20577"/>
      <pc:docMkLst>
        <pc:docMk/>
      </pc:docMkLst>
      <pc:sldChg chg="modSp mod">
        <pc:chgData name="Brendan Ritchie" userId="39f8e0c76616aa2c" providerId="LiveId" clId="{FB2FAC0E-EF3E-4C11-98EB-222E71C8C80F}" dt="2026-04-07T15:48:46.002" v="2" actId="20577"/>
        <pc:sldMkLst>
          <pc:docMk/>
          <pc:sldMk cId="796382833" sldId="287"/>
        </pc:sldMkLst>
        <pc:spChg chg="mod">
          <ac:chgData name="Brendan Ritchie" userId="39f8e0c76616aa2c" providerId="LiveId" clId="{FB2FAC0E-EF3E-4C11-98EB-222E71C8C80F}" dt="2026-04-07T15:48:46.002" v="2" actId="20577"/>
          <ac:spMkLst>
            <pc:docMk/>
            <pc:sldMk cId="796382833" sldId="287"/>
            <ac:spMk id="2" creationId="{492FB3A0-2F01-EC77-B10E-CB4BB1CC26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a:extLst>
            <a:ext uri="{FF2B5EF4-FFF2-40B4-BE49-F238E27FC236}">
              <a16:creationId xmlns:a16="http://schemas.microsoft.com/office/drawing/2014/main" id="{23A08731-9B7A-F65C-6763-7316470D49E6}"/>
            </a:ext>
          </a:extLst>
        </p:cNvPr>
        <p:cNvGrpSpPr/>
        <p:nvPr/>
      </p:nvGrpSpPr>
      <p:grpSpPr>
        <a:xfrm>
          <a:off x="0" y="0"/>
          <a:ext cx="0" cy="0"/>
          <a:chOff x="0" y="0"/>
          <a:chExt cx="0" cy="0"/>
        </a:xfrm>
      </p:grpSpPr>
      <p:sp>
        <p:nvSpPr>
          <p:cNvPr id="288" name="Google Shape;288;g1db79ab6701_0_33:notes">
            <a:extLst>
              <a:ext uri="{FF2B5EF4-FFF2-40B4-BE49-F238E27FC236}">
                <a16:creationId xmlns:a16="http://schemas.microsoft.com/office/drawing/2014/main" id="{0C38035B-554B-15FB-4204-E3650D05F8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db79ab6701_0_33:notes">
            <a:extLst>
              <a:ext uri="{FF2B5EF4-FFF2-40B4-BE49-F238E27FC236}">
                <a16:creationId xmlns:a16="http://schemas.microsoft.com/office/drawing/2014/main" id="{E8601707-51EA-5A7E-6337-BD96D7702B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0716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db79ab670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db79ab670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db79ab670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1db79ab670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db79ab67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db79ab67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A0003D55-974F-A58E-B2E4-1B3F9FD53D1B}"/>
            </a:ext>
          </a:extLst>
        </p:cNvPr>
        <p:cNvGrpSpPr/>
        <p:nvPr/>
      </p:nvGrpSpPr>
      <p:grpSpPr>
        <a:xfrm>
          <a:off x="0" y="0"/>
          <a:ext cx="0" cy="0"/>
          <a:chOff x="0" y="0"/>
          <a:chExt cx="0" cy="0"/>
        </a:xfrm>
      </p:grpSpPr>
      <p:sp>
        <p:nvSpPr>
          <p:cNvPr id="279" name="Google Shape;279;g1db79ab6701_0_0:notes">
            <a:extLst>
              <a:ext uri="{FF2B5EF4-FFF2-40B4-BE49-F238E27FC236}">
                <a16:creationId xmlns:a16="http://schemas.microsoft.com/office/drawing/2014/main" id="{4F75BC46-7AA1-DCA2-F8E7-F95EE58AAD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db79ab6701_0_0:notes">
            <a:extLst>
              <a:ext uri="{FF2B5EF4-FFF2-40B4-BE49-F238E27FC236}">
                <a16:creationId xmlns:a16="http://schemas.microsoft.com/office/drawing/2014/main" id="{2C4A852A-B74F-1849-D78D-A116506A08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5395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2346AC28-DCCE-C9F3-742F-50970D72732E}"/>
            </a:ext>
          </a:extLst>
        </p:cNvPr>
        <p:cNvGrpSpPr/>
        <p:nvPr/>
      </p:nvGrpSpPr>
      <p:grpSpPr>
        <a:xfrm>
          <a:off x="0" y="0"/>
          <a:ext cx="0" cy="0"/>
          <a:chOff x="0" y="0"/>
          <a:chExt cx="0" cy="0"/>
        </a:xfrm>
      </p:grpSpPr>
      <p:sp>
        <p:nvSpPr>
          <p:cNvPr id="279" name="Google Shape;279;g1db79ab6701_0_0:notes">
            <a:extLst>
              <a:ext uri="{FF2B5EF4-FFF2-40B4-BE49-F238E27FC236}">
                <a16:creationId xmlns:a16="http://schemas.microsoft.com/office/drawing/2014/main" id="{4BCD7E05-97A0-BFDA-0A4D-C6E979F56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db79ab6701_0_0:notes">
            <a:extLst>
              <a:ext uri="{FF2B5EF4-FFF2-40B4-BE49-F238E27FC236}">
                <a16:creationId xmlns:a16="http://schemas.microsoft.com/office/drawing/2014/main" id="{B85B7B49-760D-F01C-6A02-216A7EB49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1670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C8D405F-4E2D-F5EB-8F74-B52093DC6318}"/>
            </a:ext>
          </a:extLst>
        </p:cNvPr>
        <p:cNvGrpSpPr/>
        <p:nvPr/>
      </p:nvGrpSpPr>
      <p:grpSpPr>
        <a:xfrm>
          <a:off x="0" y="0"/>
          <a:ext cx="0" cy="0"/>
          <a:chOff x="0" y="0"/>
          <a:chExt cx="0" cy="0"/>
        </a:xfrm>
      </p:grpSpPr>
      <p:sp>
        <p:nvSpPr>
          <p:cNvPr id="279" name="Google Shape;279;g1db79ab6701_0_0:notes">
            <a:extLst>
              <a:ext uri="{FF2B5EF4-FFF2-40B4-BE49-F238E27FC236}">
                <a16:creationId xmlns:a16="http://schemas.microsoft.com/office/drawing/2014/main" id="{54B715B5-AB04-FB70-5E80-3DB6007A1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db79ab6701_0_0:notes">
            <a:extLst>
              <a:ext uri="{FF2B5EF4-FFF2-40B4-BE49-F238E27FC236}">
                <a16:creationId xmlns:a16="http://schemas.microsoft.com/office/drawing/2014/main" id="{1734C81A-6C71-C9FF-0781-E7FB402CB5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486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2659068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t>For our triple bottom line, we choose to evaluate it in terms of a real world application. </a:t>
            </a:r>
            <a:r>
              <a:rPr lang="en-US" err="1"/>
              <a:t>ie</a:t>
            </a:r>
            <a:r>
              <a:rPr lang="en-US"/>
              <a:t> the impacts of applying our system to control the room temperature in Dupuis auditorium, a room notorious for students and facility over heating</a:t>
            </a:r>
          </a:p>
          <a:p>
            <a:endParaRPr lang="en-CA"/>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t>For our triple bottom line, we choose to evaluate it in terms of a real world application the impacts of applying our system to Dupuis auditorium, a room notorious for students and facility over heating</a:t>
            </a:r>
          </a:p>
          <a:p>
            <a:endParaRPr lang="en-CA"/>
          </a:p>
          <a:p>
            <a:pPr marL="158750" indent="0">
              <a:buNone/>
            </a:pPr>
            <a:endParaRPr lang="en-CA"/>
          </a:p>
        </p:txBody>
      </p:sp>
    </p:spTree>
    <p:extLst>
      <p:ext uri="{BB962C8B-B14F-4D97-AF65-F5344CB8AC3E}">
        <p14:creationId xmlns:p14="http://schemas.microsoft.com/office/powerpoint/2010/main" val="2699767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We started by analyzing how the lecture hall is actually used.  Given that the room hosts on average 5 to 7 classes a day, if we assume each class has 60% capacity  and Each person gives off about 100 watts of heat then over the course of just one hour the room temperature rises to from 22 to 27 degrees.</a:t>
            </a:r>
          </a:p>
          <a:p>
            <a:endParaRPr lang="en-US"/>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t>We started by analyzing how the room is actually used. Given it hosts 5 to 7 classes a day if we assume each class has 130 people and Each person gives off 100 watts of heat then over the course of one hour the room temperature rises to from 22 to 27 degrees.</a:t>
            </a:r>
          </a:p>
          <a:p>
            <a:endParaRPr lang="en-CA"/>
          </a:p>
        </p:txBody>
      </p:sp>
    </p:spTree>
    <p:extLst>
      <p:ext uri="{BB962C8B-B14F-4D97-AF65-F5344CB8AC3E}">
        <p14:creationId xmlns:p14="http://schemas.microsoft.com/office/powerpoint/2010/main" val="4186892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a:t>This creates problems across all three areas of the triple bottom line.</a:t>
            </a:r>
          </a:p>
          <a:p>
            <a:pPr marL="158750" indent="0">
              <a:buNone/>
            </a:pPr>
            <a:r>
              <a:rPr lang="en-US"/>
              <a:t>Socially, even a 1 degree increase above ideal room temp can reduce learning performance by about 2 percent, so a hotter room makes it harder to focus.</a:t>
            </a:r>
          </a:p>
          <a:p>
            <a:pPr marL="158750" indent="0">
              <a:buNone/>
            </a:pPr>
            <a:r>
              <a:rPr lang="en-US"/>
              <a:t>	our system will minimize the difference, improving focus, concentration, and comfort of all in the room</a:t>
            </a:r>
          </a:p>
          <a:p>
            <a:pPr marL="158750" indent="0">
              <a:buNone/>
            </a:pPr>
            <a:endParaRPr lang="en-US"/>
          </a:p>
          <a:p>
            <a:pPr marL="158750" indent="0">
              <a:buNone/>
            </a:pPr>
            <a:r>
              <a:rPr lang="en-US"/>
              <a:t>Economically, the HVAC system is still heating the room as if it were empty, which leads to about 15 dollars per day in wasted energy.</a:t>
            </a:r>
          </a:p>
          <a:p>
            <a:pPr marL="158750" indent="0">
              <a:buNone/>
            </a:pPr>
            <a:r>
              <a:rPr lang="en-US"/>
              <a:t>	our system will cut this cost, and If the university </a:t>
            </a:r>
            <a:r>
              <a:rPr lang="en-US" err="1"/>
              <a:t>applys</a:t>
            </a:r>
            <a:r>
              <a:rPr lang="en-US"/>
              <a:t> it on large scale, has the potential to save hundreds a year in expenses </a:t>
            </a:r>
          </a:p>
          <a:p>
            <a:pPr marL="158750" indent="0">
              <a:buNone/>
            </a:pPr>
            <a:r>
              <a:rPr lang="en-US"/>
              <a:t>	</a:t>
            </a:r>
          </a:p>
          <a:p>
            <a:pPr marL="158750" indent="0">
              <a:buNone/>
            </a:pPr>
            <a:endParaRPr lang="en-US"/>
          </a:p>
          <a:p>
            <a:pPr marL="158750" indent="0">
              <a:buNone/>
            </a:pPr>
            <a:r>
              <a:rPr lang="en-US"/>
              <a:t>Environmentally, all of this extra heating is unnecessary. It wastes natural resources used for power generation like natural gas creating unnecessary pollution and degrading the heating equipment faster, leading to a fire hazard or early retirement (it ending up in landfills faster)</a:t>
            </a:r>
          </a:p>
          <a:p>
            <a:pPr marL="158750" indent="0">
              <a:buNone/>
            </a:pPr>
            <a:endParaRPr lang="en-US"/>
          </a:p>
          <a:p>
            <a:pPr marL="158750" indent="0">
              <a:buNone/>
            </a:pPr>
            <a:endParaRPr lang="en-US"/>
          </a:p>
          <a:p>
            <a:pPr marL="158750" indent="0">
              <a:buNone/>
            </a:pPr>
            <a:endParaRPr lang="en-US"/>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our system will address and minimize then difference. Saving the university money</a:t>
            </a:r>
          </a:p>
          <a:p>
            <a:pPr marL="158750" indent="0">
              <a:buNone/>
            </a:pPr>
            <a:endParaRPr lang="en-US"/>
          </a:p>
          <a:p>
            <a:pPr marL="158750" indent="0">
              <a:buNone/>
            </a:pPr>
            <a:endParaRPr lang="en-US"/>
          </a:p>
          <a:p>
            <a:pPr marL="158750" indent="0">
              <a:buNone/>
            </a:pPr>
            <a:r>
              <a:rPr lang="en-US"/>
              <a:t> </a:t>
            </a:r>
          </a:p>
          <a:p>
            <a:endParaRPr lang="en-US"/>
          </a:p>
          <a:p>
            <a:r>
              <a:rPr lang="en-US"/>
              <a:t>Relate it to fire safety !!! Global warming in relation to HVAC for easy planet </a:t>
            </a:r>
          </a:p>
          <a:p>
            <a:r>
              <a:rPr lang="en-US"/>
              <a:t>Aside from that continue and just finish your little story and that’s fine just write a rough draft </a:t>
            </a:r>
            <a:endParaRPr lang="en-CA"/>
          </a:p>
        </p:txBody>
      </p:sp>
    </p:spTree>
    <p:extLst>
      <p:ext uri="{BB962C8B-B14F-4D97-AF65-F5344CB8AC3E}">
        <p14:creationId xmlns:p14="http://schemas.microsoft.com/office/powerpoint/2010/main" val="4039825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1464975"/>
            <a:ext cx="6068100" cy="15699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3034875"/>
            <a:ext cx="60681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Montserrat Medium"/>
              <a:buNone/>
              <a:defRPr>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800"/>
              <a:buNone/>
              <a:defRPr sz="1800">
                <a:solidFill>
                  <a:schemeClr val="dk1"/>
                </a:solidFill>
              </a:defRPr>
            </a:lvl2pPr>
            <a:lvl3pPr lvl="2" algn="ctr" rtl="0">
              <a:lnSpc>
                <a:spcPct val="100000"/>
              </a:lnSpc>
              <a:spcBef>
                <a:spcPts val="0"/>
              </a:spcBef>
              <a:spcAft>
                <a:spcPts val="0"/>
              </a:spcAft>
              <a:buClr>
                <a:schemeClr val="dk1"/>
              </a:buClr>
              <a:buSzPts val="1800"/>
              <a:buNone/>
              <a:defRPr sz="1800">
                <a:solidFill>
                  <a:schemeClr val="dk1"/>
                </a:solidFill>
              </a:defRPr>
            </a:lvl3pPr>
            <a:lvl4pPr lvl="3" algn="ctr" rtl="0">
              <a:lnSpc>
                <a:spcPct val="100000"/>
              </a:lnSpc>
              <a:spcBef>
                <a:spcPts val="0"/>
              </a:spcBef>
              <a:spcAft>
                <a:spcPts val="0"/>
              </a:spcAft>
              <a:buClr>
                <a:schemeClr val="dk1"/>
              </a:buClr>
              <a:buSzPts val="1800"/>
              <a:buNone/>
              <a:defRPr sz="1800">
                <a:solidFill>
                  <a:schemeClr val="dk1"/>
                </a:solidFill>
              </a:defRPr>
            </a:lvl4pPr>
            <a:lvl5pPr lvl="4" algn="ctr" rtl="0">
              <a:lnSpc>
                <a:spcPct val="100000"/>
              </a:lnSpc>
              <a:spcBef>
                <a:spcPts val="0"/>
              </a:spcBef>
              <a:spcAft>
                <a:spcPts val="0"/>
              </a:spcAft>
              <a:buClr>
                <a:schemeClr val="dk1"/>
              </a:buClr>
              <a:buSzPts val="1800"/>
              <a:buNone/>
              <a:defRPr sz="1800">
                <a:solidFill>
                  <a:schemeClr val="dk1"/>
                </a:solidFill>
              </a:defRPr>
            </a:lvl5pPr>
            <a:lvl6pPr lvl="5" algn="ctr" rtl="0">
              <a:lnSpc>
                <a:spcPct val="100000"/>
              </a:lnSpc>
              <a:spcBef>
                <a:spcPts val="0"/>
              </a:spcBef>
              <a:spcAft>
                <a:spcPts val="0"/>
              </a:spcAft>
              <a:buClr>
                <a:schemeClr val="dk1"/>
              </a:buClr>
              <a:buSzPts val="1800"/>
              <a:buNone/>
              <a:defRPr sz="1800">
                <a:solidFill>
                  <a:schemeClr val="dk1"/>
                </a:solidFill>
              </a:defRPr>
            </a:lvl6pPr>
            <a:lvl7pPr lvl="6" algn="ctr" rtl="0">
              <a:lnSpc>
                <a:spcPct val="100000"/>
              </a:lnSpc>
              <a:spcBef>
                <a:spcPts val="0"/>
              </a:spcBef>
              <a:spcAft>
                <a:spcPts val="0"/>
              </a:spcAft>
              <a:buClr>
                <a:schemeClr val="dk1"/>
              </a:buClr>
              <a:buSzPts val="1800"/>
              <a:buNone/>
              <a:defRPr sz="1800">
                <a:solidFill>
                  <a:schemeClr val="dk1"/>
                </a:solidFill>
              </a:defRPr>
            </a:lvl7pPr>
            <a:lvl8pPr lvl="7" algn="ctr" rtl="0">
              <a:lnSpc>
                <a:spcPct val="100000"/>
              </a:lnSpc>
              <a:spcBef>
                <a:spcPts val="0"/>
              </a:spcBef>
              <a:spcAft>
                <a:spcPts val="0"/>
              </a:spcAft>
              <a:buClr>
                <a:schemeClr val="dk1"/>
              </a:buClr>
              <a:buSzPts val="1800"/>
              <a:buNone/>
              <a:defRPr sz="1800">
                <a:solidFill>
                  <a:schemeClr val="dk1"/>
                </a:solidFill>
              </a:defRPr>
            </a:lvl8pPr>
            <a:lvl9pPr lvl="8" algn="ctr" rtl="0">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2" name="Google Shape;12;p2"/>
          <p:cNvSpPr/>
          <p:nvPr/>
        </p:nvSpPr>
        <p:spPr>
          <a:xfrm>
            <a:off x="-1850205" y="-526612"/>
            <a:ext cx="5140424" cy="2078065"/>
          </a:xfrm>
          <a:custGeom>
            <a:avLst/>
            <a:gdLst/>
            <a:ahLst/>
            <a:cxnLst/>
            <a:rect l="l" t="t" r="r" b="b"/>
            <a:pathLst>
              <a:path w="157718" h="63759" extrusionOk="0">
                <a:moveTo>
                  <a:pt x="155386" y="0"/>
                </a:moveTo>
                <a:cubicBezTo>
                  <a:pt x="155343" y="0"/>
                  <a:pt x="155300" y="2"/>
                  <a:pt x="155257" y="4"/>
                </a:cubicBezTo>
                <a:cubicBezTo>
                  <a:pt x="122700" y="2141"/>
                  <a:pt x="90074" y="3220"/>
                  <a:pt x="57444" y="3220"/>
                </a:cubicBezTo>
                <a:cubicBezTo>
                  <a:pt x="50495" y="3220"/>
                  <a:pt x="43546" y="3171"/>
                  <a:pt x="36598" y="3073"/>
                </a:cubicBezTo>
                <a:cubicBezTo>
                  <a:pt x="25402" y="2916"/>
                  <a:pt x="14212" y="2629"/>
                  <a:pt x="3024" y="2224"/>
                </a:cubicBezTo>
                <a:cubicBezTo>
                  <a:pt x="2988" y="2223"/>
                  <a:pt x="2953" y="2222"/>
                  <a:pt x="2918" y="2222"/>
                </a:cubicBezTo>
                <a:cubicBezTo>
                  <a:pt x="151" y="2222"/>
                  <a:pt x="1" y="6284"/>
                  <a:pt x="2461" y="6915"/>
                </a:cubicBezTo>
                <a:cubicBezTo>
                  <a:pt x="2279" y="7232"/>
                  <a:pt x="2166" y="7607"/>
                  <a:pt x="2151" y="8056"/>
                </a:cubicBezTo>
                <a:cubicBezTo>
                  <a:pt x="1651" y="23651"/>
                  <a:pt x="17336" y="31601"/>
                  <a:pt x="29311" y="37357"/>
                </a:cubicBezTo>
                <a:cubicBezTo>
                  <a:pt x="36136" y="40642"/>
                  <a:pt x="42545" y="44239"/>
                  <a:pt x="47169" y="50400"/>
                </a:cubicBezTo>
                <a:cubicBezTo>
                  <a:pt x="51420" y="56060"/>
                  <a:pt x="55391" y="61396"/>
                  <a:pt x="62651" y="63134"/>
                </a:cubicBezTo>
                <a:cubicBezTo>
                  <a:pt x="64391" y="63550"/>
                  <a:pt x="66186" y="63759"/>
                  <a:pt x="67981" y="63759"/>
                </a:cubicBezTo>
                <a:cubicBezTo>
                  <a:pt x="72549" y="63759"/>
                  <a:pt x="77122" y="62406"/>
                  <a:pt x="80805" y="59668"/>
                </a:cubicBezTo>
                <a:cubicBezTo>
                  <a:pt x="86374" y="55531"/>
                  <a:pt x="88698" y="48908"/>
                  <a:pt x="92620" y="43448"/>
                </a:cubicBezTo>
                <a:cubicBezTo>
                  <a:pt x="96716" y="37750"/>
                  <a:pt x="102624" y="36350"/>
                  <a:pt x="109094" y="36350"/>
                </a:cubicBezTo>
                <a:cubicBezTo>
                  <a:pt x="109891" y="36350"/>
                  <a:pt x="110697" y="36371"/>
                  <a:pt x="111509" y="36408"/>
                </a:cubicBezTo>
                <a:cubicBezTo>
                  <a:pt x="115243" y="36578"/>
                  <a:pt x="118989" y="36937"/>
                  <a:pt x="122710" y="36937"/>
                </a:cubicBezTo>
                <a:cubicBezTo>
                  <a:pt x="126103" y="36937"/>
                  <a:pt x="129476" y="36639"/>
                  <a:pt x="132802" y="35625"/>
                </a:cubicBezTo>
                <a:cubicBezTo>
                  <a:pt x="147057" y="31287"/>
                  <a:pt x="157718" y="17351"/>
                  <a:pt x="157643" y="2390"/>
                </a:cubicBezTo>
                <a:cubicBezTo>
                  <a:pt x="157638" y="1205"/>
                  <a:pt x="156626" y="0"/>
                  <a:pt x="155386"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4255878" y="2065975"/>
            <a:ext cx="6077421" cy="3608397"/>
          </a:xfrm>
          <a:custGeom>
            <a:avLst/>
            <a:gdLst/>
            <a:ahLst/>
            <a:cxnLst/>
            <a:rect l="l" t="t" r="r" b="b"/>
            <a:pathLst>
              <a:path w="167653" h="99542" extrusionOk="0">
                <a:moveTo>
                  <a:pt x="57205" y="1"/>
                </a:moveTo>
                <a:cubicBezTo>
                  <a:pt x="52183" y="1"/>
                  <a:pt x="47109" y="864"/>
                  <a:pt x="42352" y="2080"/>
                </a:cubicBezTo>
                <a:cubicBezTo>
                  <a:pt x="26638" y="6097"/>
                  <a:pt x="12404" y="15790"/>
                  <a:pt x="2895" y="28921"/>
                </a:cubicBezTo>
                <a:cubicBezTo>
                  <a:pt x="3022" y="27319"/>
                  <a:pt x="3168" y="25722"/>
                  <a:pt x="3343" y="24125"/>
                </a:cubicBezTo>
                <a:cubicBezTo>
                  <a:pt x="3395" y="23661"/>
                  <a:pt x="3058" y="23430"/>
                  <a:pt x="2695" y="23430"/>
                </a:cubicBezTo>
                <a:cubicBezTo>
                  <a:pt x="2331" y="23430"/>
                  <a:pt x="1940" y="23663"/>
                  <a:pt x="1887" y="24125"/>
                </a:cubicBezTo>
                <a:cubicBezTo>
                  <a:pt x="1629" y="26496"/>
                  <a:pt x="1426" y="28874"/>
                  <a:pt x="1279" y="31254"/>
                </a:cubicBezTo>
                <a:cubicBezTo>
                  <a:pt x="1037" y="31616"/>
                  <a:pt x="798" y="31977"/>
                  <a:pt x="567" y="32347"/>
                </a:cubicBezTo>
                <a:cubicBezTo>
                  <a:pt x="419" y="32582"/>
                  <a:pt x="630" y="32800"/>
                  <a:pt x="845" y="32800"/>
                </a:cubicBezTo>
                <a:cubicBezTo>
                  <a:pt x="940" y="32800"/>
                  <a:pt x="1035" y="32758"/>
                  <a:pt x="1102" y="32658"/>
                </a:cubicBezTo>
                <a:cubicBezTo>
                  <a:pt x="1138" y="32605"/>
                  <a:pt x="1175" y="32552"/>
                  <a:pt x="1211" y="32499"/>
                </a:cubicBezTo>
                <a:lnTo>
                  <a:pt x="1211" y="32499"/>
                </a:lnTo>
                <a:cubicBezTo>
                  <a:pt x="0" y="55174"/>
                  <a:pt x="3897" y="78027"/>
                  <a:pt x="12629" y="99018"/>
                </a:cubicBezTo>
                <a:cubicBezTo>
                  <a:pt x="12776" y="99369"/>
                  <a:pt x="13017" y="99541"/>
                  <a:pt x="13366" y="99541"/>
                </a:cubicBezTo>
                <a:cubicBezTo>
                  <a:pt x="13419" y="99541"/>
                  <a:pt x="13475" y="99538"/>
                  <a:pt x="13533" y="99530"/>
                </a:cubicBezTo>
                <a:cubicBezTo>
                  <a:pt x="47006" y="94864"/>
                  <a:pt x="80798" y="92524"/>
                  <a:pt x="114593" y="92524"/>
                </a:cubicBezTo>
                <a:cubicBezTo>
                  <a:pt x="120730" y="92524"/>
                  <a:pt x="126867" y="92601"/>
                  <a:pt x="133002" y="92755"/>
                </a:cubicBezTo>
                <a:cubicBezTo>
                  <a:pt x="144305" y="93041"/>
                  <a:pt x="155597" y="93583"/>
                  <a:pt x="166872" y="94376"/>
                </a:cubicBezTo>
                <a:cubicBezTo>
                  <a:pt x="166888" y="94378"/>
                  <a:pt x="166904" y="94378"/>
                  <a:pt x="166920" y="94378"/>
                </a:cubicBezTo>
                <a:cubicBezTo>
                  <a:pt x="167385" y="94378"/>
                  <a:pt x="167652" y="93877"/>
                  <a:pt x="167565" y="93462"/>
                </a:cubicBezTo>
                <a:cubicBezTo>
                  <a:pt x="164241" y="77754"/>
                  <a:pt x="158898" y="60420"/>
                  <a:pt x="145284" y="50541"/>
                </a:cubicBezTo>
                <a:cubicBezTo>
                  <a:pt x="139374" y="46248"/>
                  <a:pt x="132136" y="43696"/>
                  <a:pt x="124842" y="43394"/>
                </a:cubicBezTo>
                <a:cubicBezTo>
                  <a:pt x="124492" y="43379"/>
                  <a:pt x="124142" y="43372"/>
                  <a:pt x="123792" y="43372"/>
                </a:cubicBezTo>
                <a:cubicBezTo>
                  <a:pt x="120496" y="43372"/>
                  <a:pt x="117223" y="44019"/>
                  <a:pt x="114175" y="45293"/>
                </a:cubicBezTo>
                <a:cubicBezTo>
                  <a:pt x="110440" y="46850"/>
                  <a:pt x="107348" y="49751"/>
                  <a:pt x="103500" y="51039"/>
                </a:cubicBezTo>
                <a:cubicBezTo>
                  <a:pt x="102532" y="51363"/>
                  <a:pt x="101644" y="51512"/>
                  <a:pt x="100828" y="51512"/>
                </a:cubicBezTo>
                <a:cubicBezTo>
                  <a:pt x="93772" y="51512"/>
                  <a:pt x="92106" y="40357"/>
                  <a:pt x="90601" y="34827"/>
                </a:cubicBezTo>
                <a:cubicBezTo>
                  <a:pt x="88698" y="27841"/>
                  <a:pt x="86720" y="20700"/>
                  <a:pt x="83059" y="14392"/>
                </a:cubicBezTo>
                <a:cubicBezTo>
                  <a:pt x="79431" y="8139"/>
                  <a:pt x="73992" y="3263"/>
                  <a:pt x="66942" y="1266"/>
                </a:cubicBezTo>
                <a:cubicBezTo>
                  <a:pt x="63790" y="374"/>
                  <a:pt x="60509" y="1"/>
                  <a:pt x="57205" y="1"/>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title"/>
          </p:nvPr>
        </p:nvSpPr>
        <p:spPr>
          <a:xfrm>
            <a:off x="4176000" y="540000"/>
            <a:ext cx="4248000" cy="6768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 name="Google Shape;24;p4"/>
          <p:cNvSpPr txBox="1">
            <a:spLocks noGrp="1"/>
          </p:cNvSpPr>
          <p:nvPr>
            <p:ph type="body" idx="1"/>
          </p:nvPr>
        </p:nvSpPr>
        <p:spPr>
          <a:xfrm>
            <a:off x="4176000" y="1216788"/>
            <a:ext cx="4248000" cy="18471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Char char="●"/>
              <a:defRPr sz="12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5" name="Google Shape;25;p4"/>
          <p:cNvSpPr>
            <a:spLocks noGrp="1"/>
          </p:cNvSpPr>
          <p:nvPr>
            <p:ph type="pic" idx="2"/>
          </p:nvPr>
        </p:nvSpPr>
        <p:spPr>
          <a:xfrm>
            <a:off x="720000" y="540000"/>
            <a:ext cx="3240000" cy="4063500"/>
          </a:xfrm>
          <a:prstGeom prst="rect">
            <a:avLst/>
          </a:prstGeom>
          <a:noFill/>
          <a:ln>
            <a:noFill/>
          </a:ln>
        </p:spPr>
        <p:txBody>
          <a:bodyPr/>
          <a:lstStyle/>
          <a:p>
            <a:endParaRPr lang="en-CA"/>
          </a:p>
        </p:txBody>
      </p:sp>
      <p:sp>
        <p:nvSpPr>
          <p:cNvPr id="26" name="Google Shape;26;p4"/>
          <p:cNvSpPr/>
          <p:nvPr/>
        </p:nvSpPr>
        <p:spPr>
          <a:xfrm rot="10800000">
            <a:off x="5759145" y="3378438"/>
            <a:ext cx="5140424" cy="2078065"/>
          </a:xfrm>
          <a:custGeom>
            <a:avLst/>
            <a:gdLst/>
            <a:ahLst/>
            <a:cxnLst/>
            <a:rect l="l" t="t" r="r" b="b"/>
            <a:pathLst>
              <a:path w="157718" h="63759" extrusionOk="0">
                <a:moveTo>
                  <a:pt x="155386" y="0"/>
                </a:moveTo>
                <a:cubicBezTo>
                  <a:pt x="155343" y="0"/>
                  <a:pt x="155300" y="2"/>
                  <a:pt x="155257" y="4"/>
                </a:cubicBezTo>
                <a:cubicBezTo>
                  <a:pt x="122700" y="2141"/>
                  <a:pt x="90074" y="3220"/>
                  <a:pt x="57444" y="3220"/>
                </a:cubicBezTo>
                <a:cubicBezTo>
                  <a:pt x="50495" y="3220"/>
                  <a:pt x="43546" y="3171"/>
                  <a:pt x="36598" y="3073"/>
                </a:cubicBezTo>
                <a:cubicBezTo>
                  <a:pt x="25402" y="2916"/>
                  <a:pt x="14212" y="2629"/>
                  <a:pt x="3024" y="2224"/>
                </a:cubicBezTo>
                <a:cubicBezTo>
                  <a:pt x="2988" y="2223"/>
                  <a:pt x="2953" y="2222"/>
                  <a:pt x="2918" y="2222"/>
                </a:cubicBezTo>
                <a:cubicBezTo>
                  <a:pt x="151" y="2222"/>
                  <a:pt x="1" y="6284"/>
                  <a:pt x="2461" y="6915"/>
                </a:cubicBezTo>
                <a:cubicBezTo>
                  <a:pt x="2279" y="7232"/>
                  <a:pt x="2166" y="7607"/>
                  <a:pt x="2151" y="8056"/>
                </a:cubicBezTo>
                <a:cubicBezTo>
                  <a:pt x="1651" y="23651"/>
                  <a:pt x="17336" y="31601"/>
                  <a:pt x="29311" y="37357"/>
                </a:cubicBezTo>
                <a:cubicBezTo>
                  <a:pt x="36136" y="40642"/>
                  <a:pt x="42545" y="44239"/>
                  <a:pt x="47169" y="50400"/>
                </a:cubicBezTo>
                <a:cubicBezTo>
                  <a:pt x="51420" y="56060"/>
                  <a:pt x="55391" y="61396"/>
                  <a:pt x="62651" y="63134"/>
                </a:cubicBezTo>
                <a:cubicBezTo>
                  <a:pt x="64391" y="63550"/>
                  <a:pt x="66186" y="63759"/>
                  <a:pt x="67981" y="63759"/>
                </a:cubicBezTo>
                <a:cubicBezTo>
                  <a:pt x="72549" y="63759"/>
                  <a:pt x="77122" y="62406"/>
                  <a:pt x="80805" y="59668"/>
                </a:cubicBezTo>
                <a:cubicBezTo>
                  <a:pt x="86374" y="55531"/>
                  <a:pt x="88698" y="48908"/>
                  <a:pt x="92620" y="43448"/>
                </a:cubicBezTo>
                <a:cubicBezTo>
                  <a:pt x="96716" y="37750"/>
                  <a:pt x="102624" y="36350"/>
                  <a:pt x="109094" y="36350"/>
                </a:cubicBezTo>
                <a:cubicBezTo>
                  <a:pt x="109891" y="36350"/>
                  <a:pt x="110697" y="36371"/>
                  <a:pt x="111509" y="36408"/>
                </a:cubicBezTo>
                <a:cubicBezTo>
                  <a:pt x="115243" y="36578"/>
                  <a:pt x="118989" y="36937"/>
                  <a:pt x="122710" y="36937"/>
                </a:cubicBezTo>
                <a:cubicBezTo>
                  <a:pt x="126103" y="36937"/>
                  <a:pt x="129476" y="36639"/>
                  <a:pt x="132802" y="35625"/>
                </a:cubicBezTo>
                <a:cubicBezTo>
                  <a:pt x="147057" y="31287"/>
                  <a:pt x="157718" y="17351"/>
                  <a:pt x="157643" y="2390"/>
                </a:cubicBezTo>
                <a:cubicBezTo>
                  <a:pt x="157638" y="1205"/>
                  <a:pt x="156626" y="0"/>
                  <a:pt x="155386"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10800000">
            <a:off x="-1050639" y="-256700"/>
            <a:ext cx="4111506" cy="1916024"/>
          </a:xfrm>
          <a:custGeom>
            <a:avLst/>
            <a:gdLst/>
            <a:ahLst/>
            <a:cxnLst/>
            <a:rect l="l" t="t" r="r" b="b"/>
            <a:pathLst>
              <a:path w="100692" h="46924" extrusionOk="0">
                <a:moveTo>
                  <a:pt x="69662" y="0"/>
                </a:moveTo>
                <a:cubicBezTo>
                  <a:pt x="69039" y="0"/>
                  <a:pt x="68417" y="22"/>
                  <a:pt x="67795" y="65"/>
                </a:cubicBezTo>
                <a:cubicBezTo>
                  <a:pt x="63219" y="386"/>
                  <a:pt x="58727" y="1807"/>
                  <a:pt x="54772" y="4127"/>
                </a:cubicBezTo>
                <a:cubicBezTo>
                  <a:pt x="50705" y="6517"/>
                  <a:pt x="47589" y="9856"/>
                  <a:pt x="44628" y="13475"/>
                </a:cubicBezTo>
                <a:cubicBezTo>
                  <a:pt x="41611" y="17155"/>
                  <a:pt x="38567" y="20917"/>
                  <a:pt x="34236" y="23106"/>
                </a:cubicBezTo>
                <a:cubicBezTo>
                  <a:pt x="29719" y="25390"/>
                  <a:pt x="24610" y="26022"/>
                  <a:pt x="19781" y="27354"/>
                </a:cubicBezTo>
                <a:cubicBezTo>
                  <a:pt x="14993" y="28671"/>
                  <a:pt x="10648" y="30892"/>
                  <a:pt x="7101" y="34412"/>
                </a:cubicBezTo>
                <a:cubicBezTo>
                  <a:pt x="4333" y="37160"/>
                  <a:pt x="2180" y="40480"/>
                  <a:pt x="835" y="44125"/>
                </a:cubicBezTo>
                <a:cubicBezTo>
                  <a:pt x="746" y="44133"/>
                  <a:pt x="654" y="44140"/>
                  <a:pt x="563" y="44147"/>
                </a:cubicBezTo>
                <a:cubicBezTo>
                  <a:pt x="48" y="44194"/>
                  <a:pt x="21" y="44953"/>
                  <a:pt x="539" y="44980"/>
                </a:cubicBezTo>
                <a:cubicBezTo>
                  <a:pt x="348" y="45554"/>
                  <a:pt x="178" y="46136"/>
                  <a:pt x="30" y="46727"/>
                </a:cubicBezTo>
                <a:cubicBezTo>
                  <a:pt x="0" y="46845"/>
                  <a:pt x="97" y="46923"/>
                  <a:pt x="191" y="46923"/>
                </a:cubicBezTo>
                <a:cubicBezTo>
                  <a:pt x="252" y="46923"/>
                  <a:pt x="312" y="46890"/>
                  <a:pt x="333" y="46812"/>
                </a:cubicBezTo>
                <a:cubicBezTo>
                  <a:pt x="508" y="46191"/>
                  <a:pt x="709" y="45579"/>
                  <a:pt x="927" y="44980"/>
                </a:cubicBezTo>
                <a:cubicBezTo>
                  <a:pt x="7295" y="44971"/>
                  <a:pt x="13680" y="44523"/>
                  <a:pt x="20044" y="44246"/>
                </a:cubicBezTo>
                <a:cubicBezTo>
                  <a:pt x="26536" y="43966"/>
                  <a:pt x="33030" y="43675"/>
                  <a:pt x="39521" y="43386"/>
                </a:cubicBezTo>
                <a:cubicBezTo>
                  <a:pt x="52425" y="42814"/>
                  <a:pt x="65330" y="42240"/>
                  <a:pt x="78231" y="41666"/>
                </a:cubicBezTo>
                <a:cubicBezTo>
                  <a:pt x="85548" y="41342"/>
                  <a:pt x="92863" y="41021"/>
                  <a:pt x="100177" y="40683"/>
                </a:cubicBezTo>
                <a:cubicBezTo>
                  <a:pt x="100434" y="40672"/>
                  <a:pt x="100691" y="40465"/>
                  <a:pt x="100673" y="40187"/>
                </a:cubicBezTo>
                <a:cubicBezTo>
                  <a:pt x="100355" y="34614"/>
                  <a:pt x="99466" y="29078"/>
                  <a:pt x="97931" y="23707"/>
                </a:cubicBezTo>
                <a:cubicBezTo>
                  <a:pt x="96571" y="18951"/>
                  <a:pt x="94638" y="14286"/>
                  <a:pt x="91525" y="10400"/>
                </a:cubicBezTo>
                <a:cubicBezTo>
                  <a:pt x="86288" y="3861"/>
                  <a:pt x="78009" y="0"/>
                  <a:pt x="69662"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solidFill>
                  <a:schemeClr val="accent4"/>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 name="Google Shape;40;p6"/>
          <p:cNvSpPr/>
          <p:nvPr/>
        </p:nvSpPr>
        <p:spPr>
          <a:xfrm>
            <a:off x="6638077" y="-1011955"/>
            <a:ext cx="2990826" cy="3444293"/>
          </a:xfrm>
          <a:custGeom>
            <a:avLst/>
            <a:gdLst/>
            <a:ahLst/>
            <a:cxnLst/>
            <a:rect l="l" t="t" r="r" b="b"/>
            <a:pathLst>
              <a:path w="56444" h="65002" extrusionOk="0">
                <a:moveTo>
                  <a:pt x="6077" y="1"/>
                </a:moveTo>
                <a:cubicBezTo>
                  <a:pt x="5991" y="1"/>
                  <a:pt x="5908" y="40"/>
                  <a:pt x="5865" y="133"/>
                </a:cubicBezTo>
                <a:cubicBezTo>
                  <a:pt x="2978" y="6386"/>
                  <a:pt x="0" y="13271"/>
                  <a:pt x="1943" y="20256"/>
                </a:cubicBezTo>
                <a:cubicBezTo>
                  <a:pt x="2698" y="22971"/>
                  <a:pt x="4167" y="25538"/>
                  <a:pt x="6404" y="27294"/>
                </a:cubicBezTo>
                <a:cubicBezTo>
                  <a:pt x="8943" y="29284"/>
                  <a:pt x="12113" y="29809"/>
                  <a:pt x="15234" y="30157"/>
                </a:cubicBezTo>
                <a:cubicBezTo>
                  <a:pt x="18677" y="30546"/>
                  <a:pt x="22196" y="30829"/>
                  <a:pt x="25110" y="32909"/>
                </a:cubicBezTo>
                <a:cubicBezTo>
                  <a:pt x="27519" y="34629"/>
                  <a:pt x="29123" y="37206"/>
                  <a:pt x="30392" y="39829"/>
                </a:cubicBezTo>
                <a:cubicBezTo>
                  <a:pt x="32906" y="45028"/>
                  <a:pt x="34300" y="50783"/>
                  <a:pt x="37894" y="55407"/>
                </a:cubicBezTo>
                <a:cubicBezTo>
                  <a:pt x="42223" y="60969"/>
                  <a:pt x="48842" y="64461"/>
                  <a:pt x="55851" y="65000"/>
                </a:cubicBezTo>
                <a:cubicBezTo>
                  <a:pt x="55863" y="65001"/>
                  <a:pt x="55875" y="65001"/>
                  <a:pt x="55887" y="65001"/>
                </a:cubicBezTo>
                <a:cubicBezTo>
                  <a:pt x="56191" y="65001"/>
                  <a:pt x="56444" y="64697"/>
                  <a:pt x="56444" y="64409"/>
                </a:cubicBezTo>
                <a:cubicBezTo>
                  <a:pt x="56441" y="44790"/>
                  <a:pt x="56438" y="25174"/>
                  <a:pt x="56438" y="5555"/>
                </a:cubicBezTo>
                <a:cubicBezTo>
                  <a:pt x="56436" y="5241"/>
                  <a:pt x="56165" y="4972"/>
                  <a:pt x="55848" y="4968"/>
                </a:cubicBezTo>
                <a:cubicBezTo>
                  <a:pt x="38782" y="4856"/>
                  <a:pt x="21720" y="4726"/>
                  <a:pt x="4654" y="4636"/>
                </a:cubicBezTo>
                <a:cubicBezTo>
                  <a:pt x="5199" y="3164"/>
                  <a:pt x="5788" y="1726"/>
                  <a:pt x="6355" y="337"/>
                </a:cubicBezTo>
                <a:cubicBezTo>
                  <a:pt x="6431" y="152"/>
                  <a:pt x="6247" y="1"/>
                  <a:pt x="6077" y="1"/>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6"/>
          <p:cNvSpPr/>
          <p:nvPr/>
        </p:nvSpPr>
        <p:spPr>
          <a:xfrm rot="-9307656">
            <a:off x="-932770" y="4028951"/>
            <a:ext cx="3730280" cy="1861748"/>
          </a:xfrm>
          <a:custGeom>
            <a:avLst/>
            <a:gdLst/>
            <a:ahLst/>
            <a:cxnLst/>
            <a:rect l="l" t="t" r="r" b="b"/>
            <a:pathLst>
              <a:path w="131403" h="65582" extrusionOk="0">
                <a:moveTo>
                  <a:pt x="2432" y="0"/>
                </a:moveTo>
                <a:cubicBezTo>
                  <a:pt x="1007" y="0"/>
                  <a:pt x="437" y="2177"/>
                  <a:pt x="1895" y="2440"/>
                </a:cubicBezTo>
                <a:cubicBezTo>
                  <a:pt x="0" y="16671"/>
                  <a:pt x="2067" y="32536"/>
                  <a:pt x="13020" y="42802"/>
                </a:cubicBezTo>
                <a:cubicBezTo>
                  <a:pt x="17960" y="47428"/>
                  <a:pt x="24320" y="50623"/>
                  <a:pt x="31119" y="51133"/>
                </a:cubicBezTo>
                <a:cubicBezTo>
                  <a:pt x="31671" y="51175"/>
                  <a:pt x="32219" y="51195"/>
                  <a:pt x="32763" y="51195"/>
                </a:cubicBezTo>
                <a:cubicBezTo>
                  <a:pt x="39191" y="51195"/>
                  <a:pt x="45109" y="48405"/>
                  <a:pt x="50833" y="45663"/>
                </a:cubicBezTo>
                <a:cubicBezTo>
                  <a:pt x="55808" y="43283"/>
                  <a:pt x="61036" y="40884"/>
                  <a:pt x="66513" y="40884"/>
                </a:cubicBezTo>
                <a:cubicBezTo>
                  <a:pt x="67992" y="40884"/>
                  <a:pt x="69490" y="41059"/>
                  <a:pt x="71005" y="41457"/>
                </a:cubicBezTo>
                <a:cubicBezTo>
                  <a:pt x="78106" y="43318"/>
                  <a:pt x="83738" y="48600"/>
                  <a:pt x="89524" y="52821"/>
                </a:cubicBezTo>
                <a:cubicBezTo>
                  <a:pt x="95819" y="57411"/>
                  <a:pt x="102805" y="61179"/>
                  <a:pt x="110288" y="63413"/>
                </a:cubicBezTo>
                <a:cubicBezTo>
                  <a:pt x="113974" y="64514"/>
                  <a:pt x="117787" y="65216"/>
                  <a:pt x="121628" y="65438"/>
                </a:cubicBezTo>
                <a:cubicBezTo>
                  <a:pt x="122547" y="65492"/>
                  <a:pt x="123623" y="65581"/>
                  <a:pt x="124714" y="65581"/>
                </a:cubicBezTo>
                <a:cubicBezTo>
                  <a:pt x="127199" y="65581"/>
                  <a:pt x="129766" y="65119"/>
                  <a:pt x="130749" y="62725"/>
                </a:cubicBezTo>
                <a:cubicBezTo>
                  <a:pt x="131402" y="61134"/>
                  <a:pt x="131144" y="59377"/>
                  <a:pt x="130980" y="57720"/>
                </a:cubicBezTo>
                <a:cubicBezTo>
                  <a:pt x="130754" y="55477"/>
                  <a:pt x="130558" y="53231"/>
                  <a:pt x="130386" y="50985"/>
                </a:cubicBezTo>
                <a:cubicBezTo>
                  <a:pt x="130042" y="46490"/>
                  <a:pt x="129799" y="41988"/>
                  <a:pt x="129657" y="37485"/>
                </a:cubicBezTo>
                <a:cubicBezTo>
                  <a:pt x="129377" y="28474"/>
                  <a:pt x="129503" y="19452"/>
                  <a:pt x="130039" y="10453"/>
                </a:cubicBezTo>
                <a:cubicBezTo>
                  <a:pt x="130173" y="8205"/>
                  <a:pt x="130335" y="5956"/>
                  <a:pt x="130517" y="3710"/>
                </a:cubicBezTo>
                <a:cubicBezTo>
                  <a:pt x="130576" y="2998"/>
                  <a:pt x="129891" y="2485"/>
                  <a:pt x="129252" y="2445"/>
                </a:cubicBezTo>
                <a:cubicBezTo>
                  <a:pt x="112655" y="1357"/>
                  <a:pt x="96047" y="273"/>
                  <a:pt x="79411" y="244"/>
                </a:cubicBezTo>
                <a:cubicBezTo>
                  <a:pt x="79259" y="244"/>
                  <a:pt x="79107" y="244"/>
                  <a:pt x="78955" y="244"/>
                </a:cubicBezTo>
                <a:cubicBezTo>
                  <a:pt x="70885" y="244"/>
                  <a:pt x="62837" y="568"/>
                  <a:pt x="54784" y="1059"/>
                </a:cubicBezTo>
                <a:cubicBezTo>
                  <a:pt x="47105" y="1528"/>
                  <a:pt x="39424" y="1999"/>
                  <a:pt x="31726" y="1999"/>
                </a:cubicBezTo>
                <a:cubicBezTo>
                  <a:pt x="31267" y="1999"/>
                  <a:pt x="30807" y="1998"/>
                  <a:pt x="30348" y="1994"/>
                </a:cubicBezTo>
                <a:cubicBezTo>
                  <a:pt x="21082" y="1921"/>
                  <a:pt x="11814" y="1264"/>
                  <a:pt x="2631" y="14"/>
                </a:cubicBezTo>
                <a:cubicBezTo>
                  <a:pt x="2563" y="5"/>
                  <a:pt x="2497" y="0"/>
                  <a:pt x="2432"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txBox="1">
            <a:spLocks noGrp="1"/>
          </p:cNvSpPr>
          <p:nvPr>
            <p:ph type="subTitle" idx="1"/>
          </p:nvPr>
        </p:nvSpPr>
        <p:spPr>
          <a:xfrm>
            <a:off x="720000" y="3218250"/>
            <a:ext cx="3157200" cy="1046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45" name="Google Shape;45;p7"/>
          <p:cNvSpPr txBox="1">
            <a:spLocks noGrp="1"/>
          </p:cNvSpPr>
          <p:nvPr>
            <p:ph type="title"/>
          </p:nvPr>
        </p:nvSpPr>
        <p:spPr>
          <a:xfrm>
            <a:off x="720000" y="878550"/>
            <a:ext cx="3157200" cy="233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 name="Google Shape;46;p7"/>
          <p:cNvSpPr>
            <a:spLocks noGrp="1"/>
          </p:cNvSpPr>
          <p:nvPr>
            <p:ph type="pic" idx="2"/>
          </p:nvPr>
        </p:nvSpPr>
        <p:spPr>
          <a:xfrm>
            <a:off x="4360500" y="540000"/>
            <a:ext cx="4063500" cy="4063500"/>
          </a:xfrm>
          <a:prstGeom prst="rect">
            <a:avLst/>
          </a:prstGeom>
          <a:noFill/>
          <a:ln>
            <a:noFill/>
          </a:ln>
        </p:spPr>
        <p:txBody>
          <a:bodyPr/>
          <a:lstStyle/>
          <a:p>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txBox="1">
            <a:spLocks noGrp="1"/>
          </p:cNvSpPr>
          <p:nvPr>
            <p:ph type="title"/>
          </p:nvPr>
        </p:nvSpPr>
        <p:spPr>
          <a:xfrm>
            <a:off x="720000" y="1217250"/>
            <a:ext cx="7704000" cy="270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200"/>
              <a:buNone/>
              <a:defRPr sz="8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txBox="1">
            <a:spLocks noGrp="1"/>
          </p:cNvSpPr>
          <p:nvPr>
            <p:ph type="subTitle" idx="1"/>
          </p:nvPr>
        </p:nvSpPr>
        <p:spPr>
          <a:xfrm>
            <a:off x="2682000" y="2148450"/>
            <a:ext cx="3780000" cy="1662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6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53" name="Google Shape;53;p9"/>
          <p:cNvSpPr txBox="1">
            <a:spLocks noGrp="1"/>
          </p:cNvSpPr>
          <p:nvPr>
            <p:ph type="title"/>
          </p:nvPr>
        </p:nvSpPr>
        <p:spPr>
          <a:xfrm>
            <a:off x="2682000" y="1332750"/>
            <a:ext cx="3780000" cy="81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1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11_1">
    <p:spTree>
      <p:nvGrpSpPr>
        <p:cNvPr id="1" name="Shape 66"/>
        <p:cNvGrpSpPr/>
        <p:nvPr/>
      </p:nvGrpSpPr>
      <p:grpSpPr>
        <a:xfrm>
          <a:off x="0" y="0"/>
          <a:ext cx="0" cy="0"/>
          <a:chOff x="0" y="0"/>
          <a:chExt cx="0" cy="0"/>
        </a:xfrm>
      </p:grpSpPr>
      <p:sp>
        <p:nvSpPr>
          <p:cNvPr id="67" name="Google Shape;67;p13"/>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rot="-1244560" flipH="1">
            <a:off x="-1050234" y="-281781"/>
            <a:ext cx="3753747" cy="1873460"/>
          </a:xfrm>
          <a:custGeom>
            <a:avLst/>
            <a:gdLst/>
            <a:ahLst/>
            <a:cxnLst/>
            <a:rect l="l" t="t" r="r" b="b"/>
            <a:pathLst>
              <a:path w="131403" h="65582" extrusionOk="0">
                <a:moveTo>
                  <a:pt x="2432" y="0"/>
                </a:moveTo>
                <a:cubicBezTo>
                  <a:pt x="1007" y="0"/>
                  <a:pt x="437" y="2177"/>
                  <a:pt x="1895" y="2440"/>
                </a:cubicBezTo>
                <a:cubicBezTo>
                  <a:pt x="0" y="16671"/>
                  <a:pt x="2067" y="32536"/>
                  <a:pt x="13020" y="42802"/>
                </a:cubicBezTo>
                <a:cubicBezTo>
                  <a:pt x="17960" y="47428"/>
                  <a:pt x="24320" y="50623"/>
                  <a:pt x="31119" y="51133"/>
                </a:cubicBezTo>
                <a:cubicBezTo>
                  <a:pt x="31671" y="51175"/>
                  <a:pt x="32219" y="51195"/>
                  <a:pt x="32763" y="51195"/>
                </a:cubicBezTo>
                <a:cubicBezTo>
                  <a:pt x="39191" y="51195"/>
                  <a:pt x="45109" y="48405"/>
                  <a:pt x="50833" y="45663"/>
                </a:cubicBezTo>
                <a:cubicBezTo>
                  <a:pt x="55808" y="43283"/>
                  <a:pt x="61036" y="40884"/>
                  <a:pt x="66513" y="40884"/>
                </a:cubicBezTo>
                <a:cubicBezTo>
                  <a:pt x="67992" y="40884"/>
                  <a:pt x="69490" y="41059"/>
                  <a:pt x="71005" y="41457"/>
                </a:cubicBezTo>
                <a:cubicBezTo>
                  <a:pt x="78106" y="43318"/>
                  <a:pt x="83738" y="48600"/>
                  <a:pt x="89524" y="52821"/>
                </a:cubicBezTo>
                <a:cubicBezTo>
                  <a:pt x="95819" y="57411"/>
                  <a:pt x="102805" y="61179"/>
                  <a:pt x="110288" y="63413"/>
                </a:cubicBezTo>
                <a:cubicBezTo>
                  <a:pt x="113974" y="64514"/>
                  <a:pt x="117787" y="65216"/>
                  <a:pt x="121628" y="65438"/>
                </a:cubicBezTo>
                <a:cubicBezTo>
                  <a:pt x="122547" y="65492"/>
                  <a:pt x="123623" y="65581"/>
                  <a:pt x="124714" y="65581"/>
                </a:cubicBezTo>
                <a:cubicBezTo>
                  <a:pt x="127199" y="65581"/>
                  <a:pt x="129766" y="65119"/>
                  <a:pt x="130749" y="62725"/>
                </a:cubicBezTo>
                <a:cubicBezTo>
                  <a:pt x="131402" y="61134"/>
                  <a:pt x="131144" y="59377"/>
                  <a:pt x="130980" y="57720"/>
                </a:cubicBezTo>
                <a:cubicBezTo>
                  <a:pt x="130754" y="55477"/>
                  <a:pt x="130558" y="53231"/>
                  <a:pt x="130386" y="50985"/>
                </a:cubicBezTo>
                <a:cubicBezTo>
                  <a:pt x="130042" y="46490"/>
                  <a:pt x="129799" y="41988"/>
                  <a:pt x="129657" y="37485"/>
                </a:cubicBezTo>
                <a:cubicBezTo>
                  <a:pt x="129377" y="28474"/>
                  <a:pt x="129503" y="19452"/>
                  <a:pt x="130039" y="10453"/>
                </a:cubicBezTo>
                <a:cubicBezTo>
                  <a:pt x="130173" y="8205"/>
                  <a:pt x="130335" y="5956"/>
                  <a:pt x="130517" y="3710"/>
                </a:cubicBezTo>
                <a:cubicBezTo>
                  <a:pt x="130576" y="2998"/>
                  <a:pt x="129891" y="2485"/>
                  <a:pt x="129252" y="2445"/>
                </a:cubicBezTo>
                <a:cubicBezTo>
                  <a:pt x="112655" y="1357"/>
                  <a:pt x="96047" y="273"/>
                  <a:pt x="79411" y="244"/>
                </a:cubicBezTo>
                <a:cubicBezTo>
                  <a:pt x="79259" y="244"/>
                  <a:pt x="79107" y="244"/>
                  <a:pt x="78955" y="244"/>
                </a:cubicBezTo>
                <a:cubicBezTo>
                  <a:pt x="70885" y="244"/>
                  <a:pt x="62837" y="568"/>
                  <a:pt x="54784" y="1059"/>
                </a:cubicBezTo>
                <a:cubicBezTo>
                  <a:pt x="47105" y="1528"/>
                  <a:pt x="39424" y="1999"/>
                  <a:pt x="31726" y="1999"/>
                </a:cubicBezTo>
                <a:cubicBezTo>
                  <a:pt x="31267" y="1999"/>
                  <a:pt x="30807" y="1998"/>
                  <a:pt x="30348" y="1994"/>
                </a:cubicBezTo>
                <a:cubicBezTo>
                  <a:pt x="21082" y="1921"/>
                  <a:pt x="11814" y="1264"/>
                  <a:pt x="2631" y="14"/>
                </a:cubicBezTo>
                <a:cubicBezTo>
                  <a:pt x="2563" y="5"/>
                  <a:pt x="2497" y="0"/>
                  <a:pt x="2432"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rot="9621911" flipH="1">
            <a:off x="6330225" y="3651917"/>
            <a:ext cx="3730640" cy="1861927"/>
          </a:xfrm>
          <a:custGeom>
            <a:avLst/>
            <a:gdLst/>
            <a:ahLst/>
            <a:cxnLst/>
            <a:rect l="l" t="t" r="r" b="b"/>
            <a:pathLst>
              <a:path w="131403" h="65582" extrusionOk="0">
                <a:moveTo>
                  <a:pt x="2432" y="0"/>
                </a:moveTo>
                <a:cubicBezTo>
                  <a:pt x="1007" y="0"/>
                  <a:pt x="437" y="2177"/>
                  <a:pt x="1895" y="2440"/>
                </a:cubicBezTo>
                <a:cubicBezTo>
                  <a:pt x="0" y="16671"/>
                  <a:pt x="2067" y="32536"/>
                  <a:pt x="13020" y="42802"/>
                </a:cubicBezTo>
                <a:cubicBezTo>
                  <a:pt x="17960" y="47428"/>
                  <a:pt x="24320" y="50623"/>
                  <a:pt x="31119" y="51133"/>
                </a:cubicBezTo>
                <a:cubicBezTo>
                  <a:pt x="31671" y="51175"/>
                  <a:pt x="32219" y="51195"/>
                  <a:pt x="32763" y="51195"/>
                </a:cubicBezTo>
                <a:cubicBezTo>
                  <a:pt x="39191" y="51195"/>
                  <a:pt x="45109" y="48405"/>
                  <a:pt x="50833" y="45663"/>
                </a:cubicBezTo>
                <a:cubicBezTo>
                  <a:pt x="55808" y="43283"/>
                  <a:pt x="61036" y="40884"/>
                  <a:pt x="66513" y="40884"/>
                </a:cubicBezTo>
                <a:cubicBezTo>
                  <a:pt x="67992" y="40884"/>
                  <a:pt x="69490" y="41059"/>
                  <a:pt x="71005" y="41457"/>
                </a:cubicBezTo>
                <a:cubicBezTo>
                  <a:pt x="78106" y="43318"/>
                  <a:pt x="83738" y="48600"/>
                  <a:pt x="89524" y="52821"/>
                </a:cubicBezTo>
                <a:cubicBezTo>
                  <a:pt x="95819" y="57411"/>
                  <a:pt x="102805" y="61179"/>
                  <a:pt x="110288" y="63413"/>
                </a:cubicBezTo>
                <a:cubicBezTo>
                  <a:pt x="113974" y="64514"/>
                  <a:pt x="117787" y="65216"/>
                  <a:pt x="121628" y="65438"/>
                </a:cubicBezTo>
                <a:cubicBezTo>
                  <a:pt x="122547" y="65492"/>
                  <a:pt x="123623" y="65581"/>
                  <a:pt x="124714" y="65581"/>
                </a:cubicBezTo>
                <a:cubicBezTo>
                  <a:pt x="127199" y="65581"/>
                  <a:pt x="129766" y="65119"/>
                  <a:pt x="130749" y="62725"/>
                </a:cubicBezTo>
                <a:cubicBezTo>
                  <a:pt x="131402" y="61134"/>
                  <a:pt x="131144" y="59377"/>
                  <a:pt x="130980" y="57720"/>
                </a:cubicBezTo>
                <a:cubicBezTo>
                  <a:pt x="130754" y="55477"/>
                  <a:pt x="130558" y="53231"/>
                  <a:pt x="130386" y="50985"/>
                </a:cubicBezTo>
                <a:cubicBezTo>
                  <a:pt x="130042" y="46490"/>
                  <a:pt x="129799" y="41988"/>
                  <a:pt x="129657" y="37485"/>
                </a:cubicBezTo>
                <a:cubicBezTo>
                  <a:pt x="129377" y="28474"/>
                  <a:pt x="129503" y="19452"/>
                  <a:pt x="130039" y="10453"/>
                </a:cubicBezTo>
                <a:cubicBezTo>
                  <a:pt x="130173" y="8205"/>
                  <a:pt x="130335" y="5956"/>
                  <a:pt x="130517" y="3710"/>
                </a:cubicBezTo>
                <a:cubicBezTo>
                  <a:pt x="130576" y="2998"/>
                  <a:pt x="129891" y="2485"/>
                  <a:pt x="129252" y="2445"/>
                </a:cubicBezTo>
                <a:cubicBezTo>
                  <a:pt x="112655" y="1357"/>
                  <a:pt x="96047" y="273"/>
                  <a:pt x="79411" y="244"/>
                </a:cubicBezTo>
                <a:cubicBezTo>
                  <a:pt x="79259" y="244"/>
                  <a:pt x="79107" y="244"/>
                  <a:pt x="78955" y="244"/>
                </a:cubicBezTo>
                <a:cubicBezTo>
                  <a:pt x="70885" y="244"/>
                  <a:pt x="62837" y="568"/>
                  <a:pt x="54784" y="1059"/>
                </a:cubicBezTo>
                <a:cubicBezTo>
                  <a:pt x="47105" y="1528"/>
                  <a:pt x="39424" y="1999"/>
                  <a:pt x="31726" y="1999"/>
                </a:cubicBezTo>
                <a:cubicBezTo>
                  <a:pt x="31267" y="1999"/>
                  <a:pt x="30807" y="1998"/>
                  <a:pt x="30348" y="1994"/>
                </a:cubicBezTo>
                <a:cubicBezTo>
                  <a:pt x="21082" y="1921"/>
                  <a:pt x="11814" y="1264"/>
                  <a:pt x="2631" y="14"/>
                </a:cubicBezTo>
                <a:cubicBezTo>
                  <a:pt x="2563" y="5"/>
                  <a:pt x="2497" y="0"/>
                  <a:pt x="2432" y="0"/>
                </a:cubicBezTo>
                <a:close/>
              </a:path>
            </a:pathLst>
          </a:custGeom>
          <a:solidFill>
            <a:srgbClr val="ACBFE2">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txBox="1">
            <a:spLocks noGrp="1"/>
          </p:cNvSpPr>
          <p:nvPr>
            <p:ph type="title"/>
          </p:nvPr>
        </p:nvSpPr>
        <p:spPr>
          <a:xfrm>
            <a:off x="1923000" y="1641600"/>
            <a:ext cx="2411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3"/>
          <p:cNvSpPr txBox="1">
            <a:spLocks noGrp="1"/>
          </p:cNvSpPr>
          <p:nvPr>
            <p:ph type="title" idx="2" hasCustomPrompt="1"/>
          </p:nvPr>
        </p:nvSpPr>
        <p:spPr>
          <a:xfrm>
            <a:off x="1198800" y="1641600"/>
            <a:ext cx="648000" cy="554100"/>
          </a:xfrm>
          <a:prstGeom prst="rect">
            <a:avLst/>
          </a:prstGeom>
          <a:solidFill>
            <a:schemeClr val="accent1"/>
          </a:solidFill>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2" name="Google Shape;72;p13"/>
          <p:cNvSpPr txBox="1">
            <a:spLocks noGrp="1"/>
          </p:cNvSpPr>
          <p:nvPr>
            <p:ph type="subTitle" idx="1"/>
          </p:nvPr>
        </p:nvSpPr>
        <p:spPr>
          <a:xfrm>
            <a:off x="1923000" y="2119500"/>
            <a:ext cx="2411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2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73" name="Google Shape;73;p13"/>
          <p:cNvSpPr txBox="1">
            <a:spLocks noGrp="1"/>
          </p:cNvSpPr>
          <p:nvPr>
            <p:ph type="title" idx="3"/>
          </p:nvPr>
        </p:nvSpPr>
        <p:spPr>
          <a:xfrm>
            <a:off x="5533800" y="1641600"/>
            <a:ext cx="2411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4" name="Google Shape;74;p13"/>
          <p:cNvSpPr txBox="1">
            <a:spLocks noGrp="1"/>
          </p:cNvSpPr>
          <p:nvPr>
            <p:ph type="title" idx="4" hasCustomPrompt="1"/>
          </p:nvPr>
        </p:nvSpPr>
        <p:spPr>
          <a:xfrm>
            <a:off x="4809600" y="1641600"/>
            <a:ext cx="648000" cy="554100"/>
          </a:xfrm>
          <a:prstGeom prst="rect">
            <a:avLst/>
          </a:prstGeom>
          <a:solidFill>
            <a:schemeClr val="accent1"/>
          </a:solidFill>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5" name="Google Shape;75;p13"/>
          <p:cNvSpPr txBox="1">
            <a:spLocks noGrp="1"/>
          </p:cNvSpPr>
          <p:nvPr>
            <p:ph type="subTitle" idx="5"/>
          </p:nvPr>
        </p:nvSpPr>
        <p:spPr>
          <a:xfrm>
            <a:off x="5533800" y="2119500"/>
            <a:ext cx="2411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2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76" name="Google Shape;76;p13"/>
          <p:cNvSpPr txBox="1">
            <a:spLocks noGrp="1"/>
          </p:cNvSpPr>
          <p:nvPr>
            <p:ph type="title" idx="6"/>
          </p:nvPr>
        </p:nvSpPr>
        <p:spPr>
          <a:xfrm>
            <a:off x="1923000" y="3124800"/>
            <a:ext cx="2411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7" name="Google Shape;77;p13"/>
          <p:cNvSpPr txBox="1">
            <a:spLocks noGrp="1"/>
          </p:cNvSpPr>
          <p:nvPr>
            <p:ph type="title" idx="7" hasCustomPrompt="1"/>
          </p:nvPr>
        </p:nvSpPr>
        <p:spPr>
          <a:xfrm>
            <a:off x="1198800" y="3124800"/>
            <a:ext cx="648000" cy="554100"/>
          </a:xfrm>
          <a:prstGeom prst="rect">
            <a:avLst/>
          </a:prstGeom>
          <a:solidFill>
            <a:schemeClr val="accent1"/>
          </a:solidFill>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8" name="Google Shape;78;p13"/>
          <p:cNvSpPr txBox="1">
            <a:spLocks noGrp="1"/>
          </p:cNvSpPr>
          <p:nvPr>
            <p:ph type="subTitle" idx="8"/>
          </p:nvPr>
        </p:nvSpPr>
        <p:spPr>
          <a:xfrm>
            <a:off x="1923000" y="3602700"/>
            <a:ext cx="2411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2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79" name="Google Shape;79;p13"/>
          <p:cNvSpPr txBox="1">
            <a:spLocks noGrp="1"/>
          </p:cNvSpPr>
          <p:nvPr>
            <p:ph type="title" idx="9"/>
          </p:nvPr>
        </p:nvSpPr>
        <p:spPr>
          <a:xfrm>
            <a:off x="5533800" y="3124800"/>
            <a:ext cx="2411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0" name="Google Shape;80;p13"/>
          <p:cNvSpPr txBox="1">
            <a:spLocks noGrp="1"/>
          </p:cNvSpPr>
          <p:nvPr>
            <p:ph type="title" idx="13" hasCustomPrompt="1"/>
          </p:nvPr>
        </p:nvSpPr>
        <p:spPr>
          <a:xfrm>
            <a:off x="4809600" y="3124800"/>
            <a:ext cx="648000" cy="554100"/>
          </a:xfrm>
          <a:prstGeom prst="rect">
            <a:avLst/>
          </a:prstGeom>
          <a:solidFill>
            <a:schemeClr val="accent1"/>
          </a:solidFill>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81" name="Google Shape;81;p13"/>
          <p:cNvSpPr txBox="1">
            <a:spLocks noGrp="1"/>
          </p:cNvSpPr>
          <p:nvPr>
            <p:ph type="subTitle" idx="14"/>
          </p:nvPr>
        </p:nvSpPr>
        <p:spPr>
          <a:xfrm>
            <a:off x="5533800" y="3602700"/>
            <a:ext cx="2411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2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82" name="Google Shape;82;p13"/>
          <p:cNvSpPr txBox="1">
            <a:spLocks noGrp="1"/>
          </p:cNvSpPr>
          <p:nvPr>
            <p:ph type="title" idx="15"/>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53"/>
        <p:cNvGrpSpPr/>
        <p:nvPr/>
      </p:nvGrpSpPr>
      <p:grpSpPr>
        <a:xfrm>
          <a:off x="0" y="0"/>
          <a:ext cx="0" cy="0"/>
          <a:chOff x="0" y="0"/>
          <a:chExt cx="0" cy="0"/>
        </a:xfrm>
      </p:grpSpPr>
      <p:sp>
        <p:nvSpPr>
          <p:cNvPr id="154" name="Google Shape;154;p21"/>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155"/>
        <p:cNvGrpSpPr/>
        <p:nvPr/>
      </p:nvGrpSpPr>
      <p:grpSpPr>
        <a:xfrm>
          <a:off x="0" y="0"/>
          <a:ext cx="0" cy="0"/>
          <a:chOff x="0" y="0"/>
          <a:chExt cx="0" cy="0"/>
        </a:xfrm>
      </p:grpSpPr>
      <p:sp>
        <p:nvSpPr>
          <p:cNvPr id="156" name="Google Shape;156;p22"/>
          <p:cNvSpPr/>
          <p:nvPr/>
        </p:nvSpPr>
        <p:spPr>
          <a:xfrm>
            <a:off x="126000" y="125550"/>
            <a:ext cx="8892000" cy="4892400"/>
          </a:xfrm>
          <a:prstGeom prst="roundRect">
            <a:avLst>
              <a:gd name="adj" fmla="val 416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76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4"/>
              </a:buClr>
              <a:buSzPts val="3500"/>
              <a:buFont typeface="Work Sans Black"/>
              <a:buNone/>
              <a:defRPr sz="3500">
                <a:solidFill>
                  <a:schemeClr val="accent4"/>
                </a:solidFill>
                <a:latin typeface="Work Sans Black"/>
                <a:ea typeface="Work Sans Black"/>
                <a:cs typeface="Work Sans Black"/>
                <a:sym typeface="Work Sans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20000" y="1216800"/>
            <a:ext cx="7704000" cy="33867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marL="914400" lvl="1"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marL="1371600" lvl="2"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marL="1828800" lvl="3"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marL="2286000" lvl="4"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marL="2743200" lvl="5"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marL="3200400" lvl="6"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marL="3657600" lvl="7"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marL="4114800" lvl="8" indent="-317500" rtl="0">
              <a:lnSpc>
                <a:spcPct val="115000"/>
              </a:lnSpc>
              <a:spcBef>
                <a:spcPts val="1600"/>
              </a:spcBef>
              <a:spcAft>
                <a:spcPts val="160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8" r:id="rId7"/>
    <p:sldLayoutId id="2147483659"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orient="horz" pos="340">
          <p15:clr>
            <a:srgbClr val="EA4335"/>
          </p15:clr>
        </p15:guide>
        <p15:guide id="3" orient="horz" pos="2900">
          <p15:clr>
            <a:srgbClr val="EA4335"/>
          </p15:clr>
        </p15:guide>
        <p15:guide id="4" pos="5306">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33.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One luminous opened box among closed white square boxes">
            <a:extLst>
              <a:ext uri="{FF2B5EF4-FFF2-40B4-BE49-F238E27FC236}">
                <a16:creationId xmlns:a16="http://schemas.microsoft.com/office/drawing/2014/main" id="{51397B76-DB5D-1517-EFDA-2014BEAD4859}"/>
              </a:ext>
            </a:extLst>
          </p:cNvPr>
          <p:cNvPicPr>
            <a:picLocks noChangeAspect="1"/>
          </p:cNvPicPr>
          <p:nvPr/>
        </p:nvPicPr>
        <p:blipFill>
          <a:blip r:embed="rId2">
            <a:alphaModFix/>
          </a:blip>
          <a:srcRect t="21691" b="3309"/>
          <a:stretch>
            <a:fillRect/>
          </a:stretch>
        </p:blipFill>
        <p:spPr>
          <a:xfrm>
            <a:off x="16" y="7"/>
            <a:ext cx="9143984" cy="5143493"/>
          </a:xfrm>
          <a:prstGeom prst="rect">
            <a:avLst/>
          </a:prstGeom>
        </p:spPr>
      </p:pic>
      <p:sp>
        <p:nvSpPr>
          <p:cNvPr id="2" name="Title 1">
            <a:extLst>
              <a:ext uri="{FF2B5EF4-FFF2-40B4-BE49-F238E27FC236}">
                <a16:creationId xmlns:a16="http://schemas.microsoft.com/office/drawing/2014/main" id="{BB7B3A5F-F5EF-512F-C2B1-894B13B435BD}"/>
              </a:ext>
            </a:extLst>
          </p:cNvPr>
          <p:cNvSpPr>
            <a:spLocks noGrp="1"/>
          </p:cNvSpPr>
          <p:nvPr>
            <p:ph type="ctrTitle"/>
          </p:nvPr>
        </p:nvSpPr>
        <p:spPr>
          <a:xfrm>
            <a:off x="571501" y="853076"/>
            <a:ext cx="4092742" cy="767177"/>
          </a:xfrm>
        </p:spPr>
        <p:txBody>
          <a:bodyPr anchor="t">
            <a:normAutofit/>
          </a:bodyPr>
          <a:lstStyle/>
          <a:p>
            <a:pPr algn="l"/>
            <a:r>
              <a:rPr lang="en-CA" sz="3200">
                <a:solidFill>
                  <a:srgbClr val="FFFFFF"/>
                </a:solidFill>
              </a:rPr>
              <a:t>Black Box System</a:t>
            </a:r>
          </a:p>
        </p:txBody>
      </p:sp>
      <p:sp>
        <p:nvSpPr>
          <p:cNvPr id="3" name="Subtitle 2">
            <a:extLst>
              <a:ext uri="{FF2B5EF4-FFF2-40B4-BE49-F238E27FC236}">
                <a16:creationId xmlns:a16="http://schemas.microsoft.com/office/drawing/2014/main" id="{1FBD51ED-4445-E366-2F3E-7E37CF5E2255}"/>
              </a:ext>
            </a:extLst>
          </p:cNvPr>
          <p:cNvSpPr>
            <a:spLocks noGrp="1"/>
          </p:cNvSpPr>
          <p:nvPr>
            <p:ph type="subTitle" idx="1"/>
          </p:nvPr>
        </p:nvSpPr>
        <p:spPr>
          <a:xfrm>
            <a:off x="628650" y="3220081"/>
            <a:ext cx="4721499" cy="1191386"/>
          </a:xfrm>
        </p:spPr>
        <p:txBody>
          <a:bodyPr anchor="b">
            <a:normAutofit/>
          </a:bodyPr>
          <a:lstStyle/>
          <a:p>
            <a:pPr algn="l"/>
            <a:r>
              <a:rPr lang="en-CA" sz="1350">
                <a:solidFill>
                  <a:srgbClr val="FFFFFF"/>
                </a:solidFill>
              </a:rPr>
              <a:t>Group 13</a:t>
            </a:r>
          </a:p>
        </p:txBody>
      </p:sp>
    </p:spTree>
    <p:extLst>
      <p:ext uri="{BB962C8B-B14F-4D97-AF65-F5344CB8AC3E}">
        <p14:creationId xmlns:p14="http://schemas.microsoft.com/office/powerpoint/2010/main" val="46608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0">
          <a:extLst>
            <a:ext uri="{FF2B5EF4-FFF2-40B4-BE49-F238E27FC236}">
              <a16:creationId xmlns:a16="http://schemas.microsoft.com/office/drawing/2014/main" id="{B4E16299-3527-300D-4A71-4087B4009AB3}"/>
            </a:ext>
          </a:extLst>
        </p:cNvPr>
        <p:cNvGrpSpPr/>
        <p:nvPr/>
      </p:nvGrpSpPr>
      <p:grpSpPr>
        <a:xfrm>
          <a:off x="0" y="0"/>
          <a:ext cx="0" cy="0"/>
          <a:chOff x="0" y="0"/>
          <a:chExt cx="0" cy="0"/>
        </a:xfrm>
      </p:grpSpPr>
      <p:pic>
        <p:nvPicPr>
          <p:cNvPr id="1026" name="Picture 2" descr="View of the classroom from a student seat near the rear of the room. In front are multiple empty rows of tables and chairs. The instructor podium is at the front of the room on the left. The front of the classroom has a large sliding blackboard panel on the front wall. This classroom is not accessible for students.">
            <a:extLst>
              <a:ext uri="{FF2B5EF4-FFF2-40B4-BE49-F238E27FC236}">
                <a16:creationId xmlns:a16="http://schemas.microsoft.com/office/drawing/2014/main" id="{C9C753DF-E9A1-4C96-99E0-EB07B4254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6187" y="1371632"/>
            <a:ext cx="4618024" cy="34635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Google Shape;292;p28">
            <a:extLst>
              <a:ext uri="{FF2B5EF4-FFF2-40B4-BE49-F238E27FC236}">
                <a16:creationId xmlns:a16="http://schemas.microsoft.com/office/drawing/2014/main" id="{E00FB1CF-B31C-7A17-603C-256621829E92}"/>
              </a:ext>
            </a:extLst>
          </p:cNvPr>
          <p:cNvSpPr txBox="1">
            <a:spLocks noGrp="1"/>
          </p:cNvSpPr>
          <p:nvPr>
            <p:ph type="title"/>
          </p:nvPr>
        </p:nvSpPr>
        <p:spPr>
          <a:xfrm>
            <a:off x="856594" y="70750"/>
            <a:ext cx="7157211" cy="1231108"/>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How are you feeling? Warm? Cold? Uncomfortable?</a:t>
            </a:r>
            <a:endParaRPr>
              <a:solidFill>
                <a:schemeClr val="accent4"/>
              </a:solidFill>
            </a:endParaRPr>
          </a:p>
        </p:txBody>
      </p:sp>
    </p:spTree>
    <p:extLst>
      <p:ext uri="{BB962C8B-B14F-4D97-AF65-F5344CB8AC3E}">
        <p14:creationId xmlns:p14="http://schemas.microsoft.com/office/powerpoint/2010/main" val="336456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2" name="Google Shape;292;p28"/>
          <p:cNvSpPr txBox="1">
            <a:spLocks noGrp="1"/>
          </p:cNvSpPr>
          <p:nvPr>
            <p:ph type="title"/>
          </p:nvPr>
        </p:nvSpPr>
        <p:spPr>
          <a:xfrm>
            <a:off x="993394" y="446062"/>
            <a:ext cx="7157211"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The Application Problem</a:t>
            </a:r>
            <a:endParaRPr>
              <a:solidFill>
                <a:schemeClr val="accent4"/>
              </a:solidFill>
            </a:endParaRPr>
          </a:p>
        </p:txBody>
      </p:sp>
      <p:sp>
        <p:nvSpPr>
          <p:cNvPr id="293" name="Google Shape;293;p28"/>
          <p:cNvSpPr txBox="1">
            <a:spLocks noGrp="1"/>
          </p:cNvSpPr>
          <p:nvPr>
            <p:ph type="body" idx="1"/>
          </p:nvPr>
        </p:nvSpPr>
        <p:spPr>
          <a:xfrm>
            <a:off x="1097256" y="1122862"/>
            <a:ext cx="7157210" cy="2218023"/>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endParaRPr sz="1800" dirty="0">
              <a:solidFill>
                <a:schemeClr val="dk1"/>
              </a:solidFill>
            </a:endParaRPr>
          </a:p>
          <a:p>
            <a:pPr marL="241300" lvl="0" indent="-203200" algn="l" rtl="0">
              <a:spcBef>
                <a:spcPts val="0"/>
              </a:spcBef>
              <a:spcAft>
                <a:spcPts val="0"/>
              </a:spcAft>
              <a:buSzPts val="1200"/>
              <a:buChar char="●"/>
            </a:pPr>
            <a:r>
              <a:rPr lang="en" sz="1800" b="1" dirty="0"/>
              <a:t>Goal: </a:t>
            </a:r>
            <a:r>
              <a:rPr lang="en" sz="1800" dirty="0"/>
              <a:t>Regulate the power drawn by the temperature control despite power consumption changes</a:t>
            </a:r>
          </a:p>
          <a:p>
            <a:pPr marL="241300" indent="-203200">
              <a:buSzPts val="1200"/>
            </a:pPr>
            <a:r>
              <a:rPr lang="en" sz="1800" b="1" dirty="0"/>
              <a:t>Input</a:t>
            </a:r>
            <a:r>
              <a:rPr lang="en" sz="1800" dirty="0"/>
              <a:t>: Desired electrical power drawn by the control</a:t>
            </a:r>
          </a:p>
          <a:p>
            <a:pPr marL="241300" indent="-203200">
              <a:buSzPts val="1200"/>
            </a:pPr>
            <a:r>
              <a:rPr lang="en" sz="1800" b="1" dirty="0"/>
              <a:t>Output: </a:t>
            </a:r>
            <a:r>
              <a:rPr lang="en" sz="1800" dirty="0"/>
              <a:t>Actual electrical power drawn by the control</a:t>
            </a:r>
            <a:endParaRPr lang="en" sz="1800" dirty="0">
              <a:solidFill>
                <a:srgbClr val="000000"/>
              </a:solidFill>
            </a:endParaRPr>
          </a:p>
        </p:txBody>
      </p:sp>
      <p:pic>
        <p:nvPicPr>
          <p:cNvPr id="1026" name="Picture 2" descr="Standard Computer Power Supply PNG Clipart - Best WEB Clipart">
            <a:extLst>
              <a:ext uri="{FF2B5EF4-FFF2-40B4-BE49-F238E27FC236}">
                <a16:creationId xmlns:a16="http://schemas.microsoft.com/office/drawing/2014/main" id="{619CD1B2-0AA6-3EF6-9FAE-2BB86D80F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394" y="3340885"/>
            <a:ext cx="1885616" cy="1196982"/>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20617153-94F4-B108-3528-057BD0645EF3}"/>
              </a:ext>
            </a:extLst>
          </p:cNvPr>
          <p:cNvSpPr/>
          <p:nvPr/>
        </p:nvSpPr>
        <p:spPr>
          <a:xfrm>
            <a:off x="3086732" y="3900094"/>
            <a:ext cx="639048" cy="1175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highlight>
                <a:srgbClr val="FFFF00"/>
              </a:highlight>
            </a:endParaRPr>
          </a:p>
        </p:txBody>
      </p:sp>
      <p:pic>
        <p:nvPicPr>
          <p:cNvPr id="4" name="Picture 3">
            <a:extLst>
              <a:ext uri="{FF2B5EF4-FFF2-40B4-BE49-F238E27FC236}">
                <a16:creationId xmlns:a16="http://schemas.microsoft.com/office/drawing/2014/main" id="{0615FB47-7613-8259-695D-1D4DDDCFC5B8}"/>
              </a:ext>
            </a:extLst>
          </p:cNvPr>
          <p:cNvPicPr>
            <a:picLocks noChangeAspect="1"/>
          </p:cNvPicPr>
          <p:nvPr/>
        </p:nvPicPr>
        <p:blipFill>
          <a:blip r:embed="rId4"/>
          <a:stretch>
            <a:fillRect/>
          </a:stretch>
        </p:blipFill>
        <p:spPr>
          <a:xfrm>
            <a:off x="3813552" y="3154920"/>
            <a:ext cx="1725530" cy="1725530"/>
          </a:xfrm>
          <a:prstGeom prst="rect">
            <a:avLst/>
          </a:prstGeom>
        </p:spPr>
      </p:pic>
      <p:sp>
        <p:nvSpPr>
          <p:cNvPr id="5" name="Arrow: Right 4">
            <a:extLst>
              <a:ext uri="{FF2B5EF4-FFF2-40B4-BE49-F238E27FC236}">
                <a16:creationId xmlns:a16="http://schemas.microsoft.com/office/drawing/2014/main" id="{3DA820CC-0A26-76A6-2DA8-AF65FC634C8F}"/>
              </a:ext>
            </a:extLst>
          </p:cNvPr>
          <p:cNvSpPr/>
          <p:nvPr/>
        </p:nvSpPr>
        <p:spPr>
          <a:xfrm>
            <a:off x="5626854" y="3900094"/>
            <a:ext cx="639048" cy="1175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780122BB-0B3B-C31E-B23A-81F4057573DB}"/>
              </a:ext>
            </a:extLst>
          </p:cNvPr>
          <p:cNvPicPr>
            <a:picLocks noChangeAspect="1"/>
          </p:cNvPicPr>
          <p:nvPr/>
        </p:nvPicPr>
        <p:blipFill>
          <a:blip r:embed="rId5"/>
          <a:stretch>
            <a:fillRect/>
          </a:stretch>
        </p:blipFill>
        <p:spPr>
          <a:xfrm>
            <a:off x="6473624" y="3049169"/>
            <a:ext cx="1819442" cy="18194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5" name="Flowchart: Process 4">
            <a:extLst>
              <a:ext uri="{FF2B5EF4-FFF2-40B4-BE49-F238E27FC236}">
                <a16:creationId xmlns:a16="http://schemas.microsoft.com/office/drawing/2014/main" id="{E93F4D1E-7B52-C762-C183-00A68002932E}"/>
              </a:ext>
            </a:extLst>
          </p:cNvPr>
          <p:cNvSpPr/>
          <p:nvPr/>
        </p:nvSpPr>
        <p:spPr>
          <a:xfrm>
            <a:off x="522514" y="1550607"/>
            <a:ext cx="833422" cy="75963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8" name="Google Shape;368;p29"/>
          <p:cNvSpPr txBox="1">
            <a:spLocks noGrp="1"/>
          </p:cNvSpPr>
          <p:nvPr>
            <p:ph type="title"/>
          </p:nvPr>
        </p:nvSpPr>
        <p:spPr>
          <a:xfrm>
            <a:off x="1439425" y="1641575"/>
            <a:ext cx="2411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Occupants</a:t>
            </a:r>
            <a:endParaRPr/>
          </a:p>
        </p:txBody>
      </p:sp>
      <p:sp>
        <p:nvSpPr>
          <p:cNvPr id="380" name="Google Shape;380;p29"/>
          <p:cNvSpPr txBox="1">
            <a:spLocks noGrp="1"/>
          </p:cNvSpPr>
          <p:nvPr>
            <p:ph type="title" idx="15"/>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Stakeholders</a:t>
            </a:r>
            <a:endParaRPr/>
          </a:p>
        </p:txBody>
      </p:sp>
      <p:pic>
        <p:nvPicPr>
          <p:cNvPr id="3" name="Picture 2">
            <a:extLst>
              <a:ext uri="{FF2B5EF4-FFF2-40B4-BE49-F238E27FC236}">
                <a16:creationId xmlns:a16="http://schemas.microsoft.com/office/drawing/2014/main" id="{0A4C0C3B-D52D-4674-FCF2-FA48C927EDC2}"/>
              </a:ext>
            </a:extLst>
          </p:cNvPr>
          <p:cNvPicPr>
            <a:picLocks noChangeAspect="1"/>
          </p:cNvPicPr>
          <p:nvPr/>
        </p:nvPicPr>
        <p:blipFill>
          <a:blip r:embed="rId3"/>
          <a:stretch>
            <a:fillRect/>
          </a:stretch>
        </p:blipFill>
        <p:spPr>
          <a:xfrm flipH="1">
            <a:off x="522514" y="1550607"/>
            <a:ext cx="759637" cy="759637"/>
          </a:xfrm>
          <a:prstGeom prst="rect">
            <a:avLst/>
          </a:prstGeom>
        </p:spPr>
      </p:pic>
      <p:sp>
        <p:nvSpPr>
          <p:cNvPr id="8" name="Flowchart: Process 7">
            <a:extLst>
              <a:ext uri="{FF2B5EF4-FFF2-40B4-BE49-F238E27FC236}">
                <a16:creationId xmlns:a16="http://schemas.microsoft.com/office/drawing/2014/main" id="{4EF04703-F905-366D-9716-3AE19ABFBF7F}"/>
              </a:ext>
            </a:extLst>
          </p:cNvPr>
          <p:cNvSpPr/>
          <p:nvPr/>
        </p:nvSpPr>
        <p:spPr>
          <a:xfrm>
            <a:off x="4697963" y="1550607"/>
            <a:ext cx="833422" cy="75963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Google Shape;368;p29">
            <a:extLst>
              <a:ext uri="{FF2B5EF4-FFF2-40B4-BE49-F238E27FC236}">
                <a16:creationId xmlns:a16="http://schemas.microsoft.com/office/drawing/2014/main" id="{AAFAE1EC-ED1E-55EF-1C04-5D43680BB13F}"/>
              </a:ext>
            </a:extLst>
          </p:cNvPr>
          <p:cNvSpPr txBox="1">
            <a:spLocks/>
          </p:cNvSpPr>
          <p:nvPr/>
        </p:nvSpPr>
        <p:spPr>
          <a:xfrm>
            <a:off x="5614874" y="1641575"/>
            <a:ext cx="2411400" cy="554100"/>
          </a:xfrm>
          <a:prstGeom prst="rect">
            <a:avLst/>
          </a:prstGeom>
          <a:noFill/>
          <a:ln>
            <a:noFill/>
          </a:ln>
        </p:spPr>
        <p:txBody>
          <a:bodyPr spcFirstLastPara="1" wrap="square" lIns="90000" tIns="91425" rIns="90000"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4"/>
              </a:buClr>
              <a:buSzPts val="2400"/>
              <a:buFont typeface="Work Sans Black"/>
              <a:buNone/>
              <a:defRPr sz="2400" b="0" i="0" u="none" strike="noStrike" cap="none">
                <a:solidFill>
                  <a:schemeClr val="accent4"/>
                </a:solidFill>
                <a:latin typeface="Work Sans Black"/>
                <a:ea typeface="Work Sans Black"/>
                <a:cs typeface="Work Sans Black"/>
                <a:sym typeface="Work Sans Black"/>
              </a:defRPr>
            </a:lvl1pPr>
            <a:lvl2pPr marR="0" lvl="1"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r>
              <a:rPr lang="en-CA"/>
              <a:t>Facility Staff</a:t>
            </a:r>
          </a:p>
        </p:txBody>
      </p:sp>
      <p:sp>
        <p:nvSpPr>
          <p:cNvPr id="29" name="Flowchart: Process 28">
            <a:extLst>
              <a:ext uri="{FF2B5EF4-FFF2-40B4-BE49-F238E27FC236}">
                <a16:creationId xmlns:a16="http://schemas.microsoft.com/office/drawing/2014/main" id="{503A10B7-6FA5-6C60-2833-856F2C33F6EA}"/>
              </a:ext>
            </a:extLst>
          </p:cNvPr>
          <p:cNvSpPr/>
          <p:nvPr/>
        </p:nvSpPr>
        <p:spPr>
          <a:xfrm>
            <a:off x="522514" y="3134483"/>
            <a:ext cx="833422" cy="75963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Google Shape;368;p29">
            <a:extLst>
              <a:ext uri="{FF2B5EF4-FFF2-40B4-BE49-F238E27FC236}">
                <a16:creationId xmlns:a16="http://schemas.microsoft.com/office/drawing/2014/main" id="{C1916817-5681-A85D-F59D-FFC3731D73C0}"/>
              </a:ext>
            </a:extLst>
          </p:cNvPr>
          <p:cNvSpPr txBox="1">
            <a:spLocks/>
          </p:cNvSpPr>
          <p:nvPr/>
        </p:nvSpPr>
        <p:spPr>
          <a:xfrm>
            <a:off x="1439424" y="3225451"/>
            <a:ext cx="3132575" cy="554100"/>
          </a:xfrm>
          <a:prstGeom prst="rect">
            <a:avLst/>
          </a:prstGeom>
          <a:noFill/>
          <a:ln>
            <a:noFill/>
          </a:ln>
        </p:spPr>
        <p:txBody>
          <a:bodyPr spcFirstLastPara="1" wrap="square" lIns="90000" tIns="91425" rIns="90000"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4"/>
              </a:buClr>
              <a:buSzPts val="2400"/>
              <a:buFont typeface="Work Sans Black"/>
              <a:buNone/>
              <a:defRPr sz="2400" b="0" i="0" u="none" strike="noStrike" cap="none">
                <a:solidFill>
                  <a:schemeClr val="accent4"/>
                </a:solidFill>
                <a:latin typeface="Work Sans Black"/>
                <a:ea typeface="Work Sans Black"/>
                <a:cs typeface="Work Sans Black"/>
                <a:sym typeface="Work Sans Black"/>
              </a:defRPr>
            </a:lvl1pPr>
            <a:lvl2pPr marR="0" lvl="1"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r>
              <a:rPr lang="en-CA"/>
              <a:t>Maintenance Staff</a:t>
            </a:r>
          </a:p>
        </p:txBody>
      </p:sp>
      <p:sp>
        <p:nvSpPr>
          <p:cNvPr id="38" name="Flowchart: Process 37">
            <a:extLst>
              <a:ext uri="{FF2B5EF4-FFF2-40B4-BE49-F238E27FC236}">
                <a16:creationId xmlns:a16="http://schemas.microsoft.com/office/drawing/2014/main" id="{12D08C7B-6F99-6FDD-A212-61C98C3F9DF7}"/>
              </a:ext>
            </a:extLst>
          </p:cNvPr>
          <p:cNvSpPr/>
          <p:nvPr/>
        </p:nvSpPr>
        <p:spPr>
          <a:xfrm>
            <a:off x="4697963" y="3134483"/>
            <a:ext cx="833422" cy="75963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Google Shape;368;p29">
            <a:extLst>
              <a:ext uri="{FF2B5EF4-FFF2-40B4-BE49-F238E27FC236}">
                <a16:creationId xmlns:a16="http://schemas.microsoft.com/office/drawing/2014/main" id="{38E42243-EEA4-BA9F-0D54-42B6CA51B452}"/>
              </a:ext>
            </a:extLst>
          </p:cNvPr>
          <p:cNvSpPr txBox="1">
            <a:spLocks/>
          </p:cNvSpPr>
          <p:nvPr/>
        </p:nvSpPr>
        <p:spPr>
          <a:xfrm>
            <a:off x="5614874" y="3225451"/>
            <a:ext cx="3258538" cy="554100"/>
          </a:xfrm>
          <a:prstGeom prst="rect">
            <a:avLst/>
          </a:prstGeom>
          <a:noFill/>
          <a:ln>
            <a:noFill/>
          </a:ln>
        </p:spPr>
        <p:txBody>
          <a:bodyPr spcFirstLastPara="1" wrap="square" lIns="90000" tIns="91425" rIns="90000"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4"/>
              </a:buClr>
              <a:buSzPts val="2400"/>
              <a:buFont typeface="Work Sans Black"/>
              <a:buNone/>
              <a:defRPr sz="2400" b="0" i="0" u="none" strike="noStrike" cap="none">
                <a:solidFill>
                  <a:schemeClr val="accent4"/>
                </a:solidFill>
                <a:latin typeface="Work Sans Black"/>
                <a:ea typeface="Work Sans Black"/>
                <a:cs typeface="Work Sans Black"/>
                <a:sym typeface="Work Sans Black"/>
              </a:defRPr>
            </a:lvl1pPr>
            <a:lvl2pPr marR="0" lvl="1"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r>
              <a:rPr lang="en-CA"/>
              <a:t>Institution/Society</a:t>
            </a:r>
          </a:p>
        </p:txBody>
      </p:sp>
      <p:pic>
        <p:nvPicPr>
          <p:cNvPr id="44" name="Picture 43">
            <a:extLst>
              <a:ext uri="{FF2B5EF4-FFF2-40B4-BE49-F238E27FC236}">
                <a16:creationId xmlns:a16="http://schemas.microsoft.com/office/drawing/2014/main" id="{E1CA57CE-1041-A466-8F74-CAA0DB241C50}"/>
              </a:ext>
            </a:extLst>
          </p:cNvPr>
          <p:cNvPicPr>
            <a:picLocks noChangeAspect="1"/>
          </p:cNvPicPr>
          <p:nvPr/>
        </p:nvPicPr>
        <p:blipFill>
          <a:blip r:embed="rId4"/>
          <a:srcRect b="6739"/>
          <a:stretch>
            <a:fillRect/>
          </a:stretch>
        </p:blipFill>
        <p:spPr>
          <a:xfrm>
            <a:off x="4697963" y="1529997"/>
            <a:ext cx="833423" cy="777255"/>
          </a:xfrm>
          <a:prstGeom prst="rect">
            <a:avLst/>
          </a:prstGeom>
        </p:spPr>
      </p:pic>
      <p:pic>
        <p:nvPicPr>
          <p:cNvPr id="46" name="Picture 45">
            <a:extLst>
              <a:ext uri="{FF2B5EF4-FFF2-40B4-BE49-F238E27FC236}">
                <a16:creationId xmlns:a16="http://schemas.microsoft.com/office/drawing/2014/main" id="{7BC08E75-A355-C0A7-84BA-406447B532F7}"/>
              </a:ext>
            </a:extLst>
          </p:cNvPr>
          <p:cNvPicPr>
            <a:picLocks noChangeAspect="1"/>
          </p:cNvPicPr>
          <p:nvPr/>
        </p:nvPicPr>
        <p:blipFill>
          <a:blip r:embed="rId5"/>
          <a:srcRect b="7732"/>
          <a:stretch>
            <a:fillRect/>
          </a:stretch>
        </p:blipFill>
        <p:spPr>
          <a:xfrm>
            <a:off x="522514" y="3122682"/>
            <a:ext cx="823292" cy="759637"/>
          </a:xfrm>
          <a:prstGeom prst="rect">
            <a:avLst/>
          </a:prstGeom>
        </p:spPr>
      </p:pic>
      <p:pic>
        <p:nvPicPr>
          <p:cNvPr id="48" name="Picture 47">
            <a:extLst>
              <a:ext uri="{FF2B5EF4-FFF2-40B4-BE49-F238E27FC236}">
                <a16:creationId xmlns:a16="http://schemas.microsoft.com/office/drawing/2014/main" id="{55A6F56A-9B94-25DF-78CC-98764AF072AA}"/>
              </a:ext>
            </a:extLst>
          </p:cNvPr>
          <p:cNvPicPr>
            <a:picLocks noChangeAspect="1"/>
          </p:cNvPicPr>
          <p:nvPr/>
        </p:nvPicPr>
        <p:blipFill>
          <a:blip r:embed="rId6"/>
          <a:srcRect l="6493" t="7350" r="7319" b="7511"/>
          <a:stretch>
            <a:fillRect/>
          </a:stretch>
        </p:blipFill>
        <p:spPr>
          <a:xfrm>
            <a:off x="4766085" y="3169959"/>
            <a:ext cx="697178" cy="6886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p27"/>
          <p:cNvSpPr txBox="1">
            <a:spLocks noGrp="1"/>
          </p:cNvSpPr>
          <p:nvPr>
            <p:ph type="title"/>
          </p:nvPr>
        </p:nvSpPr>
        <p:spPr>
          <a:xfrm>
            <a:off x="719999" y="496575"/>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CA"/>
              <a:t>System Diagram</a:t>
            </a:r>
            <a:endParaRPr/>
          </a:p>
        </p:txBody>
      </p:sp>
      <p:pic>
        <p:nvPicPr>
          <p:cNvPr id="8" name="Picture 7">
            <a:extLst>
              <a:ext uri="{FF2B5EF4-FFF2-40B4-BE49-F238E27FC236}">
                <a16:creationId xmlns:a16="http://schemas.microsoft.com/office/drawing/2014/main" id="{1846BA79-0BD5-66E4-DA3C-8598E4FB243A}"/>
              </a:ext>
            </a:extLst>
          </p:cNvPr>
          <p:cNvPicPr>
            <a:picLocks noChangeAspect="1"/>
          </p:cNvPicPr>
          <p:nvPr/>
        </p:nvPicPr>
        <p:blipFill>
          <a:blip r:embed="rId3"/>
          <a:srcRect t="18021" b="18300"/>
          <a:stretch>
            <a:fillRect/>
          </a:stretch>
        </p:blipFill>
        <p:spPr>
          <a:xfrm>
            <a:off x="-116039" y="1330036"/>
            <a:ext cx="9260038" cy="33168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1F9EE0C0-5C02-DA30-5085-A7908A4C729E}"/>
              </a:ext>
            </a:extLst>
          </p:cNvPr>
          <p:cNvSpPr>
            <a:spLocks noGrp="1"/>
          </p:cNvSpPr>
          <p:nvPr>
            <p:ph type="title"/>
          </p:nvPr>
        </p:nvSpPr>
        <p:spPr>
          <a:xfrm>
            <a:off x="4095404" y="540000"/>
            <a:ext cx="4605251" cy="676800"/>
          </a:xfrm>
        </p:spPr>
        <p:txBody>
          <a:bodyPr/>
          <a:lstStyle/>
          <a:p>
            <a:r>
              <a:rPr lang="en-CA" sz="2800"/>
              <a:t>SCIM – A Brief Overview</a:t>
            </a:r>
          </a:p>
        </p:txBody>
      </p:sp>
      <p:sp>
        <p:nvSpPr>
          <p:cNvPr id="19" name="Text Placeholder 18">
            <a:extLst>
              <a:ext uri="{FF2B5EF4-FFF2-40B4-BE49-F238E27FC236}">
                <a16:creationId xmlns:a16="http://schemas.microsoft.com/office/drawing/2014/main" id="{C260B351-5342-8BED-CEAC-DD98853109DF}"/>
              </a:ext>
            </a:extLst>
          </p:cNvPr>
          <p:cNvSpPr>
            <a:spLocks noGrp="1"/>
          </p:cNvSpPr>
          <p:nvPr>
            <p:ph type="body" idx="1"/>
          </p:nvPr>
        </p:nvSpPr>
        <p:spPr>
          <a:xfrm>
            <a:off x="3897569" y="1113525"/>
            <a:ext cx="5000919" cy="1847100"/>
          </a:xfrm>
        </p:spPr>
        <p:txBody>
          <a:bodyPr/>
          <a:lstStyle/>
          <a:p>
            <a:r>
              <a:rPr lang="en-CA" dirty="0"/>
              <a:t>Three-Phase Motor common in many applications [1]</a:t>
            </a:r>
          </a:p>
          <a:p>
            <a:endParaRPr lang="en-CA" dirty="0"/>
          </a:p>
          <a:p>
            <a:r>
              <a:rPr lang="en-CA" dirty="0"/>
              <a:t>Induces a magnetic field in the rotor causing rotation, causes heavy current draw on startup [1]</a:t>
            </a:r>
          </a:p>
          <a:p>
            <a:endParaRPr lang="en-CA" dirty="0"/>
          </a:p>
          <a:p>
            <a:r>
              <a:rPr lang="en-CA" dirty="0"/>
              <a:t>Due to magnetic saturation and slip factor not a fully linear [1]</a:t>
            </a:r>
          </a:p>
          <a:p>
            <a:endParaRPr lang="en-CA" dirty="0"/>
          </a:p>
          <a:p>
            <a:r>
              <a:rPr lang="en-CA" dirty="0"/>
              <a:t>We will Assume linearity around a steady state operating point for out system</a:t>
            </a:r>
          </a:p>
        </p:txBody>
      </p:sp>
      <p:pic>
        <p:nvPicPr>
          <p:cNvPr id="22" name="Picture 21">
            <a:extLst>
              <a:ext uri="{FF2B5EF4-FFF2-40B4-BE49-F238E27FC236}">
                <a16:creationId xmlns:a16="http://schemas.microsoft.com/office/drawing/2014/main" id="{2AE5345C-9C45-25FF-7A11-58AD1617B63F}"/>
              </a:ext>
            </a:extLst>
          </p:cNvPr>
          <p:cNvPicPr>
            <a:picLocks noChangeAspect="1"/>
          </p:cNvPicPr>
          <p:nvPr/>
        </p:nvPicPr>
        <p:blipFill>
          <a:blip r:embed="rId2"/>
          <a:stretch>
            <a:fillRect/>
          </a:stretch>
        </p:blipFill>
        <p:spPr>
          <a:xfrm>
            <a:off x="462595" y="418800"/>
            <a:ext cx="3436750" cy="1847100"/>
          </a:xfrm>
          <a:prstGeom prst="rect">
            <a:avLst/>
          </a:prstGeom>
          <a:ln>
            <a:solidFill>
              <a:schemeClr val="tx1"/>
            </a:solidFill>
          </a:ln>
        </p:spPr>
      </p:pic>
      <p:pic>
        <p:nvPicPr>
          <p:cNvPr id="2053" name="Picture 5" descr="What is a &quot;Squirrel Cage&quot; Fan?">
            <a:extLst>
              <a:ext uri="{FF2B5EF4-FFF2-40B4-BE49-F238E27FC236}">
                <a16:creationId xmlns:a16="http://schemas.microsoft.com/office/drawing/2014/main" id="{D1466965-85C1-FED1-5CEC-893FD385D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578" y="3210101"/>
            <a:ext cx="1588416" cy="1346265"/>
          </a:xfrm>
          <a:prstGeom prst="rect">
            <a:avLst/>
          </a:prstGeom>
          <a:noFill/>
          <a:ln>
            <a:solidFill>
              <a:schemeClr val="accent4"/>
            </a:solidFill>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3177590E-16C2-FDC5-C219-59DDF732CFBC}"/>
              </a:ext>
            </a:extLst>
          </p:cNvPr>
          <p:cNvPicPr>
            <a:picLocks noChangeAspect="1"/>
          </p:cNvPicPr>
          <p:nvPr/>
        </p:nvPicPr>
        <p:blipFill>
          <a:blip r:embed="rId4"/>
          <a:stretch>
            <a:fillRect/>
          </a:stretch>
        </p:blipFill>
        <p:spPr>
          <a:xfrm>
            <a:off x="886118" y="2427278"/>
            <a:ext cx="2597085" cy="2297422"/>
          </a:xfrm>
          <a:prstGeom prst="rect">
            <a:avLst/>
          </a:prstGeom>
          <a:ln>
            <a:solidFill>
              <a:schemeClr val="tx1"/>
            </a:solidFill>
          </a:ln>
        </p:spPr>
      </p:pic>
      <p:sp>
        <p:nvSpPr>
          <p:cNvPr id="27" name="TextBox 26">
            <a:extLst>
              <a:ext uri="{FF2B5EF4-FFF2-40B4-BE49-F238E27FC236}">
                <a16:creationId xmlns:a16="http://schemas.microsoft.com/office/drawing/2014/main" id="{B9079AD5-3A84-74B9-37B6-D65AECEF5EEE}"/>
              </a:ext>
            </a:extLst>
          </p:cNvPr>
          <p:cNvSpPr txBox="1"/>
          <p:nvPr/>
        </p:nvSpPr>
        <p:spPr>
          <a:xfrm>
            <a:off x="4382240" y="4704450"/>
            <a:ext cx="4248000" cy="246221"/>
          </a:xfrm>
          <a:prstGeom prst="rect">
            <a:avLst/>
          </a:prstGeom>
          <a:noFill/>
        </p:spPr>
        <p:txBody>
          <a:bodyPr wrap="square" rtlCol="0">
            <a:spAutoFit/>
          </a:bodyPr>
          <a:lstStyle/>
          <a:p>
            <a:r>
              <a:rPr lang="en-CA" sz="1000">
                <a:latin typeface="Montserrat Medium" panose="00000600000000000000" pitchFamily="2" charset="0"/>
              </a:rPr>
              <a:t>[1] Y-</a:t>
            </a:r>
            <a:r>
              <a:rPr lang="en-CA" sz="1000" err="1">
                <a:latin typeface="Montserrat Medium" panose="00000600000000000000" pitchFamily="2" charset="0"/>
              </a:rPr>
              <a:t>F.Lui</a:t>
            </a:r>
            <a:r>
              <a:rPr lang="en-CA" sz="1000">
                <a:latin typeface="Montserrat Medium" panose="00000600000000000000" pitchFamily="2" charset="0"/>
              </a:rPr>
              <a:t>, </a:t>
            </a:r>
            <a:r>
              <a:rPr lang="en-CA" sz="1000" err="1">
                <a:latin typeface="Montserrat Medium" panose="00000600000000000000" pitchFamily="2" charset="0"/>
              </a:rPr>
              <a:t>S.Whitehall</a:t>
            </a:r>
            <a:r>
              <a:rPr lang="en-CA" sz="1000">
                <a:latin typeface="Montserrat Medium" panose="00000600000000000000" pitchFamily="2" charset="0"/>
              </a:rPr>
              <a:t> ELEC 333 Chapter 5: Induction Machines</a:t>
            </a:r>
          </a:p>
        </p:txBody>
      </p:sp>
    </p:spTree>
    <p:extLst>
      <p:ext uri="{BB962C8B-B14F-4D97-AF65-F5344CB8AC3E}">
        <p14:creationId xmlns:p14="http://schemas.microsoft.com/office/powerpoint/2010/main" val="73243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ECDA-70B2-4492-775E-43E7099873C8}"/>
              </a:ext>
            </a:extLst>
          </p:cNvPr>
          <p:cNvSpPr>
            <a:spLocks noGrp="1"/>
          </p:cNvSpPr>
          <p:nvPr>
            <p:ph type="title"/>
          </p:nvPr>
        </p:nvSpPr>
        <p:spPr>
          <a:xfrm>
            <a:off x="720000" y="1217250"/>
            <a:ext cx="7704000" cy="2709000"/>
          </a:xfrm>
        </p:spPr>
        <p:txBody>
          <a:bodyPr wrap="square" anchor="ctr">
            <a:normAutofit/>
          </a:bodyPr>
          <a:lstStyle/>
          <a:p>
            <a:pPr>
              <a:lnSpc>
                <a:spcPct val="90000"/>
              </a:lnSpc>
            </a:pPr>
            <a:r>
              <a:rPr lang="en-CA" sz="5700"/>
              <a:t>Proposed Mathematical Solution</a:t>
            </a:r>
          </a:p>
        </p:txBody>
      </p:sp>
    </p:spTree>
    <p:extLst>
      <p:ext uri="{BB962C8B-B14F-4D97-AF65-F5344CB8AC3E}">
        <p14:creationId xmlns:p14="http://schemas.microsoft.com/office/powerpoint/2010/main" val="2703980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49C24B8C-56B3-5898-B2EB-C68906E95796}"/>
            </a:ext>
          </a:extLst>
        </p:cNvPr>
        <p:cNvGrpSpPr/>
        <p:nvPr/>
      </p:nvGrpSpPr>
      <p:grpSpPr>
        <a:xfrm>
          <a:off x="0" y="0"/>
          <a:ext cx="0" cy="0"/>
          <a:chOff x="0" y="0"/>
          <a:chExt cx="0" cy="0"/>
        </a:xfrm>
      </p:grpSpPr>
      <p:sp>
        <p:nvSpPr>
          <p:cNvPr id="283" name="Google Shape;283;p27">
            <a:extLst>
              <a:ext uri="{FF2B5EF4-FFF2-40B4-BE49-F238E27FC236}">
                <a16:creationId xmlns:a16="http://schemas.microsoft.com/office/drawing/2014/main" id="{51188555-F7E3-7FDB-715F-5C8679E0CF0C}"/>
              </a:ext>
            </a:extLst>
          </p:cNvPr>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CA"/>
              <a:t>Validating LTI Assumption</a:t>
            </a:r>
            <a:endParaRPr/>
          </a:p>
        </p:txBody>
      </p:sp>
      <p:sp>
        <p:nvSpPr>
          <p:cNvPr id="2" name="TextBox 1">
            <a:extLst>
              <a:ext uri="{FF2B5EF4-FFF2-40B4-BE49-F238E27FC236}">
                <a16:creationId xmlns:a16="http://schemas.microsoft.com/office/drawing/2014/main" id="{D652507C-8FCD-7BE8-94FD-AB6B9AD02617}"/>
              </a:ext>
            </a:extLst>
          </p:cNvPr>
          <p:cNvSpPr txBox="1"/>
          <p:nvPr/>
        </p:nvSpPr>
        <p:spPr>
          <a:xfrm>
            <a:off x="412229" y="1217951"/>
            <a:ext cx="389744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342745"/>
                </a:solidFill>
                <a:latin typeface="Montserrat Medium"/>
              </a:rPr>
              <a:t>Started by assuming that our system is linear time-invariant, then running tests on the system to verify that the following LTI properties hold:</a:t>
            </a:r>
          </a:p>
          <a:p>
            <a:pPr algn="ctr"/>
            <a:endParaRPr lang="en-US"/>
          </a:p>
        </p:txBody>
      </p:sp>
      <p:pic>
        <p:nvPicPr>
          <p:cNvPr id="3" name="Picture 2" descr="A graph of a graph&#10;&#10;AI-generated content may be incorrect.">
            <a:extLst>
              <a:ext uri="{FF2B5EF4-FFF2-40B4-BE49-F238E27FC236}">
                <a16:creationId xmlns:a16="http://schemas.microsoft.com/office/drawing/2014/main" id="{6D04A603-BCAF-4752-AAF1-EB46D13E4F84}"/>
              </a:ext>
            </a:extLst>
          </p:cNvPr>
          <p:cNvPicPr>
            <a:picLocks noChangeAspect="1"/>
          </p:cNvPicPr>
          <p:nvPr/>
        </p:nvPicPr>
        <p:blipFill>
          <a:blip r:embed="rId3"/>
          <a:stretch>
            <a:fillRect/>
          </a:stretch>
        </p:blipFill>
        <p:spPr>
          <a:xfrm>
            <a:off x="4307260" y="1217880"/>
            <a:ext cx="4580020" cy="3444117"/>
          </a:xfrm>
          <a:prstGeom prst="rect">
            <a:avLst/>
          </a:prstGeom>
          <a:ln>
            <a:solidFill>
              <a:schemeClr val="tx1"/>
            </a:solidFill>
          </a:ln>
        </p:spPr>
      </p:pic>
      <p:sp>
        <p:nvSpPr>
          <p:cNvPr id="6" name="TextBox 5">
            <a:extLst>
              <a:ext uri="{FF2B5EF4-FFF2-40B4-BE49-F238E27FC236}">
                <a16:creationId xmlns:a16="http://schemas.microsoft.com/office/drawing/2014/main" id="{6D33E907-C565-D55D-3240-3A814AC489C8}"/>
              </a:ext>
            </a:extLst>
          </p:cNvPr>
          <p:cNvSpPr txBox="1"/>
          <p:nvPr/>
        </p:nvSpPr>
        <p:spPr>
          <a:xfrm>
            <a:off x="412229" y="2389057"/>
            <a:ext cx="389744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342745"/>
                </a:solidFill>
                <a:latin typeface="Montserrat Medium"/>
              </a:rPr>
              <a:t>Homogeneity</a:t>
            </a:r>
            <a:endParaRPr lang="en-US" u="sng"/>
          </a:p>
          <a:p>
            <a:endParaRPr lang="en-US">
              <a:solidFill>
                <a:srgbClr val="342745"/>
              </a:solidFill>
              <a:latin typeface="Montserrat Medium"/>
            </a:endParaRPr>
          </a:p>
          <a:p>
            <a:r>
              <a:rPr lang="en-US">
                <a:solidFill>
                  <a:srgbClr val="342745"/>
                </a:solidFill>
                <a:latin typeface="Montserrat Medium"/>
              </a:rPr>
              <a:t>If the desired power inputted to the system is scaled, it would make sense for the power drawn by the system to scale the same amount. This property was tested on the right.</a:t>
            </a:r>
          </a:p>
          <a:p>
            <a:pPr algn="ctr"/>
            <a:endParaRPr lang="en-US"/>
          </a:p>
        </p:txBody>
      </p:sp>
    </p:spTree>
    <p:extLst>
      <p:ext uri="{BB962C8B-B14F-4D97-AF65-F5344CB8AC3E}">
        <p14:creationId xmlns:p14="http://schemas.microsoft.com/office/powerpoint/2010/main" val="54300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CF769449-0093-D36D-E6E7-A094785EA1A9}"/>
            </a:ext>
          </a:extLst>
        </p:cNvPr>
        <p:cNvGrpSpPr/>
        <p:nvPr/>
      </p:nvGrpSpPr>
      <p:grpSpPr>
        <a:xfrm>
          <a:off x="0" y="0"/>
          <a:ext cx="0" cy="0"/>
          <a:chOff x="0" y="0"/>
          <a:chExt cx="0" cy="0"/>
        </a:xfrm>
      </p:grpSpPr>
      <p:sp>
        <p:nvSpPr>
          <p:cNvPr id="283" name="Google Shape;283;p27">
            <a:extLst>
              <a:ext uri="{FF2B5EF4-FFF2-40B4-BE49-F238E27FC236}">
                <a16:creationId xmlns:a16="http://schemas.microsoft.com/office/drawing/2014/main" id="{89ACB3E0-60A4-D552-CA34-E6934F284C35}"/>
              </a:ext>
            </a:extLst>
          </p:cNvPr>
          <p:cNvSpPr txBox="1">
            <a:spLocks noGrp="1"/>
          </p:cNvSpPr>
          <p:nvPr>
            <p:ph type="title"/>
          </p:nvPr>
        </p:nvSpPr>
        <p:spPr>
          <a:xfrm>
            <a:off x="242189" y="132455"/>
            <a:ext cx="4087623" cy="405104"/>
          </a:xfrm>
          <a:prstGeom prst="rect">
            <a:avLst/>
          </a:prstGeom>
        </p:spPr>
        <p:txBody>
          <a:bodyPr spcFirstLastPara="1" wrap="square" lIns="90000" tIns="91425" rIns="90000" bIns="91425" anchor="t" anchorCtr="0">
            <a:noAutofit/>
          </a:bodyPr>
          <a:lstStyle/>
          <a:p>
            <a:r>
              <a:rPr lang="en-CA" sz="1800"/>
              <a:t>Validating LTI Assumption (cont.)</a:t>
            </a:r>
            <a:endParaRPr lang="en-US" sz="1800"/>
          </a:p>
        </p:txBody>
      </p:sp>
      <p:sp>
        <p:nvSpPr>
          <p:cNvPr id="2" name="TextBox 1">
            <a:extLst>
              <a:ext uri="{FF2B5EF4-FFF2-40B4-BE49-F238E27FC236}">
                <a16:creationId xmlns:a16="http://schemas.microsoft.com/office/drawing/2014/main" id="{2622A9A4-6E52-1EE2-72E2-8E69AC387E61}"/>
              </a:ext>
            </a:extLst>
          </p:cNvPr>
          <p:cNvSpPr txBox="1"/>
          <p:nvPr/>
        </p:nvSpPr>
        <p:spPr>
          <a:xfrm>
            <a:off x="412229" y="566815"/>
            <a:ext cx="372411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342745"/>
                </a:solidFill>
                <a:latin typeface="Montserrat Medium"/>
              </a:rPr>
              <a:t>Superposition</a:t>
            </a:r>
            <a:endParaRPr lang="en-US" u="sng"/>
          </a:p>
          <a:p>
            <a:endParaRPr lang="en-US">
              <a:solidFill>
                <a:srgbClr val="342745"/>
              </a:solidFill>
              <a:latin typeface="Montserrat Medium"/>
            </a:endParaRPr>
          </a:p>
          <a:p>
            <a:r>
              <a:rPr lang="en-US">
                <a:solidFill>
                  <a:srgbClr val="342745"/>
                </a:solidFill>
                <a:latin typeface="Montserrat Medium"/>
              </a:rPr>
              <a:t>If two different desired powers are summed into the system, the change in outputted power would be the sum of the individual desired powers.</a:t>
            </a:r>
          </a:p>
        </p:txBody>
      </p:sp>
      <p:pic>
        <p:nvPicPr>
          <p:cNvPr id="4" name="Picture 3" descr="A graph of a function&#10;&#10;AI-generated content may be incorrect.">
            <a:extLst>
              <a:ext uri="{FF2B5EF4-FFF2-40B4-BE49-F238E27FC236}">
                <a16:creationId xmlns:a16="http://schemas.microsoft.com/office/drawing/2014/main" id="{0AA5CB38-503E-E034-E00D-74EABD76EF4D}"/>
              </a:ext>
            </a:extLst>
          </p:cNvPr>
          <p:cNvPicPr>
            <a:picLocks noChangeAspect="1"/>
          </p:cNvPicPr>
          <p:nvPr/>
        </p:nvPicPr>
        <p:blipFill>
          <a:blip r:embed="rId3"/>
          <a:stretch>
            <a:fillRect/>
          </a:stretch>
        </p:blipFill>
        <p:spPr>
          <a:xfrm>
            <a:off x="527780" y="2003373"/>
            <a:ext cx="3799069" cy="2815340"/>
          </a:xfrm>
          <a:prstGeom prst="rect">
            <a:avLst/>
          </a:prstGeom>
          <a:ln>
            <a:solidFill>
              <a:schemeClr val="tx1"/>
            </a:solidFill>
          </a:ln>
        </p:spPr>
      </p:pic>
      <p:pic>
        <p:nvPicPr>
          <p:cNvPr id="5" name="Picture 4" descr="A graph of a function&#10;&#10;AI-generated content may be incorrect.">
            <a:extLst>
              <a:ext uri="{FF2B5EF4-FFF2-40B4-BE49-F238E27FC236}">
                <a16:creationId xmlns:a16="http://schemas.microsoft.com/office/drawing/2014/main" id="{FB66A13A-380B-DB86-0671-29944EE68EB0}"/>
              </a:ext>
            </a:extLst>
          </p:cNvPr>
          <p:cNvPicPr>
            <a:picLocks noChangeAspect="1"/>
          </p:cNvPicPr>
          <p:nvPr/>
        </p:nvPicPr>
        <p:blipFill>
          <a:blip r:embed="rId4"/>
          <a:stretch>
            <a:fillRect/>
          </a:stretch>
        </p:blipFill>
        <p:spPr>
          <a:xfrm>
            <a:off x="4985790" y="1978388"/>
            <a:ext cx="3817809" cy="2838763"/>
          </a:xfrm>
          <a:prstGeom prst="rect">
            <a:avLst/>
          </a:prstGeom>
          <a:ln>
            <a:solidFill>
              <a:schemeClr val="tx1"/>
            </a:solidFill>
          </a:ln>
        </p:spPr>
      </p:pic>
      <p:sp>
        <p:nvSpPr>
          <p:cNvPr id="6" name="TextBox 5">
            <a:extLst>
              <a:ext uri="{FF2B5EF4-FFF2-40B4-BE49-F238E27FC236}">
                <a16:creationId xmlns:a16="http://schemas.microsoft.com/office/drawing/2014/main" id="{4A28E924-441C-F406-1D4F-756CF2AEED20}"/>
              </a:ext>
            </a:extLst>
          </p:cNvPr>
          <p:cNvSpPr txBox="1"/>
          <p:nvPr/>
        </p:nvSpPr>
        <p:spPr>
          <a:xfrm>
            <a:off x="4984229" y="590238"/>
            <a:ext cx="3958341"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342745"/>
                </a:solidFill>
                <a:latin typeface="Montserrat Medium"/>
              </a:rPr>
              <a:t>Time-invariance</a:t>
            </a:r>
            <a:endParaRPr lang="en-US" u="sng"/>
          </a:p>
          <a:p>
            <a:endParaRPr lang="en-US">
              <a:solidFill>
                <a:srgbClr val="342745"/>
              </a:solidFill>
              <a:latin typeface="Montserrat Medium"/>
            </a:endParaRPr>
          </a:p>
          <a:p>
            <a:r>
              <a:rPr lang="en-US">
                <a:solidFill>
                  <a:srgbClr val="342745"/>
                </a:solidFill>
                <a:latin typeface="Montserrat Medium"/>
              </a:rPr>
              <a:t>No matter the time the desired power was changed, the system should respond the exact same. This was demonstrated below.</a:t>
            </a:r>
          </a:p>
          <a:p>
            <a:endParaRPr lang="en-US">
              <a:solidFill>
                <a:srgbClr val="342745"/>
              </a:solidFill>
              <a:latin typeface="Montserrat Medium"/>
            </a:endParaRPr>
          </a:p>
          <a:p>
            <a:endParaRPr lang="en-US">
              <a:solidFill>
                <a:srgbClr val="342745"/>
              </a:solidFill>
              <a:latin typeface="Montserrat Medium"/>
            </a:endParaRPr>
          </a:p>
          <a:p>
            <a:pPr algn="ctr"/>
            <a:endParaRPr lang="en-US">
              <a:solidFill>
                <a:srgbClr val="342745"/>
              </a:solidFill>
            </a:endParaRPr>
          </a:p>
          <a:p>
            <a:endParaRPr lang="en-US">
              <a:solidFill>
                <a:srgbClr val="342745"/>
              </a:solidFill>
              <a:latin typeface="Montserrat Medium"/>
            </a:endParaRPr>
          </a:p>
          <a:p>
            <a:pPr algn="ctr"/>
            <a:endParaRPr lang="en-US"/>
          </a:p>
        </p:txBody>
      </p:sp>
    </p:spTree>
    <p:extLst>
      <p:ext uri="{BB962C8B-B14F-4D97-AF65-F5344CB8AC3E}">
        <p14:creationId xmlns:p14="http://schemas.microsoft.com/office/powerpoint/2010/main" val="4149810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2871A5F-162C-1D59-4267-75338D9359B3}"/>
            </a:ext>
          </a:extLst>
        </p:cNvPr>
        <p:cNvGrpSpPr/>
        <p:nvPr/>
      </p:nvGrpSpPr>
      <p:grpSpPr>
        <a:xfrm>
          <a:off x="0" y="0"/>
          <a:ext cx="0" cy="0"/>
          <a:chOff x="0" y="0"/>
          <a:chExt cx="0" cy="0"/>
        </a:xfrm>
      </p:grpSpPr>
      <p:sp>
        <p:nvSpPr>
          <p:cNvPr id="283" name="Google Shape;283;p27">
            <a:extLst>
              <a:ext uri="{FF2B5EF4-FFF2-40B4-BE49-F238E27FC236}">
                <a16:creationId xmlns:a16="http://schemas.microsoft.com/office/drawing/2014/main" id="{59FD27A4-1BA2-1C53-1C7F-C0EB8B6D15FB}"/>
              </a:ext>
            </a:extLst>
          </p:cNvPr>
          <p:cNvSpPr txBox="1">
            <a:spLocks noGrp="1"/>
          </p:cNvSpPr>
          <p:nvPr>
            <p:ph type="title"/>
          </p:nvPr>
        </p:nvSpPr>
        <p:spPr>
          <a:xfrm>
            <a:off x="-734727" y="180647"/>
            <a:ext cx="7704000" cy="676800"/>
          </a:xfrm>
          <a:prstGeom prst="rect">
            <a:avLst/>
          </a:prstGeom>
        </p:spPr>
        <p:txBody>
          <a:bodyPr spcFirstLastPara="1" wrap="square" lIns="90000" tIns="91425" rIns="90000" bIns="91425" anchor="t" anchorCtr="0">
            <a:noAutofit/>
          </a:bodyPr>
          <a:lstStyle/>
          <a:p>
            <a:r>
              <a:rPr lang="en-CA"/>
              <a:t>Extracting system noise</a:t>
            </a:r>
          </a:p>
        </p:txBody>
      </p:sp>
      <p:pic>
        <p:nvPicPr>
          <p:cNvPr id="2" name="Picture 1" descr="A graph of a sine wave&#10;&#10;AI-generated content may be incorrect.">
            <a:extLst>
              <a:ext uri="{FF2B5EF4-FFF2-40B4-BE49-F238E27FC236}">
                <a16:creationId xmlns:a16="http://schemas.microsoft.com/office/drawing/2014/main" id="{8B9F5B2A-CE30-8D64-0263-222171DCEE38}"/>
              </a:ext>
            </a:extLst>
          </p:cNvPr>
          <p:cNvPicPr>
            <a:picLocks noChangeAspect="1"/>
          </p:cNvPicPr>
          <p:nvPr/>
        </p:nvPicPr>
        <p:blipFill>
          <a:blip r:embed="rId3"/>
          <a:stretch>
            <a:fillRect/>
          </a:stretch>
        </p:blipFill>
        <p:spPr>
          <a:xfrm>
            <a:off x="4914034" y="857249"/>
            <a:ext cx="3688773" cy="2476500"/>
          </a:xfrm>
          <a:prstGeom prst="rect">
            <a:avLst/>
          </a:prstGeom>
          <a:ln>
            <a:solidFill>
              <a:schemeClr val="tx1"/>
            </a:solidFill>
          </a:ln>
        </p:spPr>
      </p:pic>
      <p:pic>
        <p:nvPicPr>
          <p:cNvPr id="3" name="Picture 2" descr="A blue sound wave with white text&#10;&#10;AI-generated content may be incorrect.">
            <a:extLst>
              <a:ext uri="{FF2B5EF4-FFF2-40B4-BE49-F238E27FC236}">
                <a16:creationId xmlns:a16="http://schemas.microsoft.com/office/drawing/2014/main" id="{25389190-4EE9-1216-1B77-5C7989BEDF40}"/>
              </a:ext>
            </a:extLst>
          </p:cNvPr>
          <p:cNvPicPr>
            <a:picLocks noChangeAspect="1"/>
          </p:cNvPicPr>
          <p:nvPr/>
        </p:nvPicPr>
        <p:blipFill>
          <a:blip r:embed="rId4"/>
          <a:stretch>
            <a:fillRect/>
          </a:stretch>
        </p:blipFill>
        <p:spPr>
          <a:xfrm>
            <a:off x="389658" y="2467840"/>
            <a:ext cx="3922570" cy="2372593"/>
          </a:xfrm>
          <a:prstGeom prst="rect">
            <a:avLst/>
          </a:prstGeom>
          <a:ln>
            <a:solidFill>
              <a:schemeClr val="tx1"/>
            </a:solidFill>
          </a:ln>
        </p:spPr>
      </p:pic>
      <p:sp>
        <p:nvSpPr>
          <p:cNvPr id="4" name="TextBox 3">
            <a:extLst>
              <a:ext uri="{FF2B5EF4-FFF2-40B4-BE49-F238E27FC236}">
                <a16:creationId xmlns:a16="http://schemas.microsoft.com/office/drawing/2014/main" id="{79208DF4-47CE-5EFD-6F05-9DA8F67EFE71}"/>
              </a:ext>
            </a:extLst>
          </p:cNvPr>
          <p:cNvSpPr txBox="1"/>
          <p:nvPr/>
        </p:nvSpPr>
        <p:spPr>
          <a:xfrm>
            <a:off x="303068" y="1078057"/>
            <a:ext cx="426893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rgbClr val="342745"/>
                </a:solidFill>
                <a:latin typeface="Montserrat Medium"/>
                <a:cs typeface="Segoe UI"/>
              </a:rPr>
              <a:t>Power was inputted into the system as a sin(t) and the experiment was run 500 times</a:t>
            </a:r>
            <a:endParaRPr lang="en-US"/>
          </a:p>
          <a:p>
            <a:pPr marL="285750" indent="-285750">
              <a:buChar char="•"/>
            </a:pPr>
            <a:r>
              <a:rPr lang="en-US">
                <a:solidFill>
                  <a:srgbClr val="342745"/>
                </a:solidFill>
                <a:latin typeface="Montserrat Medium"/>
                <a:cs typeface="Segoe UI"/>
              </a:rPr>
              <a:t>Averaged to create an ideal output power of the system</a:t>
            </a:r>
            <a:endParaRPr lang="en-US"/>
          </a:p>
          <a:p>
            <a:pPr algn="ctr"/>
            <a:endParaRPr lang="en-US"/>
          </a:p>
        </p:txBody>
      </p:sp>
      <p:sp>
        <p:nvSpPr>
          <p:cNvPr id="5" name="TextBox 4">
            <a:extLst>
              <a:ext uri="{FF2B5EF4-FFF2-40B4-BE49-F238E27FC236}">
                <a16:creationId xmlns:a16="http://schemas.microsoft.com/office/drawing/2014/main" id="{380F82C8-364E-6F0C-BFF5-3D97A3BA600C}"/>
              </a:ext>
            </a:extLst>
          </p:cNvPr>
          <p:cNvSpPr txBox="1"/>
          <p:nvPr/>
        </p:nvSpPr>
        <p:spPr>
          <a:xfrm>
            <a:off x="4572000" y="3519920"/>
            <a:ext cx="426893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solidFill>
                  <a:srgbClr val="342745"/>
                </a:solidFill>
                <a:latin typeface="Montserrat Medium"/>
                <a:cs typeface="Segoe UI"/>
              </a:rPr>
              <a:t>Noise was extracted from data by subtraction</a:t>
            </a:r>
            <a:endParaRPr lang="en-US"/>
          </a:p>
          <a:p>
            <a:pPr marL="285750" indent="-285750">
              <a:buChar char="•"/>
            </a:pPr>
            <a:endParaRPr lang="en-US">
              <a:solidFill>
                <a:srgbClr val="342745"/>
              </a:solidFill>
              <a:latin typeface="Montserrat Medium"/>
              <a:cs typeface="Segoe UI"/>
            </a:endParaRPr>
          </a:p>
          <a:p>
            <a:pPr marL="285750" indent="-285750">
              <a:buChar char="•"/>
            </a:pPr>
            <a:r>
              <a:rPr lang="en-US">
                <a:solidFill>
                  <a:srgbClr val="342745"/>
                </a:solidFill>
                <a:latin typeface="Montserrat Medium"/>
                <a:cs typeface="Segoe UI"/>
              </a:rPr>
              <a:t>The correlation between the averaged signal and the noise is 0.534</a:t>
            </a:r>
          </a:p>
          <a:p>
            <a:pPr algn="ctr"/>
            <a:endParaRPr lang="en-US"/>
          </a:p>
        </p:txBody>
      </p:sp>
    </p:spTree>
    <p:extLst>
      <p:ext uri="{BB962C8B-B14F-4D97-AF65-F5344CB8AC3E}">
        <p14:creationId xmlns:p14="http://schemas.microsoft.com/office/powerpoint/2010/main" val="3458901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620C-92A0-3AD2-147A-8FE029A21233}"/>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6A5CDE4-D805-DE79-801F-81D0D49845C5}"/>
              </a:ext>
            </a:extLst>
          </p:cNvPr>
          <p:cNvSpPr>
            <a:spLocks noGrp="1"/>
          </p:cNvSpPr>
          <p:nvPr>
            <p:ph type="subTitle" idx="1"/>
          </p:nvPr>
        </p:nvSpPr>
        <p:spPr>
          <a:xfrm>
            <a:off x="92215" y="763397"/>
            <a:ext cx="4482039" cy="773939"/>
          </a:xfrm>
        </p:spPr>
        <p:txBody>
          <a:bodyPr/>
          <a:lstStyle/>
          <a:p>
            <a:pPr algn="l"/>
            <a:r>
              <a:rPr lang="en-CA"/>
              <a:t> Next a histogram of the noise was taken, which formed a sharp bell curve. This showed that the noise was gaussian.</a:t>
            </a:r>
            <a:endParaRPr lang="en-US"/>
          </a:p>
        </p:txBody>
      </p:sp>
      <p:sp>
        <p:nvSpPr>
          <p:cNvPr id="3" name="Title 2">
            <a:extLst>
              <a:ext uri="{FF2B5EF4-FFF2-40B4-BE49-F238E27FC236}">
                <a16:creationId xmlns:a16="http://schemas.microsoft.com/office/drawing/2014/main" id="{31549896-0712-9CEA-2D61-EAB9C9C8287C}"/>
              </a:ext>
            </a:extLst>
          </p:cNvPr>
          <p:cNvSpPr>
            <a:spLocks noGrp="1"/>
          </p:cNvSpPr>
          <p:nvPr>
            <p:ph type="title"/>
          </p:nvPr>
        </p:nvSpPr>
        <p:spPr>
          <a:xfrm>
            <a:off x="93721" y="123604"/>
            <a:ext cx="5062792" cy="912413"/>
          </a:xfrm>
        </p:spPr>
        <p:txBody>
          <a:bodyPr/>
          <a:lstStyle/>
          <a:p>
            <a:r>
              <a:rPr lang="en-CA"/>
              <a:t>Characterising noise</a:t>
            </a:r>
          </a:p>
        </p:txBody>
      </p:sp>
      <p:pic>
        <p:nvPicPr>
          <p:cNvPr id="4" name="Picture 3" descr="A graph of a histogram&#10;&#10;AI-generated content may be incorrect.">
            <a:extLst>
              <a:ext uri="{FF2B5EF4-FFF2-40B4-BE49-F238E27FC236}">
                <a16:creationId xmlns:a16="http://schemas.microsoft.com/office/drawing/2014/main" id="{B0BB3119-11AC-E01F-7FA8-444E5C88BA10}"/>
              </a:ext>
            </a:extLst>
          </p:cNvPr>
          <p:cNvPicPr>
            <a:picLocks noChangeAspect="1"/>
          </p:cNvPicPr>
          <p:nvPr/>
        </p:nvPicPr>
        <p:blipFill>
          <a:blip r:embed="rId2"/>
          <a:stretch>
            <a:fillRect/>
          </a:stretch>
        </p:blipFill>
        <p:spPr>
          <a:xfrm>
            <a:off x="480580" y="1545646"/>
            <a:ext cx="3597853" cy="2727615"/>
          </a:xfrm>
          <a:prstGeom prst="rect">
            <a:avLst/>
          </a:prstGeom>
          <a:ln>
            <a:solidFill>
              <a:schemeClr val="tx1"/>
            </a:solidFill>
          </a:ln>
        </p:spPr>
      </p:pic>
      <p:pic>
        <p:nvPicPr>
          <p:cNvPr id="5" name="Picture 4">
            <a:extLst>
              <a:ext uri="{FF2B5EF4-FFF2-40B4-BE49-F238E27FC236}">
                <a16:creationId xmlns:a16="http://schemas.microsoft.com/office/drawing/2014/main" id="{777AD87A-5A61-4780-8FFD-8343A6C194EB}"/>
              </a:ext>
            </a:extLst>
          </p:cNvPr>
          <p:cNvPicPr>
            <a:picLocks noChangeAspect="1"/>
          </p:cNvPicPr>
          <p:nvPr/>
        </p:nvPicPr>
        <p:blipFill>
          <a:blip r:embed="rId3"/>
          <a:stretch>
            <a:fillRect/>
          </a:stretch>
        </p:blipFill>
        <p:spPr>
          <a:xfrm>
            <a:off x="4965989" y="1536988"/>
            <a:ext cx="3623830" cy="2740604"/>
          </a:xfrm>
          <a:prstGeom prst="rect">
            <a:avLst/>
          </a:prstGeom>
          <a:ln>
            <a:solidFill>
              <a:schemeClr val="tx1"/>
            </a:solidFill>
          </a:ln>
        </p:spPr>
      </p:pic>
      <p:sp>
        <p:nvSpPr>
          <p:cNvPr id="6" name="TextBox 5">
            <a:extLst>
              <a:ext uri="{FF2B5EF4-FFF2-40B4-BE49-F238E27FC236}">
                <a16:creationId xmlns:a16="http://schemas.microsoft.com/office/drawing/2014/main" id="{D66094AA-E3E9-F98E-3FA9-C8F6221A0ED2}"/>
              </a:ext>
            </a:extLst>
          </p:cNvPr>
          <p:cNvSpPr txBox="1"/>
          <p:nvPr/>
        </p:nvSpPr>
        <p:spPr>
          <a:xfrm>
            <a:off x="1562965" y="4403148"/>
            <a:ext cx="602672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1400" b="0" i="0" u="none" strike="noStrike" baseline="0">
                <a:solidFill>
                  <a:srgbClr val="342745"/>
                </a:solidFill>
                <a:latin typeface="Montserrat Medium"/>
                <a:ea typeface="Segoe UI"/>
                <a:cs typeface="Segoe UI"/>
              </a:rPr>
              <a:t> This kind of </a:t>
            </a:r>
            <a:r>
              <a:rPr lang="en-CA">
                <a:solidFill>
                  <a:srgbClr val="342745"/>
                </a:solidFill>
                <a:latin typeface="Montserrat Medium"/>
                <a:ea typeface="Segoe UI"/>
                <a:cs typeface="Segoe UI"/>
              </a:rPr>
              <a:t>noise could</a:t>
            </a:r>
            <a:r>
              <a:rPr lang="en-CA" sz="1400" b="0" i="0" u="none" strike="noStrike" baseline="0">
                <a:solidFill>
                  <a:srgbClr val="342745"/>
                </a:solidFill>
                <a:latin typeface="Montserrat Medium"/>
                <a:ea typeface="Segoe UI"/>
                <a:cs typeface="Segoe UI"/>
              </a:rPr>
              <a:t> be produced </a:t>
            </a:r>
            <a:r>
              <a:rPr lang="en-CA">
                <a:solidFill>
                  <a:srgbClr val="342745"/>
                </a:solidFill>
                <a:latin typeface="Montserrat Medium"/>
                <a:ea typeface="Segoe UI"/>
                <a:cs typeface="Segoe UI"/>
              </a:rPr>
              <a:t>by inefficiencies in the fans and compressor</a:t>
            </a:r>
            <a:r>
              <a:rPr sz="1400" b="0" i="0">
                <a:solidFill>
                  <a:srgbClr val="000000"/>
                </a:solidFill>
                <a:latin typeface="Montserrat Medium"/>
                <a:ea typeface="Montserrat Medium"/>
                <a:cs typeface="Montserrat Medium"/>
              </a:rPr>
              <a:t>​</a:t>
            </a:r>
            <a:r>
              <a:rPr lang="en-US">
                <a:latin typeface="Montserrat Medium"/>
                <a:ea typeface="Montserrat Medium"/>
                <a:cs typeface="Montserrat Medium"/>
              </a:rPr>
              <a:t> or errors in the measurement tools.</a:t>
            </a:r>
            <a:endParaRPr lang="en-US"/>
          </a:p>
          <a:p>
            <a:pPr algn="ctr"/>
            <a:endParaRPr lang="en-US"/>
          </a:p>
        </p:txBody>
      </p:sp>
      <p:sp>
        <p:nvSpPr>
          <p:cNvPr id="8" name="Subtitle 1">
            <a:extLst>
              <a:ext uri="{FF2B5EF4-FFF2-40B4-BE49-F238E27FC236}">
                <a16:creationId xmlns:a16="http://schemas.microsoft.com/office/drawing/2014/main" id="{36C73432-EE11-D6CF-E4A9-202A3BB5B8CE}"/>
              </a:ext>
            </a:extLst>
          </p:cNvPr>
          <p:cNvSpPr txBox="1">
            <a:spLocks/>
          </p:cNvSpPr>
          <p:nvPr/>
        </p:nvSpPr>
        <p:spPr>
          <a:xfrm>
            <a:off x="4470252" y="578092"/>
            <a:ext cx="4611925" cy="7739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ctr"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algn="l"/>
            <a:r>
              <a:rPr lang="en-CA"/>
              <a:t> Using Welch power spectral density estimate, we can see the noise is not applied evenly over all frequencies, hence the noise is not white.</a:t>
            </a:r>
            <a:endParaRPr lang="en-US"/>
          </a:p>
        </p:txBody>
      </p:sp>
    </p:spTree>
    <p:extLst>
      <p:ext uri="{BB962C8B-B14F-4D97-AF65-F5344CB8AC3E}">
        <p14:creationId xmlns:p14="http://schemas.microsoft.com/office/powerpoint/2010/main" val="7494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917E-09A1-0067-59EF-046C2E82B31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BC5C213-62A1-71D8-26E8-D3C302C21584}"/>
              </a:ext>
            </a:extLst>
          </p:cNvPr>
          <p:cNvSpPr>
            <a:spLocks noGrp="1"/>
          </p:cNvSpPr>
          <p:nvPr>
            <p:ph type="subTitle" idx="1"/>
          </p:nvPr>
        </p:nvSpPr>
        <p:spPr>
          <a:xfrm>
            <a:off x="373352" y="1424822"/>
            <a:ext cx="3824517" cy="2999821"/>
          </a:xfrm>
        </p:spPr>
        <p:txBody>
          <a:bodyPr/>
          <a:lstStyle/>
          <a:p>
            <a:pPr algn="l">
              <a:buFont typeface="Arial"/>
              <a:buChar char="•"/>
            </a:pPr>
            <a:r>
              <a:rPr lang="en-CA"/>
              <a:t>Many different filters were tried</a:t>
            </a:r>
            <a:endParaRPr lang="en-US"/>
          </a:p>
          <a:p>
            <a:pPr algn="l">
              <a:buFont typeface="Arial"/>
              <a:buChar char="•"/>
            </a:pPr>
            <a:endParaRPr lang="en-CA"/>
          </a:p>
          <a:p>
            <a:pPr algn="l">
              <a:buFont typeface="Arial"/>
              <a:buChar char="•"/>
            </a:pPr>
            <a:r>
              <a:rPr lang="en-CA"/>
              <a:t>Best results came from a cutoff frequency of 0.001 Hz using a low-pass filter on the outputted power</a:t>
            </a:r>
          </a:p>
          <a:p>
            <a:pPr algn="l">
              <a:buFont typeface="Arial"/>
              <a:buChar char="•"/>
            </a:pPr>
            <a:endParaRPr lang="en-CA"/>
          </a:p>
          <a:p>
            <a:pPr algn="l">
              <a:buFont typeface="Arial"/>
              <a:buChar char="•"/>
            </a:pPr>
            <a:r>
              <a:rPr lang="en-CA"/>
              <a:t>RMSE of ±0.0016 with the averaged power drawn</a:t>
            </a:r>
          </a:p>
          <a:p>
            <a:pPr algn="l">
              <a:buFont typeface="Arial"/>
              <a:buChar char="•"/>
            </a:pPr>
            <a:endParaRPr lang="en-CA"/>
          </a:p>
          <a:p>
            <a:pPr algn="l">
              <a:buFont typeface="Arial"/>
              <a:buChar char="•"/>
            </a:pPr>
            <a:r>
              <a:rPr lang="en-CA"/>
              <a:t>Spikes in power drawn from the motors will not throw the  system into chaos, focusing more on the overall power drawn</a:t>
            </a:r>
          </a:p>
        </p:txBody>
      </p:sp>
      <p:sp>
        <p:nvSpPr>
          <p:cNvPr id="3" name="Title 2">
            <a:extLst>
              <a:ext uri="{FF2B5EF4-FFF2-40B4-BE49-F238E27FC236}">
                <a16:creationId xmlns:a16="http://schemas.microsoft.com/office/drawing/2014/main" id="{C5E679F6-80F9-691B-B488-75A93EA56810}"/>
              </a:ext>
            </a:extLst>
          </p:cNvPr>
          <p:cNvSpPr>
            <a:spLocks noGrp="1"/>
          </p:cNvSpPr>
          <p:nvPr>
            <p:ph type="title"/>
          </p:nvPr>
        </p:nvSpPr>
        <p:spPr>
          <a:xfrm>
            <a:off x="2042017" y="374718"/>
            <a:ext cx="5062792" cy="912413"/>
          </a:xfrm>
        </p:spPr>
        <p:txBody>
          <a:bodyPr/>
          <a:lstStyle/>
          <a:p>
            <a:r>
              <a:rPr lang="en-CA"/>
              <a:t>Filtering</a:t>
            </a:r>
            <a:endParaRPr lang="en-US"/>
          </a:p>
        </p:txBody>
      </p:sp>
      <p:pic>
        <p:nvPicPr>
          <p:cNvPr id="4" name="Picture 3" descr="A graph of a frequency&#10;&#10;AI-generated content may be incorrect.">
            <a:extLst>
              <a:ext uri="{FF2B5EF4-FFF2-40B4-BE49-F238E27FC236}">
                <a16:creationId xmlns:a16="http://schemas.microsoft.com/office/drawing/2014/main" id="{8F380AD0-9D34-52B8-1E0C-B241A2B4E3A9}"/>
              </a:ext>
            </a:extLst>
          </p:cNvPr>
          <p:cNvPicPr>
            <a:picLocks noChangeAspect="1"/>
          </p:cNvPicPr>
          <p:nvPr/>
        </p:nvPicPr>
        <p:blipFill>
          <a:blip r:embed="rId2"/>
          <a:stretch>
            <a:fillRect/>
          </a:stretch>
        </p:blipFill>
        <p:spPr>
          <a:xfrm>
            <a:off x="4572985" y="1285875"/>
            <a:ext cx="4051549" cy="3277466"/>
          </a:xfrm>
          <a:prstGeom prst="rect">
            <a:avLst/>
          </a:prstGeom>
          <a:ln>
            <a:solidFill>
              <a:schemeClr val="tx1"/>
            </a:solidFill>
          </a:ln>
        </p:spPr>
      </p:pic>
    </p:spTree>
    <p:extLst>
      <p:ext uri="{BB962C8B-B14F-4D97-AF65-F5344CB8AC3E}">
        <p14:creationId xmlns:p14="http://schemas.microsoft.com/office/powerpoint/2010/main" val="373435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1">
            <a:extLst>
              <a:ext uri="{FF2B5EF4-FFF2-40B4-BE49-F238E27FC236}">
                <a16:creationId xmlns:a16="http://schemas.microsoft.com/office/drawing/2014/main" id="{5F1FE4B4-62AD-CC5D-0583-BAD72A59592A}"/>
              </a:ext>
            </a:extLst>
          </p:cNvPr>
          <p:cNvSpPr>
            <a:spLocks noGrp="1"/>
          </p:cNvSpPr>
          <p:nvPr>
            <p:ph type="subTitle" idx="1"/>
          </p:nvPr>
        </p:nvSpPr>
        <p:spPr>
          <a:xfrm>
            <a:off x="720000" y="1682151"/>
            <a:ext cx="3157200" cy="3100384"/>
          </a:xfrm>
        </p:spPr>
        <p:txBody>
          <a:bodyPr/>
          <a:lstStyle/>
          <a:p>
            <a:pPr algn="l">
              <a:buFont typeface="Arial" panose="020B0604020202020204" pitchFamily="34" charset="0"/>
              <a:buChar char="•"/>
            </a:pPr>
            <a:r>
              <a:rPr lang="en-US"/>
              <a:t>To model the system effectively, we plotted the frequency response of the system</a:t>
            </a:r>
          </a:p>
          <a:p>
            <a:pPr algn="l">
              <a:buFont typeface="Arial" panose="020B0604020202020204" pitchFamily="34" charset="0"/>
              <a:buChar char="•"/>
            </a:pPr>
            <a:endParaRPr lang="en-US"/>
          </a:p>
          <a:p>
            <a:pPr algn="l">
              <a:buFont typeface="Arial" panose="020B0604020202020204" pitchFamily="34" charset="0"/>
              <a:buChar char="•"/>
            </a:pPr>
            <a:r>
              <a:rPr lang="en-US"/>
              <a:t>Pure frequencies applied as input voltage</a:t>
            </a:r>
          </a:p>
          <a:p>
            <a:pPr algn="l">
              <a:buFont typeface="Arial" panose="020B0604020202020204" pitchFamily="34" charset="0"/>
              <a:buChar char="•"/>
            </a:pPr>
            <a:r>
              <a:rPr lang="en-US"/>
              <a:t>Gain and phase shift measured for each input frequency</a:t>
            </a:r>
          </a:p>
          <a:p>
            <a:pPr algn="l">
              <a:buFont typeface="Arial" panose="020B0604020202020204" pitchFamily="34" charset="0"/>
              <a:buChar char="•"/>
            </a:pPr>
            <a:r>
              <a:rPr lang="en-US"/>
              <a:t>Bode plot showing this relationship next slide</a:t>
            </a:r>
          </a:p>
        </p:txBody>
      </p:sp>
      <p:sp>
        <p:nvSpPr>
          <p:cNvPr id="2" name="Title 1">
            <a:extLst>
              <a:ext uri="{FF2B5EF4-FFF2-40B4-BE49-F238E27FC236}">
                <a16:creationId xmlns:a16="http://schemas.microsoft.com/office/drawing/2014/main" id="{22E549D3-FB0C-C6C8-DAA8-A1C800D707F2}"/>
              </a:ext>
            </a:extLst>
          </p:cNvPr>
          <p:cNvSpPr>
            <a:spLocks noGrp="1"/>
          </p:cNvSpPr>
          <p:nvPr>
            <p:ph type="title"/>
          </p:nvPr>
        </p:nvSpPr>
        <p:spPr>
          <a:xfrm>
            <a:off x="720000" y="360965"/>
            <a:ext cx="3157200" cy="1321186"/>
          </a:xfrm>
        </p:spPr>
        <p:txBody>
          <a:bodyPr wrap="square" anchor="t">
            <a:normAutofit/>
          </a:bodyPr>
          <a:lstStyle/>
          <a:p>
            <a:r>
              <a:rPr lang="en-CA"/>
              <a:t>Frequency Response</a:t>
            </a:r>
          </a:p>
        </p:txBody>
      </p:sp>
      <p:pic>
        <p:nvPicPr>
          <p:cNvPr id="5" name="Picture 4">
            <a:extLst>
              <a:ext uri="{FF2B5EF4-FFF2-40B4-BE49-F238E27FC236}">
                <a16:creationId xmlns:a16="http://schemas.microsoft.com/office/drawing/2014/main" id="{2BF843F5-47B8-4B77-B63E-40B269F6D194}"/>
              </a:ext>
            </a:extLst>
          </p:cNvPr>
          <p:cNvPicPr>
            <a:picLocks noChangeAspect="1"/>
          </p:cNvPicPr>
          <p:nvPr/>
        </p:nvPicPr>
        <p:blipFill>
          <a:blip r:embed="rId3"/>
          <a:stretch>
            <a:fillRect/>
          </a:stretch>
        </p:blipFill>
        <p:spPr>
          <a:xfrm>
            <a:off x="3877200" y="840921"/>
            <a:ext cx="4917111" cy="3813790"/>
          </a:xfrm>
          <a:prstGeom prst="rect">
            <a:avLst/>
          </a:prstGeom>
          <a:ln>
            <a:solidFill>
              <a:schemeClr val="tx1"/>
            </a:solidFill>
          </a:ln>
        </p:spPr>
      </p:pic>
    </p:spTree>
    <p:extLst>
      <p:ext uri="{BB962C8B-B14F-4D97-AF65-F5344CB8AC3E}">
        <p14:creationId xmlns:p14="http://schemas.microsoft.com/office/powerpoint/2010/main" val="1736794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C8459F-8989-1189-A319-DBEDE978E65E}"/>
              </a:ext>
            </a:extLst>
          </p:cNvPr>
          <p:cNvSpPr>
            <a:spLocks noGrp="1"/>
          </p:cNvSpPr>
          <p:nvPr>
            <p:ph type="title"/>
          </p:nvPr>
        </p:nvSpPr>
        <p:spPr>
          <a:xfrm>
            <a:off x="2271214" y="274393"/>
            <a:ext cx="4760094" cy="666471"/>
          </a:xfrm>
        </p:spPr>
        <p:txBody>
          <a:bodyPr/>
          <a:lstStyle/>
          <a:p>
            <a:r>
              <a:rPr lang="en-CA"/>
              <a:t>Bode Plot of System</a:t>
            </a:r>
          </a:p>
        </p:txBody>
      </p:sp>
      <p:pic>
        <p:nvPicPr>
          <p:cNvPr id="5" name="Picture 4">
            <a:extLst>
              <a:ext uri="{FF2B5EF4-FFF2-40B4-BE49-F238E27FC236}">
                <a16:creationId xmlns:a16="http://schemas.microsoft.com/office/drawing/2014/main" id="{7B065AB7-22D2-1131-9A7A-4738FFED11CB}"/>
              </a:ext>
            </a:extLst>
          </p:cNvPr>
          <p:cNvPicPr>
            <a:picLocks noChangeAspect="1"/>
          </p:cNvPicPr>
          <p:nvPr/>
        </p:nvPicPr>
        <p:blipFill>
          <a:blip r:embed="rId2"/>
          <a:stretch>
            <a:fillRect/>
          </a:stretch>
        </p:blipFill>
        <p:spPr>
          <a:xfrm>
            <a:off x="333384" y="1102178"/>
            <a:ext cx="4140645" cy="3684805"/>
          </a:xfrm>
          <a:prstGeom prst="rect">
            <a:avLst/>
          </a:prstGeom>
          <a:ln>
            <a:solidFill>
              <a:schemeClr val="tx1"/>
            </a:solidFill>
          </a:ln>
        </p:spPr>
      </p:pic>
      <p:pic>
        <p:nvPicPr>
          <p:cNvPr id="6" name="Picture 5">
            <a:extLst>
              <a:ext uri="{FF2B5EF4-FFF2-40B4-BE49-F238E27FC236}">
                <a16:creationId xmlns:a16="http://schemas.microsoft.com/office/drawing/2014/main" id="{D6B1D7CF-298A-98EA-E54E-EE2F6A3BF05C}"/>
              </a:ext>
            </a:extLst>
          </p:cNvPr>
          <p:cNvPicPr>
            <a:picLocks noChangeAspect="1"/>
          </p:cNvPicPr>
          <p:nvPr/>
        </p:nvPicPr>
        <p:blipFill>
          <a:blip r:embed="rId3"/>
          <a:stretch>
            <a:fillRect/>
          </a:stretch>
        </p:blipFill>
        <p:spPr>
          <a:xfrm>
            <a:off x="4746092" y="1102178"/>
            <a:ext cx="4140645" cy="3684805"/>
          </a:xfrm>
          <a:prstGeom prst="rect">
            <a:avLst/>
          </a:prstGeom>
          <a:ln>
            <a:solidFill>
              <a:schemeClr val="tx1"/>
            </a:solidFill>
          </a:ln>
        </p:spPr>
      </p:pic>
    </p:spTree>
    <p:extLst>
      <p:ext uri="{BB962C8B-B14F-4D97-AF65-F5344CB8AC3E}">
        <p14:creationId xmlns:p14="http://schemas.microsoft.com/office/powerpoint/2010/main" val="2322604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E90F0D2-74A9-D2BF-DF92-82D660B54B0B}"/>
              </a:ext>
            </a:extLst>
          </p:cNvPr>
          <p:cNvSpPr>
            <a:spLocks noGrp="1"/>
          </p:cNvSpPr>
          <p:nvPr>
            <p:ph type="subTitle" idx="1"/>
          </p:nvPr>
        </p:nvSpPr>
        <p:spPr>
          <a:xfrm>
            <a:off x="163417" y="1263858"/>
            <a:ext cx="2894251" cy="2335251"/>
          </a:xfrm>
        </p:spPr>
        <p:txBody>
          <a:bodyPr/>
          <a:lstStyle/>
          <a:p>
            <a:pPr algn="l">
              <a:buFont typeface="Arial" panose="020B0604020202020204" pitchFamily="34" charset="0"/>
              <a:buChar char="•"/>
            </a:pPr>
            <a:r>
              <a:rPr lang="en-CA" sz="1300"/>
              <a:t>As the electrical system is assumed to be LTI it is modelled with a zero-pole gain transfer function</a:t>
            </a:r>
          </a:p>
          <a:p>
            <a:pPr algn="l">
              <a:buFont typeface="Arial" panose="020B0604020202020204" pitchFamily="34" charset="0"/>
              <a:buChar char="•"/>
            </a:pPr>
            <a:endParaRPr lang="en-CA" sz="1300"/>
          </a:p>
          <a:p>
            <a:pPr algn="l">
              <a:buFont typeface="Arial" panose="020B0604020202020204" pitchFamily="34" charset="0"/>
              <a:buChar char="•"/>
            </a:pPr>
            <a:r>
              <a:rPr lang="en-CA" sz="1300"/>
              <a:t>Initial zeros and pole locations estimated from Bode plot </a:t>
            </a:r>
          </a:p>
          <a:p>
            <a:pPr algn="l">
              <a:buFont typeface="Arial" panose="020B0604020202020204" pitchFamily="34" charset="0"/>
              <a:buChar char="•"/>
            </a:pPr>
            <a:r>
              <a:rPr lang="en-CA" sz="1300"/>
              <a:t>Parameters varied to match systems Bode plot and step response</a:t>
            </a:r>
          </a:p>
          <a:p>
            <a:pPr algn="l">
              <a:buFont typeface="Arial" panose="020B0604020202020204" pitchFamily="34" charset="0"/>
              <a:buChar char="•"/>
            </a:pPr>
            <a:endParaRPr lang="en-CA" sz="1300"/>
          </a:p>
          <a:p>
            <a:pPr algn="l">
              <a:buFont typeface="Arial" panose="020B0604020202020204" pitchFamily="34" charset="0"/>
              <a:buChar char="•"/>
            </a:pPr>
            <a:r>
              <a:rPr lang="en-CA" sz="1300"/>
              <a:t>Note the system dynamics and transfer function model both indicate a non-minimum phase system</a:t>
            </a:r>
          </a:p>
          <a:p>
            <a:pPr algn="l">
              <a:buFont typeface="Arial" panose="020B0604020202020204" pitchFamily="34" charset="0"/>
              <a:buChar char="•"/>
            </a:pPr>
            <a:endParaRPr lang="en-CA"/>
          </a:p>
        </p:txBody>
      </p:sp>
      <p:sp>
        <p:nvSpPr>
          <p:cNvPr id="3" name="Title 2">
            <a:extLst>
              <a:ext uri="{FF2B5EF4-FFF2-40B4-BE49-F238E27FC236}">
                <a16:creationId xmlns:a16="http://schemas.microsoft.com/office/drawing/2014/main" id="{5D8CD18A-93ED-75F1-BF88-400FDA716537}"/>
              </a:ext>
            </a:extLst>
          </p:cNvPr>
          <p:cNvSpPr>
            <a:spLocks noGrp="1"/>
          </p:cNvSpPr>
          <p:nvPr>
            <p:ph type="title"/>
          </p:nvPr>
        </p:nvSpPr>
        <p:spPr>
          <a:xfrm>
            <a:off x="518200" y="386666"/>
            <a:ext cx="8260039" cy="647552"/>
          </a:xfrm>
        </p:spPr>
        <p:txBody>
          <a:bodyPr/>
          <a:lstStyle/>
          <a:p>
            <a:r>
              <a:rPr lang="en-CA"/>
              <a:t>Modelling The Transfer Function</a:t>
            </a:r>
          </a:p>
        </p:txBody>
      </p:sp>
      <p:pic>
        <p:nvPicPr>
          <p:cNvPr id="6" name="Picture 5">
            <a:extLst>
              <a:ext uri="{FF2B5EF4-FFF2-40B4-BE49-F238E27FC236}">
                <a16:creationId xmlns:a16="http://schemas.microsoft.com/office/drawing/2014/main" id="{2111109A-C413-BCB0-7D9D-04FD175A7CD1}"/>
              </a:ext>
            </a:extLst>
          </p:cNvPr>
          <p:cNvPicPr>
            <a:picLocks noChangeAspect="1"/>
          </p:cNvPicPr>
          <p:nvPr/>
        </p:nvPicPr>
        <p:blipFill>
          <a:blip r:embed="rId2"/>
          <a:stretch>
            <a:fillRect/>
          </a:stretch>
        </p:blipFill>
        <p:spPr>
          <a:xfrm>
            <a:off x="3109193" y="1285400"/>
            <a:ext cx="2894251" cy="2647181"/>
          </a:xfrm>
          <a:prstGeom prst="rect">
            <a:avLst/>
          </a:prstGeom>
          <a:ln>
            <a:solidFill>
              <a:schemeClr val="tx1"/>
            </a:solidFill>
          </a:ln>
        </p:spPr>
      </p:pic>
      <p:pic>
        <p:nvPicPr>
          <p:cNvPr id="12" name="Picture 11">
            <a:extLst>
              <a:ext uri="{FF2B5EF4-FFF2-40B4-BE49-F238E27FC236}">
                <a16:creationId xmlns:a16="http://schemas.microsoft.com/office/drawing/2014/main" id="{C43FBDA0-293D-86C3-3849-0ED5ACA6DC72}"/>
              </a:ext>
            </a:extLst>
          </p:cNvPr>
          <p:cNvPicPr>
            <a:picLocks noChangeAspect="1"/>
          </p:cNvPicPr>
          <p:nvPr/>
        </p:nvPicPr>
        <p:blipFill>
          <a:blip r:embed="rId3"/>
          <a:stretch>
            <a:fillRect/>
          </a:stretch>
        </p:blipFill>
        <p:spPr>
          <a:xfrm>
            <a:off x="4093819" y="4183761"/>
            <a:ext cx="3511930" cy="557290"/>
          </a:xfrm>
          <a:prstGeom prst="rect">
            <a:avLst/>
          </a:prstGeom>
        </p:spPr>
      </p:pic>
      <p:pic>
        <p:nvPicPr>
          <p:cNvPr id="5" name="Picture 4">
            <a:extLst>
              <a:ext uri="{FF2B5EF4-FFF2-40B4-BE49-F238E27FC236}">
                <a16:creationId xmlns:a16="http://schemas.microsoft.com/office/drawing/2014/main" id="{5615F073-23DB-F963-280E-173A877D4F12}"/>
              </a:ext>
            </a:extLst>
          </p:cNvPr>
          <p:cNvPicPr>
            <a:picLocks noChangeAspect="1"/>
          </p:cNvPicPr>
          <p:nvPr/>
        </p:nvPicPr>
        <p:blipFill>
          <a:blip r:embed="rId4"/>
          <a:stretch>
            <a:fillRect/>
          </a:stretch>
        </p:blipFill>
        <p:spPr>
          <a:xfrm>
            <a:off x="6003443" y="1285397"/>
            <a:ext cx="2977139" cy="2647181"/>
          </a:xfrm>
          <a:prstGeom prst="rect">
            <a:avLst/>
          </a:prstGeom>
          <a:ln>
            <a:solidFill>
              <a:schemeClr val="tx1"/>
            </a:solidFill>
          </a:ln>
        </p:spPr>
      </p:pic>
      <p:sp>
        <p:nvSpPr>
          <p:cNvPr id="7" name="Rectangle 6">
            <a:extLst>
              <a:ext uri="{FF2B5EF4-FFF2-40B4-BE49-F238E27FC236}">
                <a16:creationId xmlns:a16="http://schemas.microsoft.com/office/drawing/2014/main" id="{D5E590D0-8297-1E06-4ECC-1AB8D3C91BF2}"/>
              </a:ext>
            </a:extLst>
          </p:cNvPr>
          <p:cNvSpPr/>
          <p:nvPr/>
        </p:nvSpPr>
        <p:spPr>
          <a:xfrm>
            <a:off x="4378036" y="1302327"/>
            <a:ext cx="602672" cy="117763"/>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89F33F-1726-8471-0672-A394D4BB4BD3}"/>
              </a:ext>
            </a:extLst>
          </p:cNvPr>
          <p:cNvSpPr txBox="1"/>
          <p:nvPr/>
        </p:nvSpPr>
        <p:spPr>
          <a:xfrm>
            <a:off x="3983181" y="1260766"/>
            <a:ext cx="1143001" cy="20005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t>Bode Diagram of Model</a:t>
            </a:r>
          </a:p>
        </p:txBody>
      </p:sp>
    </p:spTree>
    <p:extLst>
      <p:ext uri="{BB962C8B-B14F-4D97-AF65-F5344CB8AC3E}">
        <p14:creationId xmlns:p14="http://schemas.microsoft.com/office/powerpoint/2010/main" val="982512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92FB3A0-2F01-EC77-B10E-CB4BB1CC2615}"/>
              </a:ext>
            </a:extLst>
          </p:cNvPr>
          <p:cNvSpPr>
            <a:spLocks noGrp="1"/>
          </p:cNvSpPr>
          <p:nvPr>
            <p:ph type="subTitle" idx="1"/>
          </p:nvPr>
        </p:nvSpPr>
        <p:spPr>
          <a:xfrm>
            <a:off x="567619" y="1317299"/>
            <a:ext cx="3809072" cy="3148169"/>
          </a:xfrm>
        </p:spPr>
        <p:txBody>
          <a:bodyPr/>
          <a:lstStyle/>
          <a:p>
            <a:pPr marL="425450" indent="-285750" algn="l">
              <a:buFont typeface="Arial" panose="020B0604020202020204" pitchFamily="34" charset="0"/>
              <a:buChar char="•"/>
            </a:pPr>
            <a:r>
              <a:rPr lang="en-CA" sz="1300" dirty="0"/>
              <a:t>Comparison with exponential decay to model startup </a:t>
            </a:r>
            <a:r>
              <a:rPr lang="en-CA" sz="1300"/>
              <a:t>power draw.</a:t>
            </a:r>
            <a:endParaRPr lang="en-CA" sz="1300" dirty="0"/>
          </a:p>
          <a:p>
            <a:pPr marL="425450" indent="-285750" algn="l">
              <a:buFont typeface="Arial" panose="020B0604020202020204" pitchFamily="34" charset="0"/>
              <a:buChar char="•"/>
            </a:pPr>
            <a:endParaRPr lang="en-CA" sz="1300" dirty="0"/>
          </a:p>
          <a:p>
            <a:pPr marL="425450" indent="-285750" algn="l">
              <a:buFont typeface="Arial" panose="020B0604020202020204" pitchFamily="34" charset="0"/>
              <a:buChar char="•"/>
            </a:pPr>
            <a:r>
              <a:rPr lang="en-CA" sz="1300" dirty="0"/>
              <a:t>Note Rise time control vs uncontrolled.</a:t>
            </a:r>
          </a:p>
          <a:p>
            <a:pPr algn="l">
              <a:buFont typeface="Arial" panose="020B0604020202020204" pitchFamily="34" charset="0"/>
              <a:buChar char="•"/>
            </a:pPr>
            <a:endParaRPr lang="en-CA" sz="1300" dirty="0"/>
          </a:p>
          <a:p>
            <a:pPr algn="l">
              <a:buFont typeface="Arial" panose="020B0604020202020204" pitchFamily="34" charset="0"/>
              <a:buChar char="•"/>
            </a:pPr>
            <a:r>
              <a:rPr lang="en-CA" sz="1300" dirty="0"/>
              <a:t>Note for overcurrent draw about 6 times rated power is standard. [1]</a:t>
            </a:r>
          </a:p>
          <a:p>
            <a:pPr algn="l">
              <a:buFont typeface="Arial" panose="020B0604020202020204" pitchFamily="34" charset="0"/>
              <a:buChar char="•"/>
            </a:pPr>
            <a:endParaRPr lang="en-CA" sz="1300" dirty="0"/>
          </a:p>
          <a:p>
            <a:pPr algn="l">
              <a:buFont typeface="Arial" panose="020B0604020202020204" pitchFamily="34" charset="0"/>
              <a:buChar char="•"/>
            </a:pPr>
            <a:endParaRPr lang="en-CA" sz="1300" dirty="0"/>
          </a:p>
        </p:txBody>
      </p:sp>
      <p:sp>
        <p:nvSpPr>
          <p:cNvPr id="3" name="Title 2">
            <a:extLst>
              <a:ext uri="{FF2B5EF4-FFF2-40B4-BE49-F238E27FC236}">
                <a16:creationId xmlns:a16="http://schemas.microsoft.com/office/drawing/2014/main" id="{EBE588DC-4F89-E0A3-E71E-76481579C7AC}"/>
              </a:ext>
            </a:extLst>
          </p:cNvPr>
          <p:cNvSpPr>
            <a:spLocks noGrp="1"/>
          </p:cNvSpPr>
          <p:nvPr>
            <p:ph type="title"/>
          </p:nvPr>
        </p:nvSpPr>
        <p:spPr>
          <a:xfrm>
            <a:off x="669551" y="422343"/>
            <a:ext cx="4395609" cy="912413"/>
          </a:xfrm>
        </p:spPr>
        <p:txBody>
          <a:bodyPr/>
          <a:lstStyle/>
          <a:p>
            <a:r>
              <a:rPr lang="en-CA"/>
              <a:t>Controller Design</a:t>
            </a:r>
          </a:p>
        </p:txBody>
      </p:sp>
      <p:pic>
        <p:nvPicPr>
          <p:cNvPr id="8" name="Picture 7">
            <a:extLst>
              <a:ext uri="{FF2B5EF4-FFF2-40B4-BE49-F238E27FC236}">
                <a16:creationId xmlns:a16="http://schemas.microsoft.com/office/drawing/2014/main" id="{7A359E75-F5F1-14EE-9760-3B3C3B01B2F8}"/>
              </a:ext>
            </a:extLst>
          </p:cNvPr>
          <p:cNvPicPr>
            <a:picLocks noChangeAspect="1"/>
          </p:cNvPicPr>
          <p:nvPr/>
        </p:nvPicPr>
        <p:blipFill>
          <a:blip r:embed="rId2"/>
          <a:stretch>
            <a:fillRect/>
          </a:stretch>
        </p:blipFill>
        <p:spPr>
          <a:xfrm>
            <a:off x="1062258" y="4049274"/>
            <a:ext cx="2819794" cy="552527"/>
          </a:xfrm>
          <a:prstGeom prst="rect">
            <a:avLst/>
          </a:prstGeom>
          <a:ln>
            <a:solidFill>
              <a:schemeClr val="accent4"/>
            </a:solidFill>
          </a:ln>
        </p:spPr>
      </p:pic>
      <p:sp>
        <p:nvSpPr>
          <p:cNvPr id="11" name="TextBox 10">
            <a:extLst>
              <a:ext uri="{FF2B5EF4-FFF2-40B4-BE49-F238E27FC236}">
                <a16:creationId xmlns:a16="http://schemas.microsoft.com/office/drawing/2014/main" id="{AD2FE65A-A94F-DE88-E241-9D8E9FDFEA39}"/>
              </a:ext>
            </a:extLst>
          </p:cNvPr>
          <p:cNvSpPr txBox="1"/>
          <p:nvPr/>
        </p:nvSpPr>
        <p:spPr>
          <a:xfrm>
            <a:off x="752484" y="4629429"/>
            <a:ext cx="3764808" cy="261610"/>
          </a:xfrm>
          <a:prstGeom prst="rect">
            <a:avLst/>
          </a:prstGeom>
          <a:noFill/>
        </p:spPr>
        <p:txBody>
          <a:bodyPr wrap="square" rtlCol="0">
            <a:spAutoFit/>
          </a:bodyPr>
          <a:lstStyle/>
          <a:p>
            <a:r>
              <a:rPr lang="en-CA" sz="1100" dirty="0">
                <a:latin typeface="Montserrat Medium" panose="00000600000000000000" pitchFamily="2" charset="0"/>
              </a:rPr>
              <a:t>[1] </a:t>
            </a:r>
            <a:r>
              <a:rPr lang="en-CA" sz="1100" dirty="0" err="1">
                <a:latin typeface="Montserrat Medium" panose="00000600000000000000" pitchFamily="2" charset="0"/>
              </a:rPr>
              <a:t>A.Lee</a:t>
            </a:r>
            <a:r>
              <a:rPr lang="en-CA" sz="1100" dirty="0">
                <a:latin typeface="Montserrat Medium" panose="00000600000000000000" pitchFamily="2" charset="0"/>
              </a:rPr>
              <a:t> and </a:t>
            </a:r>
            <a:r>
              <a:rPr lang="en-CA" sz="1100" dirty="0" err="1">
                <a:latin typeface="Montserrat Medium" panose="00000600000000000000" pitchFamily="2" charset="0"/>
              </a:rPr>
              <a:t>C.Flinn</a:t>
            </a:r>
            <a:r>
              <a:rPr lang="en-CA" sz="1100" dirty="0">
                <a:latin typeface="Montserrat Medium" panose="00000600000000000000" pitchFamily="2" charset="0"/>
              </a:rPr>
              <a:t> (2020) Basic Motor Control I.3 </a:t>
            </a:r>
          </a:p>
        </p:txBody>
      </p:sp>
      <p:pic>
        <p:nvPicPr>
          <p:cNvPr id="15" name="Picture 14">
            <a:extLst>
              <a:ext uri="{FF2B5EF4-FFF2-40B4-BE49-F238E27FC236}">
                <a16:creationId xmlns:a16="http://schemas.microsoft.com/office/drawing/2014/main" id="{D9C82375-2DBE-4F18-0EAA-A0DD6EF8E7F6}"/>
              </a:ext>
            </a:extLst>
          </p:cNvPr>
          <p:cNvPicPr>
            <a:picLocks noChangeAspect="1"/>
          </p:cNvPicPr>
          <p:nvPr/>
        </p:nvPicPr>
        <p:blipFill>
          <a:blip r:embed="rId3"/>
          <a:stretch>
            <a:fillRect/>
          </a:stretch>
        </p:blipFill>
        <p:spPr>
          <a:xfrm>
            <a:off x="5568022" y="2632458"/>
            <a:ext cx="2823494" cy="2117621"/>
          </a:xfrm>
          <a:prstGeom prst="rect">
            <a:avLst/>
          </a:prstGeom>
          <a:ln>
            <a:solidFill>
              <a:schemeClr val="accent4"/>
            </a:solidFill>
          </a:ln>
        </p:spPr>
      </p:pic>
      <p:pic>
        <p:nvPicPr>
          <p:cNvPr id="17" name="Picture 16">
            <a:extLst>
              <a:ext uri="{FF2B5EF4-FFF2-40B4-BE49-F238E27FC236}">
                <a16:creationId xmlns:a16="http://schemas.microsoft.com/office/drawing/2014/main" id="{0373E42F-9084-1FB6-D989-CE8782529CEC}"/>
              </a:ext>
            </a:extLst>
          </p:cNvPr>
          <p:cNvPicPr>
            <a:picLocks noChangeAspect="1"/>
          </p:cNvPicPr>
          <p:nvPr/>
        </p:nvPicPr>
        <p:blipFill>
          <a:blip r:embed="rId4"/>
          <a:stretch>
            <a:fillRect/>
          </a:stretch>
        </p:blipFill>
        <p:spPr>
          <a:xfrm>
            <a:off x="5568022" y="262094"/>
            <a:ext cx="2860431" cy="2145323"/>
          </a:xfrm>
          <a:prstGeom prst="rect">
            <a:avLst/>
          </a:prstGeom>
          <a:ln>
            <a:solidFill>
              <a:schemeClr val="accent4"/>
            </a:solidFill>
          </a:ln>
        </p:spPr>
      </p:pic>
      <p:graphicFrame>
        <p:nvGraphicFramePr>
          <p:cNvPr id="18" name="Table 17">
            <a:extLst>
              <a:ext uri="{FF2B5EF4-FFF2-40B4-BE49-F238E27FC236}">
                <a16:creationId xmlns:a16="http://schemas.microsoft.com/office/drawing/2014/main" id="{7E2FE1BD-C0AB-F5BB-CB35-A3D0057D3DC9}"/>
              </a:ext>
            </a:extLst>
          </p:cNvPr>
          <p:cNvGraphicFramePr>
            <a:graphicFrameLocks noGrp="1"/>
          </p:cNvGraphicFramePr>
          <p:nvPr>
            <p:extLst>
              <p:ext uri="{D42A27DB-BD31-4B8C-83A1-F6EECF244321}">
                <p14:modId xmlns:p14="http://schemas.microsoft.com/office/powerpoint/2010/main" val="3386167631"/>
              </p:ext>
            </p:extLst>
          </p:nvPr>
        </p:nvGraphicFramePr>
        <p:xfrm>
          <a:off x="752484" y="3075020"/>
          <a:ext cx="3374913" cy="892273"/>
        </p:xfrm>
        <a:graphic>
          <a:graphicData uri="http://schemas.openxmlformats.org/drawingml/2006/table">
            <a:tbl>
              <a:tblPr firstRow="1" bandRow="1">
                <a:tableStyleId>{FAAAE56C-ED00-4863-BFCA-50439806C549}</a:tableStyleId>
              </a:tblPr>
              <a:tblGrid>
                <a:gridCol w="641346">
                  <a:extLst>
                    <a:ext uri="{9D8B030D-6E8A-4147-A177-3AD203B41FA5}">
                      <a16:colId xmlns:a16="http://schemas.microsoft.com/office/drawing/2014/main" val="3701330432"/>
                    </a:ext>
                  </a:extLst>
                </a:gridCol>
                <a:gridCol w="641346">
                  <a:extLst>
                    <a:ext uri="{9D8B030D-6E8A-4147-A177-3AD203B41FA5}">
                      <a16:colId xmlns:a16="http://schemas.microsoft.com/office/drawing/2014/main" val="3872107256"/>
                    </a:ext>
                  </a:extLst>
                </a:gridCol>
                <a:gridCol w="641346">
                  <a:extLst>
                    <a:ext uri="{9D8B030D-6E8A-4147-A177-3AD203B41FA5}">
                      <a16:colId xmlns:a16="http://schemas.microsoft.com/office/drawing/2014/main" val="3946220611"/>
                    </a:ext>
                  </a:extLst>
                </a:gridCol>
                <a:gridCol w="728245">
                  <a:extLst>
                    <a:ext uri="{9D8B030D-6E8A-4147-A177-3AD203B41FA5}">
                      <a16:colId xmlns:a16="http://schemas.microsoft.com/office/drawing/2014/main" val="4272645762"/>
                    </a:ext>
                  </a:extLst>
                </a:gridCol>
                <a:gridCol w="722630">
                  <a:extLst>
                    <a:ext uri="{9D8B030D-6E8A-4147-A177-3AD203B41FA5}">
                      <a16:colId xmlns:a16="http://schemas.microsoft.com/office/drawing/2014/main" val="1625338818"/>
                    </a:ext>
                  </a:extLst>
                </a:gridCol>
              </a:tblGrid>
              <a:tr h="343633">
                <a:tc>
                  <a:txBody>
                    <a:bodyPr/>
                    <a:lstStyle/>
                    <a:p>
                      <a:r>
                        <a:rPr lang="en-CA" sz="1000" dirty="0">
                          <a:latin typeface="Montserrat Medium" panose="00000600000000000000" pitchFamily="2" charset="0"/>
                        </a:rPr>
                        <a:t>Steady State Offset</a:t>
                      </a:r>
                    </a:p>
                  </a:txBody>
                  <a:tcPr>
                    <a:solidFill>
                      <a:schemeClr val="accent6"/>
                    </a:solidFill>
                  </a:tcPr>
                </a:tc>
                <a:tc>
                  <a:txBody>
                    <a:bodyPr/>
                    <a:lstStyle/>
                    <a:p>
                      <a:r>
                        <a:rPr lang="en-CA" sz="1000" dirty="0">
                          <a:latin typeface="Montserrat Medium" panose="00000600000000000000" pitchFamily="2" charset="0"/>
                        </a:rPr>
                        <a:t>Rise Time</a:t>
                      </a:r>
                    </a:p>
                  </a:txBody>
                  <a:tcPr>
                    <a:solidFill>
                      <a:schemeClr val="accent6"/>
                    </a:solidFill>
                  </a:tcPr>
                </a:tc>
                <a:tc>
                  <a:txBody>
                    <a:bodyPr/>
                    <a:lstStyle/>
                    <a:p>
                      <a:r>
                        <a:rPr lang="en-CA" sz="1000">
                          <a:latin typeface="Montserrat Medium" panose="00000600000000000000" pitchFamily="2" charset="0"/>
                        </a:rPr>
                        <a:t>Over-shoot</a:t>
                      </a:r>
                    </a:p>
                  </a:txBody>
                  <a:tcPr>
                    <a:solidFill>
                      <a:schemeClr val="accent6"/>
                    </a:solidFill>
                  </a:tcPr>
                </a:tc>
                <a:tc>
                  <a:txBody>
                    <a:bodyPr/>
                    <a:lstStyle/>
                    <a:p>
                      <a:r>
                        <a:rPr lang="en-CA" sz="1000" dirty="0">
                          <a:latin typeface="Montserrat Medium" panose="00000600000000000000" pitchFamily="2" charset="0"/>
                        </a:rPr>
                        <a:t>Settling Time</a:t>
                      </a:r>
                    </a:p>
                  </a:txBody>
                  <a:tcPr>
                    <a:solidFill>
                      <a:schemeClr val="accent6"/>
                    </a:solidFill>
                  </a:tcPr>
                </a:tc>
                <a:tc>
                  <a:txBody>
                    <a:bodyPr/>
                    <a:lstStyle/>
                    <a:p>
                      <a:r>
                        <a:rPr lang="en-CA" sz="1000" dirty="0">
                          <a:latin typeface="Montserrat Medium" panose="00000600000000000000" pitchFamily="2" charset="0"/>
                        </a:rPr>
                        <a:t>Settling (</a:t>
                      </a:r>
                      <a:r>
                        <a:rPr lang="az-Cyrl-AZ" sz="1000" dirty="0">
                          <a:latin typeface="Montserrat Medium" panose="00000600000000000000" pitchFamily="2" charset="0"/>
                        </a:rPr>
                        <a:t>з</a:t>
                      </a:r>
                      <a:r>
                        <a:rPr lang="en-CA" sz="1000" dirty="0">
                          <a:latin typeface="Montserrat Medium" panose="00000600000000000000" pitchFamily="2" charset="0"/>
                        </a:rPr>
                        <a:t>)</a:t>
                      </a:r>
                    </a:p>
                  </a:txBody>
                  <a:tcPr>
                    <a:solidFill>
                      <a:schemeClr val="accent6"/>
                    </a:solidFill>
                  </a:tcPr>
                </a:tc>
                <a:extLst>
                  <a:ext uri="{0D108BD9-81ED-4DB2-BD59-A6C34878D82A}">
                    <a16:rowId xmlns:a16="http://schemas.microsoft.com/office/drawing/2014/main" val="3120891010"/>
                  </a:ext>
                </a:extLst>
              </a:tr>
              <a:tr h="343633">
                <a:tc>
                  <a:txBody>
                    <a:bodyPr/>
                    <a:lstStyle/>
                    <a:p>
                      <a:r>
                        <a:rPr lang="en-CA" sz="1000" dirty="0">
                          <a:latin typeface="Montserrat Medium" panose="00000600000000000000" pitchFamily="2" charset="0"/>
                        </a:rPr>
                        <a:t>0.04</a:t>
                      </a:r>
                    </a:p>
                  </a:txBody>
                  <a:tcPr>
                    <a:solidFill>
                      <a:schemeClr val="accent6"/>
                    </a:solidFill>
                  </a:tcPr>
                </a:tc>
                <a:tc>
                  <a:txBody>
                    <a:bodyPr/>
                    <a:lstStyle/>
                    <a:p>
                      <a:r>
                        <a:rPr lang="en-CA" sz="1000" dirty="0">
                          <a:latin typeface="Montserrat Medium" panose="00000600000000000000" pitchFamily="2" charset="0"/>
                        </a:rPr>
                        <a:t>12.5s</a:t>
                      </a:r>
                    </a:p>
                  </a:txBody>
                  <a:tcPr>
                    <a:solidFill>
                      <a:schemeClr val="accent6"/>
                    </a:solidFill>
                  </a:tcPr>
                </a:tc>
                <a:tc>
                  <a:txBody>
                    <a:bodyPr/>
                    <a:lstStyle/>
                    <a:p>
                      <a:r>
                        <a:rPr lang="en-CA" sz="1000" dirty="0">
                          <a:latin typeface="Montserrat Medium" panose="00000600000000000000" pitchFamily="2" charset="0"/>
                        </a:rPr>
                        <a:t>0</a:t>
                      </a:r>
                    </a:p>
                  </a:txBody>
                  <a:tcPr>
                    <a:solidFill>
                      <a:schemeClr val="accent6"/>
                    </a:solidFill>
                  </a:tcPr>
                </a:tc>
                <a:tc>
                  <a:txBody>
                    <a:bodyPr/>
                    <a:lstStyle/>
                    <a:p>
                      <a:r>
                        <a:rPr lang="en-CA" sz="1000" dirty="0">
                          <a:latin typeface="Montserrat Medium" panose="00000600000000000000" pitchFamily="2" charset="0"/>
                        </a:rPr>
                        <a:t>13s</a:t>
                      </a:r>
                    </a:p>
                  </a:txBody>
                  <a:tcPr>
                    <a:solidFill>
                      <a:schemeClr val="accent6"/>
                    </a:solidFill>
                  </a:tcPr>
                </a:tc>
                <a:tc>
                  <a:txBody>
                    <a:bodyPr/>
                    <a:lstStyle/>
                    <a:p>
                      <a:r>
                        <a:rPr lang="en-CA" sz="1000" dirty="0">
                          <a:latin typeface="Montserrat Medium" panose="00000600000000000000" pitchFamily="2" charset="0"/>
                        </a:rPr>
                        <a:t>0.09</a:t>
                      </a:r>
                    </a:p>
                  </a:txBody>
                  <a:tcPr>
                    <a:solidFill>
                      <a:schemeClr val="accent6"/>
                    </a:solidFill>
                  </a:tcPr>
                </a:tc>
                <a:extLst>
                  <a:ext uri="{0D108BD9-81ED-4DB2-BD59-A6C34878D82A}">
                    <a16:rowId xmlns:a16="http://schemas.microsoft.com/office/drawing/2014/main" val="2565482426"/>
                  </a:ext>
                </a:extLst>
              </a:tr>
            </a:tbl>
          </a:graphicData>
        </a:graphic>
      </p:graphicFrame>
    </p:spTree>
    <p:extLst>
      <p:ext uri="{BB962C8B-B14F-4D97-AF65-F5344CB8AC3E}">
        <p14:creationId xmlns:p14="http://schemas.microsoft.com/office/powerpoint/2010/main" val="796382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18E47C-2151-8C79-8F62-BC36C3CDD669}"/>
              </a:ext>
            </a:extLst>
          </p:cNvPr>
          <p:cNvSpPr>
            <a:spLocks noGrp="1"/>
          </p:cNvSpPr>
          <p:nvPr>
            <p:ph type="title"/>
          </p:nvPr>
        </p:nvSpPr>
        <p:spPr>
          <a:xfrm>
            <a:off x="720000" y="878550"/>
            <a:ext cx="3157200" cy="2339700"/>
          </a:xfrm>
        </p:spPr>
        <p:txBody>
          <a:bodyPr wrap="square" anchor="t">
            <a:normAutofit/>
          </a:bodyPr>
          <a:lstStyle/>
          <a:p>
            <a:r>
              <a:rPr lang="en-CA">
                <a:solidFill>
                  <a:srgbClr val="837693"/>
                </a:solidFill>
              </a:rPr>
              <a:t>Triple</a:t>
            </a:r>
            <a:r>
              <a:rPr lang="en-CA"/>
              <a:t> Bottom Line Analysis</a:t>
            </a:r>
          </a:p>
        </p:txBody>
      </p:sp>
      <p:pic>
        <p:nvPicPr>
          <p:cNvPr id="12" name="Picture Placeholder 11">
            <a:extLst>
              <a:ext uri="{FF2B5EF4-FFF2-40B4-BE49-F238E27FC236}">
                <a16:creationId xmlns:a16="http://schemas.microsoft.com/office/drawing/2014/main" id="{E85B05EE-A752-B05F-AD9B-FCD6A1721822}"/>
              </a:ext>
            </a:extLst>
          </p:cNvPr>
          <p:cNvPicPr>
            <a:picLocks noGrp="1" noChangeAspect="1"/>
          </p:cNvPicPr>
          <p:nvPr>
            <p:ph type="pic" idx="2"/>
          </p:nvPr>
        </p:nvPicPr>
        <p:blipFill>
          <a:blip r:embed="rId3"/>
          <a:srcRect l="3923" r="21855"/>
          <a:stretch>
            <a:fillRect/>
          </a:stretch>
        </p:blipFill>
        <p:spPr>
          <a:xfrm>
            <a:off x="4360500" y="540000"/>
            <a:ext cx="4063500" cy="4063500"/>
          </a:xfrm>
          <a:prstGeom prst="rect">
            <a:avLst/>
          </a:prstGeom>
          <a:noFill/>
          <a:ln>
            <a:noFill/>
          </a:ln>
        </p:spPr>
      </p:pic>
    </p:spTree>
    <p:extLst>
      <p:ext uri="{BB962C8B-B14F-4D97-AF65-F5344CB8AC3E}">
        <p14:creationId xmlns:p14="http://schemas.microsoft.com/office/powerpoint/2010/main" val="407382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1FC79CC-668A-4997-4BFC-1AA5530EDBE6}"/>
              </a:ext>
            </a:extLst>
          </p:cNvPr>
          <p:cNvSpPr>
            <a:spLocks noGrp="1"/>
          </p:cNvSpPr>
          <p:nvPr>
            <p:ph type="subTitle" idx="1"/>
          </p:nvPr>
        </p:nvSpPr>
        <p:spPr>
          <a:xfrm>
            <a:off x="430306" y="1264024"/>
            <a:ext cx="3446894" cy="3000926"/>
          </a:xfrm>
        </p:spPr>
        <p:txBody>
          <a:bodyPr/>
          <a:lstStyle/>
          <a:p>
            <a:pPr algn="l">
              <a:buFontTx/>
              <a:buChar char="-"/>
            </a:pPr>
            <a:r>
              <a:rPr lang="en-US"/>
              <a:t>Dupuis Auditorium can house 217 student, at 60% capacity that’s 130 people [2]</a:t>
            </a:r>
          </a:p>
          <a:p>
            <a:pPr algn="l">
              <a:buFontTx/>
              <a:buChar char="-"/>
            </a:pPr>
            <a:endParaRPr lang="en-US"/>
          </a:p>
          <a:p>
            <a:pPr algn="l">
              <a:buFontTx/>
              <a:buChar char="-"/>
            </a:pPr>
            <a:r>
              <a:rPr lang="en-US"/>
              <a:t>At rest the average human body releases approximately 100 watts of energy in the form of heat over the course of 1 hour [1]</a:t>
            </a:r>
          </a:p>
          <a:p>
            <a:pPr algn="l">
              <a:buFontTx/>
              <a:buChar char="-"/>
            </a:pPr>
            <a:endParaRPr lang="en-US"/>
          </a:p>
          <a:p>
            <a:pPr algn="l">
              <a:buFontTx/>
              <a:buChar char="-"/>
            </a:pPr>
            <a:r>
              <a:rPr lang="en-US"/>
              <a:t>In a room with low ventilation this heat load collects, steadily raising the room temperature </a:t>
            </a:r>
          </a:p>
          <a:p>
            <a:pPr algn="l">
              <a:buFontTx/>
              <a:buChar char="-"/>
            </a:pPr>
            <a:endParaRPr lang="en-US"/>
          </a:p>
          <a:p>
            <a:pPr algn="l">
              <a:buFontTx/>
              <a:buChar char="-"/>
            </a:pPr>
            <a:endParaRPr lang="en-CA"/>
          </a:p>
        </p:txBody>
      </p:sp>
      <p:sp>
        <p:nvSpPr>
          <p:cNvPr id="3" name="Title 2">
            <a:extLst>
              <a:ext uri="{FF2B5EF4-FFF2-40B4-BE49-F238E27FC236}">
                <a16:creationId xmlns:a16="http://schemas.microsoft.com/office/drawing/2014/main" id="{D5642CCE-F88C-CDCE-F9A8-99A24E2C5434}"/>
              </a:ext>
            </a:extLst>
          </p:cNvPr>
          <p:cNvSpPr>
            <a:spLocks noGrp="1"/>
          </p:cNvSpPr>
          <p:nvPr>
            <p:ph type="title"/>
          </p:nvPr>
        </p:nvSpPr>
        <p:spPr>
          <a:xfrm>
            <a:off x="720000" y="540000"/>
            <a:ext cx="3157200" cy="658179"/>
          </a:xfrm>
        </p:spPr>
        <p:txBody>
          <a:bodyPr/>
          <a:lstStyle/>
          <a:p>
            <a:r>
              <a:rPr lang="en-US"/>
              <a:t>Statistics</a:t>
            </a:r>
            <a:endParaRPr lang="en-CA"/>
          </a:p>
        </p:txBody>
      </p:sp>
      <p:pic>
        <p:nvPicPr>
          <p:cNvPr id="8" name="Picture Placeholder 7">
            <a:extLst>
              <a:ext uri="{FF2B5EF4-FFF2-40B4-BE49-F238E27FC236}">
                <a16:creationId xmlns:a16="http://schemas.microsoft.com/office/drawing/2014/main" id="{E6615ED5-A296-418E-336B-59D4D85197AF}"/>
              </a:ext>
            </a:extLst>
          </p:cNvPr>
          <p:cNvPicPr>
            <a:picLocks noGrp="1" noChangeAspect="1"/>
          </p:cNvPicPr>
          <p:nvPr>
            <p:ph type="pic" idx="2"/>
          </p:nvPr>
        </p:nvPicPr>
        <p:blipFill>
          <a:blip r:embed="rId3">
            <a:extLst>
              <a:ext uri="{BEBA8EAE-BF5A-486C-A8C5-ECC9F3942E4B}">
                <a14:imgProps xmlns:a14="http://schemas.microsoft.com/office/drawing/2010/main">
                  <a14:imgLayer r:embed="rId4">
                    <a14:imgEffect>
                      <a14:backgroundRemoval t="10000" b="90000" l="10075" r="89925"/>
                    </a14:imgEffect>
                    <a14:imgEffect>
                      <a14:saturation sat="66000"/>
                    </a14:imgEffect>
                  </a14:imgLayer>
                </a14:imgProps>
              </a:ext>
            </a:extLst>
          </a:blip>
          <a:srcRect l="8033" r="2672" b="10537"/>
          <a:stretch>
            <a:fillRect/>
          </a:stretch>
        </p:blipFill>
        <p:spPr>
          <a:xfrm>
            <a:off x="4360500" y="540000"/>
            <a:ext cx="4063500" cy="4063500"/>
          </a:xfrm>
          <a:prstGeom prst="rect">
            <a:avLst/>
          </a:prstGeom>
          <a:noFill/>
          <a:ln>
            <a:noFill/>
          </a:ln>
        </p:spPr>
      </p:pic>
      <p:pic>
        <p:nvPicPr>
          <p:cNvPr id="10" name="Picture 9" descr="The Importance of Liquid Cooling in Data Centers » SENKO Advanced  Components, Inc.">
            <a:extLst>
              <a:ext uri="{FF2B5EF4-FFF2-40B4-BE49-F238E27FC236}">
                <a16:creationId xmlns:a16="http://schemas.microsoft.com/office/drawing/2014/main" id="{72835F0A-F9B2-1BC9-4B0A-7CDF4477F04A}"/>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4166894" y="404209"/>
            <a:ext cx="1557228" cy="1719629"/>
          </a:xfrm>
          <a:prstGeom prst="rect">
            <a:avLst/>
          </a:prstGeom>
        </p:spPr>
      </p:pic>
      <p:pic>
        <p:nvPicPr>
          <p:cNvPr id="11" name="Picture 10" descr="The Importance of Liquid Cooling in Data Centers » SENKO Advanced  Components, Inc.">
            <a:extLst>
              <a:ext uri="{FF2B5EF4-FFF2-40B4-BE49-F238E27FC236}">
                <a16:creationId xmlns:a16="http://schemas.microsoft.com/office/drawing/2014/main" id="{258B8F2B-F1DF-1224-9842-572E72568ABF}"/>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5420030" y="0"/>
            <a:ext cx="1557228" cy="1719629"/>
          </a:xfrm>
          <a:prstGeom prst="rect">
            <a:avLst/>
          </a:prstGeom>
        </p:spPr>
      </p:pic>
      <p:pic>
        <p:nvPicPr>
          <p:cNvPr id="12" name="Picture 11" descr="The Importance of Liquid Cooling in Data Centers » SENKO Advanced  Components, Inc.">
            <a:extLst>
              <a:ext uri="{FF2B5EF4-FFF2-40B4-BE49-F238E27FC236}">
                <a16:creationId xmlns:a16="http://schemas.microsoft.com/office/drawing/2014/main" id="{A9C879AF-A2F0-9A2A-C3A9-39F90A75EE3B}"/>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6673166" y="336464"/>
            <a:ext cx="1557228" cy="1719629"/>
          </a:xfrm>
          <a:prstGeom prst="rect">
            <a:avLst/>
          </a:prstGeom>
        </p:spPr>
      </p:pic>
      <p:sp>
        <p:nvSpPr>
          <p:cNvPr id="4" name="Rectangle 5">
            <a:extLst>
              <a:ext uri="{FF2B5EF4-FFF2-40B4-BE49-F238E27FC236}">
                <a16:creationId xmlns:a16="http://schemas.microsoft.com/office/drawing/2014/main" id="{66665917-AAAE-6522-8A9E-9AE0938FA79A}"/>
              </a:ext>
            </a:extLst>
          </p:cNvPr>
          <p:cNvSpPr>
            <a:spLocks noChangeArrowheads="1"/>
          </p:cNvSpPr>
          <p:nvPr/>
        </p:nvSpPr>
        <p:spPr bwMode="auto">
          <a:xfrm>
            <a:off x="915893" y="4253851"/>
            <a:ext cx="276541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1000"/>
              <a:t>[1] Science Insights, </a:t>
            </a:r>
            <a:r>
              <a:rPr lang="en-US" sz="1000" i="1"/>
              <a:t>How Much Heat Does a Person Generate Per Hour?</a:t>
            </a:r>
            <a:endParaRPr lang="en-US" sz="1000"/>
          </a:p>
          <a:p>
            <a:r>
              <a:rPr lang="en-US" sz="1000"/>
              <a:t>[2] Queen’s University, </a:t>
            </a:r>
            <a:r>
              <a:rPr lang="en-US" sz="1000" i="1"/>
              <a:t>Dupuis Hall Classrooms</a:t>
            </a:r>
            <a:endParaRPr lang="en-US" sz="1000"/>
          </a:p>
          <a:p>
            <a:pPr lvl="0" eaLnBrk="0" fontAlgn="base" hangingPunct="0">
              <a:spcBef>
                <a:spcPct val="0"/>
              </a:spcBef>
              <a:spcAft>
                <a:spcPct val="0"/>
              </a:spcAft>
              <a:buClrTx/>
            </a:pPr>
            <a:endParaRPr kumimoji="0" lang="en-US" altLang="en-US" sz="1000" b="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5264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1561182-CAC0-C9E7-3A62-03B24F1DD29A}"/>
              </a:ext>
            </a:extLst>
          </p:cNvPr>
          <p:cNvSpPr/>
          <p:nvPr/>
        </p:nvSpPr>
        <p:spPr>
          <a:xfrm>
            <a:off x="-620829" y="-510137"/>
            <a:ext cx="3185221" cy="299006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Montserrat Medium" panose="00000600000000000000" pitchFamily="2" charset="0"/>
            </a:endParaRPr>
          </a:p>
        </p:txBody>
      </p:sp>
      <p:sp>
        <p:nvSpPr>
          <p:cNvPr id="6" name="Oval 5">
            <a:extLst>
              <a:ext uri="{FF2B5EF4-FFF2-40B4-BE49-F238E27FC236}">
                <a16:creationId xmlns:a16="http://schemas.microsoft.com/office/drawing/2014/main" id="{1DF8E523-CDFC-99A7-1D37-67067FA6D09A}"/>
              </a:ext>
            </a:extLst>
          </p:cNvPr>
          <p:cNvSpPr/>
          <p:nvPr/>
        </p:nvSpPr>
        <p:spPr>
          <a:xfrm>
            <a:off x="3944087" y="330047"/>
            <a:ext cx="2461308" cy="130969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a:solidFill>
                  <a:schemeClr val="tx1"/>
                </a:solidFill>
                <a:latin typeface="Work Sans" panose="020F0502020204030204" pitchFamily="2" charset="0"/>
              </a:rPr>
              <a:t>Effect on Learning and Health</a:t>
            </a:r>
            <a:endParaRPr lang="en-CA" sz="1800" b="1">
              <a:solidFill>
                <a:schemeClr val="tx1"/>
              </a:solidFill>
              <a:latin typeface="Work Sans" panose="020F0502020204030204" pitchFamily="2" charset="0"/>
            </a:endParaRPr>
          </a:p>
        </p:txBody>
      </p:sp>
      <p:sp>
        <p:nvSpPr>
          <p:cNvPr id="7" name="Oval 6">
            <a:extLst>
              <a:ext uri="{FF2B5EF4-FFF2-40B4-BE49-F238E27FC236}">
                <a16:creationId xmlns:a16="http://schemas.microsoft.com/office/drawing/2014/main" id="{F7942D6F-1F1D-E8C1-A2E2-15FB8049E016}"/>
              </a:ext>
            </a:extLst>
          </p:cNvPr>
          <p:cNvSpPr/>
          <p:nvPr/>
        </p:nvSpPr>
        <p:spPr>
          <a:xfrm>
            <a:off x="2713432" y="2048855"/>
            <a:ext cx="2461308" cy="130969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latin typeface="Work Sans" pitchFamily="2" charset="0"/>
              </a:rPr>
              <a:t>Wasted Energy</a:t>
            </a:r>
            <a:endParaRPr lang="en-CA" sz="2000" b="1">
              <a:solidFill>
                <a:schemeClr val="tx1"/>
              </a:solidFill>
              <a:latin typeface="Work Sans" pitchFamily="2" charset="0"/>
            </a:endParaRPr>
          </a:p>
        </p:txBody>
      </p:sp>
      <p:sp>
        <p:nvSpPr>
          <p:cNvPr id="8" name="Oval 7">
            <a:extLst>
              <a:ext uri="{FF2B5EF4-FFF2-40B4-BE49-F238E27FC236}">
                <a16:creationId xmlns:a16="http://schemas.microsoft.com/office/drawing/2014/main" id="{A4299C65-FBEB-8238-7FFD-D761EBC26A72}"/>
              </a:ext>
            </a:extLst>
          </p:cNvPr>
          <p:cNvSpPr/>
          <p:nvPr/>
        </p:nvSpPr>
        <p:spPr>
          <a:xfrm>
            <a:off x="291869" y="3358554"/>
            <a:ext cx="2461308" cy="130969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Work Sans" pitchFamily="2" charset="0"/>
              </a:rPr>
              <a:t>Safety</a:t>
            </a:r>
            <a:endParaRPr lang="en-CA" sz="2400">
              <a:solidFill>
                <a:schemeClr val="tx1"/>
              </a:solidFill>
              <a:latin typeface="Work Sans" pitchFamily="2" charset="0"/>
            </a:endParaRPr>
          </a:p>
        </p:txBody>
      </p:sp>
      <p:cxnSp>
        <p:nvCxnSpPr>
          <p:cNvPr id="9" name="Straight Arrow Connector 8">
            <a:extLst>
              <a:ext uri="{FF2B5EF4-FFF2-40B4-BE49-F238E27FC236}">
                <a16:creationId xmlns:a16="http://schemas.microsoft.com/office/drawing/2014/main" id="{606C073D-C40E-CD4B-A3D6-D17E27EF554F}"/>
              </a:ext>
            </a:extLst>
          </p:cNvPr>
          <p:cNvCxnSpPr>
            <a:cxnSpLocks/>
            <a:stCxn id="5" idx="6"/>
          </p:cNvCxnSpPr>
          <p:nvPr/>
        </p:nvCxnSpPr>
        <p:spPr>
          <a:xfrm flipV="1">
            <a:off x="2564392" y="984896"/>
            <a:ext cx="1277495" cy="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A92D88B-AD3A-5F2E-B8F7-B4B5B3938DD9}"/>
              </a:ext>
            </a:extLst>
          </p:cNvPr>
          <p:cNvCxnSpPr>
            <a:stCxn id="5" idx="5"/>
          </p:cNvCxnSpPr>
          <p:nvPr/>
        </p:nvCxnSpPr>
        <p:spPr>
          <a:xfrm>
            <a:off x="2097928" y="2042045"/>
            <a:ext cx="738997" cy="32256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D4E65B9-E90B-A39B-6658-FBBA3C4C7F6E}"/>
              </a:ext>
            </a:extLst>
          </p:cNvPr>
          <p:cNvCxnSpPr>
            <a:stCxn id="5" idx="4"/>
          </p:cNvCxnSpPr>
          <p:nvPr/>
        </p:nvCxnSpPr>
        <p:spPr>
          <a:xfrm>
            <a:off x="971782" y="2479930"/>
            <a:ext cx="459898" cy="79076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EF2DF4C-A71B-7551-B91D-9EAE9F6E2FF3}"/>
              </a:ext>
            </a:extLst>
          </p:cNvPr>
          <p:cNvSpPr txBox="1"/>
          <p:nvPr/>
        </p:nvSpPr>
        <p:spPr>
          <a:xfrm>
            <a:off x="6405395" y="446287"/>
            <a:ext cx="2565350" cy="1077218"/>
          </a:xfrm>
          <a:prstGeom prst="rect">
            <a:avLst/>
          </a:prstGeom>
          <a:noFill/>
        </p:spPr>
        <p:txBody>
          <a:bodyPr wrap="square" lIns="91440" tIns="45720" rIns="91440" bIns="45720" rtlCol="0" anchor="t">
            <a:spAutoFit/>
          </a:bodyPr>
          <a:lstStyle/>
          <a:p>
            <a:r>
              <a:rPr lang="en-US" sz="1600" b="1">
                <a:solidFill>
                  <a:srgbClr val="837693"/>
                </a:solidFill>
                <a:latin typeface="Montserrat Medium"/>
              </a:rPr>
              <a:t>Over heating leads to discomfort, fatigue and reduced concentration [3]</a:t>
            </a:r>
            <a:endParaRPr lang="en-CA" sz="1600" b="1">
              <a:solidFill>
                <a:srgbClr val="837693"/>
              </a:solidFill>
              <a:latin typeface="Montserrat Medium"/>
            </a:endParaRPr>
          </a:p>
        </p:txBody>
      </p:sp>
      <p:sp>
        <p:nvSpPr>
          <p:cNvPr id="13" name="TextBox 12">
            <a:extLst>
              <a:ext uri="{FF2B5EF4-FFF2-40B4-BE49-F238E27FC236}">
                <a16:creationId xmlns:a16="http://schemas.microsoft.com/office/drawing/2014/main" id="{970C8F95-4121-5DE0-E34C-0362C7334401}"/>
              </a:ext>
            </a:extLst>
          </p:cNvPr>
          <p:cNvSpPr txBox="1"/>
          <p:nvPr/>
        </p:nvSpPr>
        <p:spPr>
          <a:xfrm>
            <a:off x="5174739" y="2165095"/>
            <a:ext cx="3677392" cy="1077218"/>
          </a:xfrm>
          <a:prstGeom prst="rect">
            <a:avLst/>
          </a:prstGeom>
          <a:noFill/>
        </p:spPr>
        <p:txBody>
          <a:bodyPr wrap="square" rtlCol="0">
            <a:spAutoFit/>
          </a:bodyPr>
          <a:lstStyle/>
          <a:p>
            <a:r>
              <a:rPr lang="en-US" sz="1600" b="1">
                <a:solidFill>
                  <a:srgbClr val="837693"/>
                </a:solidFill>
                <a:latin typeface="Montserrat Medium" panose="00000600000000000000" pitchFamily="2" charset="0"/>
              </a:rPr>
              <a:t>With this room alone the university wastes approximately $15 a day in wasted energy costs from overheating [2][4]</a:t>
            </a:r>
            <a:endParaRPr lang="en-CA" sz="1600" b="1">
              <a:solidFill>
                <a:srgbClr val="837693"/>
              </a:solidFill>
              <a:latin typeface="Montserrat Medium" panose="00000600000000000000" pitchFamily="2" charset="0"/>
            </a:endParaRPr>
          </a:p>
        </p:txBody>
      </p:sp>
      <p:sp>
        <p:nvSpPr>
          <p:cNvPr id="24" name="TextBox 23">
            <a:extLst>
              <a:ext uri="{FF2B5EF4-FFF2-40B4-BE49-F238E27FC236}">
                <a16:creationId xmlns:a16="http://schemas.microsoft.com/office/drawing/2014/main" id="{A2501E48-2776-7830-1C1D-2E18D515D1FD}"/>
              </a:ext>
            </a:extLst>
          </p:cNvPr>
          <p:cNvSpPr txBox="1"/>
          <p:nvPr/>
        </p:nvSpPr>
        <p:spPr>
          <a:xfrm>
            <a:off x="2713432" y="3643902"/>
            <a:ext cx="3378682" cy="1169551"/>
          </a:xfrm>
          <a:prstGeom prst="rect">
            <a:avLst/>
          </a:prstGeom>
          <a:noFill/>
        </p:spPr>
        <p:txBody>
          <a:bodyPr wrap="square" rtlCol="0">
            <a:spAutoFit/>
          </a:bodyPr>
          <a:lstStyle/>
          <a:p>
            <a:pPr marL="38100">
              <a:buSzPts val="1200"/>
            </a:pPr>
            <a:r>
              <a:rPr lang="en-US" b="1">
                <a:solidFill>
                  <a:srgbClr val="837693"/>
                </a:solidFill>
                <a:latin typeface="Montserrat Medium" panose="00000600000000000000" pitchFamily="2" charset="0"/>
              </a:rPr>
              <a:t>With </a:t>
            </a:r>
            <a:r>
              <a:rPr lang="en-US" b="1" u="sng">
                <a:solidFill>
                  <a:srgbClr val="837693"/>
                </a:solidFill>
                <a:latin typeface="Montserrat Medium" panose="00000600000000000000" pitchFamily="2" charset="0"/>
              </a:rPr>
              <a:t>79%</a:t>
            </a:r>
            <a:r>
              <a:rPr lang="en-US" b="1">
                <a:solidFill>
                  <a:srgbClr val="837693"/>
                </a:solidFill>
                <a:latin typeface="Montserrat Medium" panose="00000600000000000000" pitchFamily="2" charset="0"/>
              </a:rPr>
              <a:t> of residential energy consumption used for space and water heating the risk overheated elements causing fires and pollution grows with misuse [1]</a:t>
            </a:r>
          </a:p>
        </p:txBody>
      </p:sp>
      <p:sp>
        <p:nvSpPr>
          <p:cNvPr id="25" name="TextBox 24">
            <a:extLst>
              <a:ext uri="{FF2B5EF4-FFF2-40B4-BE49-F238E27FC236}">
                <a16:creationId xmlns:a16="http://schemas.microsoft.com/office/drawing/2014/main" id="{0D152938-86EE-50D3-BCE5-5B07AAED9847}"/>
              </a:ext>
            </a:extLst>
          </p:cNvPr>
          <p:cNvSpPr txBox="1"/>
          <p:nvPr/>
        </p:nvSpPr>
        <p:spPr>
          <a:xfrm>
            <a:off x="291870" y="330047"/>
            <a:ext cx="1921942" cy="1415772"/>
          </a:xfrm>
          <a:prstGeom prst="rect">
            <a:avLst/>
          </a:prstGeom>
          <a:noFill/>
        </p:spPr>
        <p:txBody>
          <a:bodyPr wrap="square" lIns="91440" tIns="45720" rIns="91440" bIns="45720" rtlCol="0" anchor="t">
            <a:spAutoFit/>
          </a:bodyPr>
          <a:lstStyle/>
          <a:p>
            <a:r>
              <a:rPr lang="en-US" sz="2400" b="1">
                <a:solidFill>
                  <a:schemeClr val="tx1"/>
                </a:solidFill>
                <a:latin typeface="Work Sans" pitchFamily="2" charset="0"/>
              </a:rPr>
              <a:t>Problems We Sought to Address</a:t>
            </a:r>
          </a:p>
          <a:p>
            <a:endParaRPr lang="en-US">
              <a:solidFill>
                <a:srgbClr val="FF0000"/>
              </a:solidFill>
              <a:latin typeface="Montserrat Medium" panose="00000600000000000000" pitchFamily="2" charset="0"/>
            </a:endParaRPr>
          </a:p>
        </p:txBody>
      </p:sp>
      <p:sp>
        <p:nvSpPr>
          <p:cNvPr id="2" name="Rectangle 5">
            <a:extLst>
              <a:ext uri="{FF2B5EF4-FFF2-40B4-BE49-F238E27FC236}">
                <a16:creationId xmlns:a16="http://schemas.microsoft.com/office/drawing/2014/main" id="{192C583B-1067-A6CE-65C5-53A75F01E5DD}"/>
              </a:ext>
            </a:extLst>
          </p:cNvPr>
          <p:cNvSpPr>
            <a:spLocks noChangeArrowheads="1"/>
          </p:cNvSpPr>
          <p:nvPr/>
        </p:nvSpPr>
        <p:spPr bwMode="auto">
          <a:xfrm>
            <a:off x="6205331" y="3797790"/>
            <a:ext cx="276541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1000"/>
              <a:t>[1]ASHRAE, </a:t>
            </a:r>
            <a:r>
              <a:rPr lang="en-US" sz="1000" i="1"/>
              <a:t>Standard 55</a:t>
            </a:r>
            <a:r>
              <a:rPr lang="en-US" sz="1000"/>
              <a:t>; Watlow, </a:t>
            </a:r>
            <a:r>
              <a:rPr lang="en-US" sz="1000" i="1"/>
              <a:t>Best Safety Practices for High-Limit Sensors</a:t>
            </a:r>
            <a:r>
              <a:rPr lang="en-US" sz="1000"/>
              <a:t>; [2]E.ON, </a:t>
            </a:r>
            <a:r>
              <a:rPr lang="en-US" sz="1000" i="1"/>
              <a:t>Let’s Huddle Together</a:t>
            </a:r>
          </a:p>
          <a:p>
            <a:pPr lvl="0" eaLnBrk="0" fontAlgn="base" hangingPunct="0">
              <a:spcBef>
                <a:spcPct val="0"/>
              </a:spcBef>
              <a:spcAft>
                <a:spcPct val="0"/>
              </a:spcAft>
              <a:buClrTx/>
            </a:pPr>
            <a:r>
              <a:rPr lang="en-US" sz="1000"/>
              <a:t>[3] European Commission, </a:t>
            </a:r>
            <a:r>
              <a:rPr lang="en-US" sz="1000" i="1"/>
              <a:t>Temperature and Learning Impacts</a:t>
            </a:r>
          </a:p>
          <a:p>
            <a:pPr lvl="0" eaLnBrk="0" fontAlgn="base" hangingPunct="0">
              <a:spcBef>
                <a:spcPct val="0"/>
              </a:spcBef>
              <a:spcAft>
                <a:spcPct val="0"/>
              </a:spcAft>
              <a:buClrTx/>
            </a:pPr>
            <a:r>
              <a:rPr lang="en-US" sz="1000"/>
              <a:t>[4]Ontario Energy Board, </a:t>
            </a:r>
            <a:r>
              <a:rPr lang="en-US" sz="1000" i="1"/>
              <a:t>Electricity Rates</a:t>
            </a:r>
          </a:p>
          <a:p>
            <a:pPr lvl="0" eaLnBrk="0" fontAlgn="base" hangingPunct="0">
              <a:spcBef>
                <a:spcPct val="0"/>
              </a:spcBef>
              <a:spcAft>
                <a:spcPct val="0"/>
              </a:spcAft>
              <a:buClrTx/>
            </a:pPr>
            <a:endParaRPr lang="en-US" sz="1000" i="1"/>
          </a:p>
          <a:p>
            <a:pPr lvl="0" eaLnBrk="0" fontAlgn="base" hangingPunct="0">
              <a:spcBef>
                <a:spcPct val="0"/>
              </a:spcBef>
              <a:spcAft>
                <a:spcPct val="0"/>
              </a:spcAft>
              <a:buClrTx/>
            </a:pPr>
            <a:endParaRPr kumimoji="0" lang="en-US" altLang="en-US" sz="1000" b="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497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399233-DF1E-8847-975F-BBAA6ABDCFA0}"/>
              </a:ext>
            </a:extLst>
          </p:cNvPr>
          <p:cNvSpPr>
            <a:spLocks noGrp="1"/>
          </p:cNvSpPr>
          <p:nvPr>
            <p:ph type="title"/>
          </p:nvPr>
        </p:nvSpPr>
        <p:spPr/>
        <p:txBody>
          <a:bodyPr/>
          <a:lstStyle/>
          <a:p>
            <a:r>
              <a:rPr lang="en-CA"/>
              <a:t>Future Improvements and Considerations</a:t>
            </a:r>
          </a:p>
        </p:txBody>
      </p:sp>
      <p:sp>
        <p:nvSpPr>
          <p:cNvPr id="5" name="Text Placeholder 4">
            <a:extLst>
              <a:ext uri="{FF2B5EF4-FFF2-40B4-BE49-F238E27FC236}">
                <a16:creationId xmlns:a16="http://schemas.microsoft.com/office/drawing/2014/main" id="{A154DD8E-1045-8FC5-01DF-665750C16E77}"/>
              </a:ext>
            </a:extLst>
          </p:cNvPr>
          <p:cNvSpPr>
            <a:spLocks noGrp="1"/>
          </p:cNvSpPr>
          <p:nvPr>
            <p:ph type="body" idx="1"/>
          </p:nvPr>
        </p:nvSpPr>
        <p:spPr>
          <a:xfrm>
            <a:off x="646848" y="663722"/>
            <a:ext cx="3203607" cy="2121346"/>
          </a:xfrm>
        </p:spPr>
        <p:txBody>
          <a:bodyPr/>
          <a:lstStyle/>
          <a:p>
            <a:pPr>
              <a:buFont typeface="Arial"/>
              <a:buChar char="•"/>
            </a:pPr>
            <a:r>
              <a:rPr lang="en-CA" sz="1300">
                <a:solidFill>
                  <a:schemeClr val="tx1"/>
                </a:solidFill>
              </a:rPr>
              <a:t>Further tuning to dampen undershoot and reduce strain</a:t>
            </a:r>
            <a:endParaRPr lang="en-US">
              <a:solidFill>
                <a:schemeClr val="tx1"/>
              </a:solidFill>
            </a:endParaRPr>
          </a:p>
          <a:p>
            <a:pPr>
              <a:buFont typeface="Arial"/>
              <a:buChar char="•"/>
            </a:pPr>
            <a:endParaRPr lang="en-CA" sz="1300">
              <a:solidFill>
                <a:schemeClr val="tx1"/>
              </a:solidFill>
            </a:endParaRPr>
          </a:p>
          <a:p>
            <a:pPr>
              <a:buFont typeface="Arial"/>
              <a:buChar char="•"/>
            </a:pPr>
            <a:r>
              <a:rPr lang="en-CA" sz="1300">
                <a:solidFill>
                  <a:schemeClr val="tx1"/>
                </a:solidFill>
              </a:rPr>
              <a:t>Better performing controller design such as predictive control models [1]</a:t>
            </a:r>
          </a:p>
          <a:p>
            <a:pPr>
              <a:buFont typeface="Arial"/>
              <a:buChar char="•"/>
            </a:pPr>
            <a:endParaRPr lang="en-CA" sz="1300">
              <a:solidFill>
                <a:schemeClr val="tx1"/>
              </a:solidFill>
            </a:endParaRPr>
          </a:p>
          <a:p>
            <a:pPr>
              <a:buFont typeface="Arial"/>
              <a:buChar char="•"/>
            </a:pPr>
            <a:r>
              <a:rPr lang="en-CA" sz="1300">
                <a:solidFill>
                  <a:schemeClr val="tx1"/>
                </a:solidFill>
              </a:rPr>
              <a:t>Implementation of a “fuzzy control algorithm” to change PID variables in real time [2]</a:t>
            </a:r>
          </a:p>
          <a:p>
            <a:pPr>
              <a:buFont typeface="Arial"/>
              <a:buChar char="•"/>
            </a:pPr>
            <a:endParaRPr lang="en-CA" sz="1300">
              <a:solidFill>
                <a:schemeClr val="tx1"/>
              </a:solidFill>
            </a:endParaRPr>
          </a:p>
        </p:txBody>
      </p:sp>
      <p:sp>
        <p:nvSpPr>
          <p:cNvPr id="7" name="TextBox 6">
            <a:extLst>
              <a:ext uri="{FF2B5EF4-FFF2-40B4-BE49-F238E27FC236}">
                <a16:creationId xmlns:a16="http://schemas.microsoft.com/office/drawing/2014/main" id="{29A9328F-9256-B40B-5AB8-02CF403E5B30}"/>
              </a:ext>
            </a:extLst>
          </p:cNvPr>
          <p:cNvSpPr txBox="1"/>
          <p:nvPr/>
        </p:nvSpPr>
        <p:spPr>
          <a:xfrm>
            <a:off x="281343" y="3703545"/>
            <a:ext cx="4987296" cy="1107996"/>
          </a:xfrm>
          <a:prstGeom prst="rect">
            <a:avLst/>
          </a:prstGeom>
          <a:noFill/>
        </p:spPr>
        <p:txBody>
          <a:bodyPr wrap="square" rtlCol="0">
            <a:spAutoFit/>
          </a:bodyPr>
          <a:lstStyle/>
          <a:p>
            <a:r>
              <a:rPr lang="en-US" sz="1100">
                <a:latin typeface="Montserrat Medium" panose="00000600000000000000" pitchFamily="2" charset="0"/>
              </a:rPr>
              <a:t>[1] Kennel, Ralph &amp; Linder, A. &amp; Linke, Marco. (2001). Generalized Predictive Control (GPC) - Ready for use in drive applications?. 4. 1839 - 1844 vol. 4. 10.1109/PESC.2001.954389. </a:t>
            </a:r>
          </a:p>
          <a:p>
            <a:r>
              <a:rPr lang="en-US" sz="1100">
                <a:latin typeface="Montserrat Medium" panose="00000600000000000000" pitchFamily="2" charset="0"/>
              </a:rPr>
              <a:t>[2]</a:t>
            </a:r>
            <a:r>
              <a:rPr lang="en-CA" sz="1100">
                <a:latin typeface="Montserrat Medium" panose="00000600000000000000" pitchFamily="2" charset="0"/>
              </a:rPr>
              <a:t> Bu, W.; Guo, S.; Fan, Z.; Li, J. (2025) Improved Adaptive PI-like Fuzzy Control Strategy of Permanent Magnet Synchronous Motor. </a:t>
            </a:r>
            <a:r>
              <a:rPr lang="en-CA" sz="1100" i="1">
                <a:latin typeface="Montserrat Medium" panose="00000600000000000000" pitchFamily="2" charset="0"/>
              </a:rPr>
              <a:t>Energies</a:t>
            </a:r>
            <a:r>
              <a:rPr lang="en-CA" sz="1100">
                <a:latin typeface="Montserrat Medium" panose="00000600000000000000" pitchFamily="2" charset="0"/>
              </a:rPr>
              <a:t> , </a:t>
            </a:r>
            <a:r>
              <a:rPr lang="en-CA" sz="1100" i="1">
                <a:latin typeface="Montserrat Medium" panose="00000600000000000000" pitchFamily="2" charset="0"/>
              </a:rPr>
              <a:t>18</a:t>
            </a:r>
            <a:r>
              <a:rPr lang="en-CA" sz="1100">
                <a:latin typeface="Montserrat Medium" panose="00000600000000000000" pitchFamily="2" charset="0"/>
              </a:rPr>
              <a:t>, 362.</a:t>
            </a:r>
          </a:p>
        </p:txBody>
      </p:sp>
      <p:pic>
        <p:nvPicPr>
          <p:cNvPr id="9" name="Picture 8">
            <a:extLst>
              <a:ext uri="{FF2B5EF4-FFF2-40B4-BE49-F238E27FC236}">
                <a16:creationId xmlns:a16="http://schemas.microsoft.com/office/drawing/2014/main" id="{48DCF5D7-E923-C8E4-6AC9-504017163227}"/>
              </a:ext>
            </a:extLst>
          </p:cNvPr>
          <p:cNvPicPr>
            <a:picLocks noChangeAspect="1"/>
          </p:cNvPicPr>
          <p:nvPr/>
        </p:nvPicPr>
        <p:blipFill>
          <a:blip r:embed="rId2"/>
          <a:stretch>
            <a:fillRect/>
          </a:stretch>
        </p:blipFill>
        <p:spPr>
          <a:xfrm>
            <a:off x="6300000" y="3060853"/>
            <a:ext cx="1571381" cy="1710288"/>
          </a:xfrm>
          <a:prstGeom prst="rect">
            <a:avLst/>
          </a:prstGeom>
          <a:ln>
            <a:solidFill>
              <a:schemeClr val="accent4"/>
            </a:solidFill>
          </a:ln>
        </p:spPr>
      </p:pic>
    </p:spTree>
    <p:extLst>
      <p:ext uri="{BB962C8B-B14F-4D97-AF65-F5344CB8AC3E}">
        <p14:creationId xmlns:p14="http://schemas.microsoft.com/office/powerpoint/2010/main" val="3424217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90;p45">
            <a:extLst>
              <a:ext uri="{FF2B5EF4-FFF2-40B4-BE49-F238E27FC236}">
                <a16:creationId xmlns:a16="http://schemas.microsoft.com/office/drawing/2014/main" id="{269EF8DE-16C8-E2D7-7616-F13D989601D5}"/>
              </a:ext>
            </a:extLst>
          </p:cNvPr>
          <p:cNvSpPr txBox="1">
            <a:spLocks/>
          </p:cNvSpPr>
          <p:nvPr/>
        </p:nvSpPr>
        <p:spPr>
          <a:xfrm>
            <a:off x="-455657" y="1217250"/>
            <a:ext cx="7704000" cy="27090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4"/>
              </a:buClr>
              <a:buSzPts val="3500"/>
              <a:buFont typeface="Work Sans Black"/>
              <a:buNone/>
              <a:defRPr sz="3500" b="0" i="0" u="none" strike="noStrike" cap="none">
                <a:solidFill>
                  <a:schemeClr val="accent4"/>
                </a:solidFill>
                <a:latin typeface="Work Sans Black"/>
                <a:ea typeface="Work Sans Black"/>
                <a:cs typeface="Work Sans Black"/>
                <a:sym typeface="Work Sans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spcAft>
                <a:spcPts val="600"/>
              </a:spcAft>
              <a:buSzPts val="8200"/>
            </a:pPr>
            <a:r>
              <a:rPr lang="en-US" sz="8200" b="0" i="0" u="none" strike="noStrike" cap="none">
                <a:latin typeface="Work Sans Black"/>
                <a:ea typeface="Work Sans Black"/>
                <a:cs typeface="Work Sans Black"/>
                <a:sym typeface="Work Sans Black"/>
              </a:rPr>
              <a:t>Thanks!</a:t>
            </a:r>
          </a:p>
        </p:txBody>
      </p:sp>
      <p:grpSp>
        <p:nvGrpSpPr>
          <p:cNvPr id="6" name="Google Shape;913;p45">
            <a:extLst>
              <a:ext uri="{FF2B5EF4-FFF2-40B4-BE49-F238E27FC236}">
                <a16:creationId xmlns:a16="http://schemas.microsoft.com/office/drawing/2014/main" id="{EC2B2434-262C-678D-D2D6-4DB6ECBA5D23}"/>
              </a:ext>
            </a:extLst>
          </p:cNvPr>
          <p:cNvGrpSpPr/>
          <p:nvPr/>
        </p:nvGrpSpPr>
        <p:grpSpPr>
          <a:xfrm>
            <a:off x="6185770" y="433047"/>
            <a:ext cx="2649814" cy="1392272"/>
            <a:chOff x="6185770" y="433047"/>
            <a:chExt cx="2649814" cy="1392272"/>
          </a:xfrm>
        </p:grpSpPr>
        <p:sp>
          <p:nvSpPr>
            <p:cNvPr id="7" name="Google Shape;914;p45">
              <a:extLst>
                <a:ext uri="{FF2B5EF4-FFF2-40B4-BE49-F238E27FC236}">
                  <a16:creationId xmlns:a16="http://schemas.microsoft.com/office/drawing/2014/main" id="{45B98B4C-5C14-D8A6-6604-D9F8182FA7ED}"/>
                </a:ext>
              </a:extLst>
            </p:cNvPr>
            <p:cNvSpPr/>
            <p:nvPr/>
          </p:nvSpPr>
          <p:spPr>
            <a:xfrm>
              <a:off x="6448862" y="436109"/>
              <a:ext cx="2386722" cy="1375689"/>
            </a:xfrm>
            <a:custGeom>
              <a:avLst/>
              <a:gdLst/>
              <a:ahLst/>
              <a:cxnLst/>
              <a:rect l="l" t="t" r="r" b="b"/>
              <a:pathLst>
                <a:path w="9353" h="5391" extrusionOk="0">
                  <a:moveTo>
                    <a:pt x="118" y="1"/>
                  </a:moveTo>
                  <a:cubicBezTo>
                    <a:pt x="53" y="1"/>
                    <a:pt x="1" y="54"/>
                    <a:pt x="1" y="119"/>
                  </a:cubicBezTo>
                  <a:lnTo>
                    <a:pt x="1" y="5273"/>
                  </a:lnTo>
                  <a:cubicBezTo>
                    <a:pt x="1" y="5338"/>
                    <a:pt x="53" y="5390"/>
                    <a:pt x="118" y="5390"/>
                  </a:cubicBezTo>
                  <a:lnTo>
                    <a:pt x="9234" y="5390"/>
                  </a:lnTo>
                  <a:cubicBezTo>
                    <a:pt x="9298" y="5390"/>
                    <a:pt x="9352" y="5338"/>
                    <a:pt x="9352" y="5273"/>
                  </a:cubicBezTo>
                  <a:lnTo>
                    <a:pt x="9352" y="119"/>
                  </a:lnTo>
                  <a:cubicBezTo>
                    <a:pt x="9352" y="54"/>
                    <a:pt x="9298" y="2"/>
                    <a:pt x="92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15;p45">
              <a:extLst>
                <a:ext uri="{FF2B5EF4-FFF2-40B4-BE49-F238E27FC236}">
                  <a16:creationId xmlns:a16="http://schemas.microsoft.com/office/drawing/2014/main" id="{2CF67EFF-DCF0-C954-8BCB-B3832823A71F}"/>
                </a:ext>
              </a:extLst>
            </p:cNvPr>
            <p:cNvSpPr/>
            <p:nvPr/>
          </p:nvSpPr>
          <p:spPr>
            <a:xfrm>
              <a:off x="6185770" y="433047"/>
              <a:ext cx="2053709" cy="1375434"/>
            </a:xfrm>
            <a:custGeom>
              <a:avLst/>
              <a:gdLst/>
              <a:ahLst/>
              <a:cxnLst/>
              <a:rect l="l" t="t" r="r" b="b"/>
              <a:pathLst>
                <a:path w="8048" h="5390" extrusionOk="0">
                  <a:moveTo>
                    <a:pt x="118" y="1"/>
                  </a:moveTo>
                  <a:cubicBezTo>
                    <a:pt x="54" y="1"/>
                    <a:pt x="0" y="53"/>
                    <a:pt x="0" y="117"/>
                  </a:cubicBezTo>
                  <a:lnTo>
                    <a:pt x="0" y="5272"/>
                  </a:lnTo>
                  <a:cubicBezTo>
                    <a:pt x="0" y="5336"/>
                    <a:pt x="54" y="5390"/>
                    <a:pt x="118" y="5390"/>
                  </a:cubicBezTo>
                  <a:lnTo>
                    <a:pt x="7930" y="5390"/>
                  </a:lnTo>
                  <a:cubicBezTo>
                    <a:pt x="7994" y="5390"/>
                    <a:pt x="8048" y="5336"/>
                    <a:pt x="8048" y="5272"/>
                  </a:cubicBezTo>
                  <a:lnTo>
                    <a:pt x="8048" y="117"/>
                  </a:lnTo>
                  <a:cubicBezTo>
                    <a:pt x="8048" y="53"/>
                    <a:pt x="7996" y="1"/>
                    <a:pt x="79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16;p45">
              <a:extLst>
                <a:ext uri="{FF2B5EF4-FFF2-40B4-BE49-F238E27FC236}">
                  <a16:creationId xmlns:a16="http://schemas.microsoft.com/office/drawing/2014/main" id="{91102483-5D2E-5DC4-5D93-9B4E7EA19996}"/>
                </a:ext>
              </a:extLst>
            </p:cNvPr>
            <p:cNvSpPr/>
            <p:nvPr/>
          </p:nvSpPr>
          <p:spPr>
            <a:xfrm>
              <a:off x="6274828" y="676490"/>
              <a:ext cx="1047779" cy="1048035"/>
            </a:xfrm>
            <a:custGeom>
              <a:avLst/>
              <a:gdLst/>
              <a:ahLst/>
              <a:cxnLst/>
              <a:rect l="l" t="t" r="r" b="b"/>
              <a:pathLst>
                <a:path w="4106" h="4107" extrusionOk="0">
                  <a:moveTo>
                    <a:pt x="3939" y="29"/>
                  </a:moveTo>
                  <a:cubicBezTo>
                    <a:pt x="4014" y="29"/>
                    <a:pt x="4076" y="90"/>
                    <a:pt x="4076" y="166"/>
                  </a:cubicBezTo>
                  <a:lnTo>
                    <a:pt x="4076" y="3938"/>
                  </a:lnTo>
                  <a:cubicBezTo>
                    <a:pt x="4076" y="4013"/>
                    <a:pt x="4015" y="4075"/>
                    <a:pt x="3939" y="4075"/>
                  </a:cubicBezTo>
                  <a:lnTo>
                    <a:pt x="167" y="4075"/>
                  </a:lnTo>
                  <a:cubicBezTo>
                    <a:pt x="92" y="4075"/>
                    <a:pt x="30" y="4014"/>
                    <a:pt x="30" y="3938"/>
                  </a:cubicBezTo>
                  <a:lnTo>
                    <a:pt x="30" y="166"/>
                  </a:lnTo>
                  <a:cubicBezTo>
                    <a:pt x="30" y="91"/>
                    <a:pt x="90" y="29"/>
                    <a:pt x="167" y="29"/>
                  </a:cubicBezTo>
                  <a:close/>
                  <a:moveTo>
                    <a:pt x="167" y="0"/>
                  </a:moveTo>
                  <a:cubicBezTo>
                    <a:pt x="75" y="0"/>
                    <a:pt x="0" y="76"/>
                    <a:pt x="0" y="168"/>
                  </a:cubicBezTo>
                  <a:lnTo>
                    <a:pt x="0" y="3940"/>
                  </a:lnTo>
                  <a:cubicBezTo>
                    <a:pt x="0" y="4031"/>
                    <a:pt x="75" y="4106"/>
                    <a:pt x="167" y="4106"/>
                  </a:cubicBezTo>
                  <a:lnTo>
                    <a:pt x="3939" y="4106"/>
                  </a:lnTo>
                  <a:cubicBezTo>
                    <a:pt x="4031" y="4106"/>
                    <a:pt x="4105" y="4031"/>
                    <a:pt x="4105" y="3940"/>
                  </a:cubicBezTo>
                  <a:lnTo>
                    <a:pt x="4105" y="168"/>
                  </a:lnTo>
                  <a:cubicBezTo>
                    <a:pt x="4105" y="76"/>
                    <a:pt x="4031" y="0"/>
                    <a:pt x="39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17;p45">
              <a:extLst>
                <a:ext uri="{FF2B5EF4-FFF2-40B4-BE49-F238E27FC236}">
                  <a16:creationId xmlns:a16="http://schemas.microsoft.com/office/drawing/2014/main" id="{44DB83E9-81EA-F306-F13C-1904F430DCC9}"/>
                </a:ext>
              </a:extLst>
            </p:cNvPr>
            <p:cNvSpPr/>
            <p:nvPr/>
          </p:nvSpPr>
          <p:spPr>
            <a:xfrm>
              <a:off x="6293456" y="695373"/>
              <a:ext cx="1010268" cy="1010268"/>
            </a:xfrm>
            <a:custGeom>
              <a:avLst/>
              <a:gdLst/>
              <a:ahLst/>
              <a:cxnLst/>
              <a:rect l="l" t="t" r="r" b="b"/>
              <a:pathLst>
                <a:path w="3959" h="3959" extrusionOk="0">
                  <a:moveTo>
                    <a:pt x="94" y="1"/>
                  </a:moveTo>
                  <a:cubicBezTo>
                    <a:pt x="42" y="1"/>
                    <a:pt x="1" y="42"/>
                    <a:pt x="1" y="94"/>
                  </a:cubicBezTo>
                  <a:lnTo>
                    <a:pt x="1" y="3866"/>
                  </a:lnTo>
                  <a:cubicBezTo>
                    <a:pt x="1" y="3918"/>
                    <a:pt x="42" y="3959"/>
                    <a:pt x="94" y="3959"/>
                  </a:cubicBezTo>
                  <a:lnTo>
                    <a:pt x="3866" y="3959"/>
                  </a:lnTo>
                  <a:cubicBezTo>
                    <a:pt x="3918" y="3959"/>
                    <a:pt x="3959" y="3918"/>
                    <a:pt x="3959" y="3866"/>
                  </a:cubicBezTo>
                  <a:lnTo>
                    <a:pt x="3959" y="94"/>
                  </a:lnTo>
                  <a:cubicBezTo>
                    <a:pt x="3959" y="42"/>
                    <a:pt x="3918" y="1"/>
                    <a:pt x="38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18;p45">
              <a:extLst>
                <a:ext uri="{FF2B5EF4-FFF2-40B4-BE49-F238E27FC236}">
                  <a16:creationId xmlns:a16="http://schemas.microsoft.com/office/drawing/2014/main" id="{40768096-814A-0CA4-C6D0-41D0C54A8927}"/>
                </a:ext>
              </a:extLst>
            </p:cNvPr>
            <p:cNvSpPr/>
            <p:nvPr/>
          </p:nvSpPr>
          <p:spPr>
            <a:xfrm>
              <a:off x="6300856" y="702263"/>
              <a:ext cx="995722" cy="995722"/>
            </a:xfrm>
            <a:custGeom>
              <a:avLst/>
              <a:gdLst/>
              <a:ahLst/>
              <a:cxnLst/>
              <a:rect l="l" t="t" r="r" b="b"/>
              <a:pathLst>
                <a:path w="3902" h="3902" extrusionOk="0">
                  <a:moveTo>
                    <a:pt x="65" y="1"/>
                  </a:moveTo>
                  <a:cubicBezTo>
                    <a:pt x="29" y="1"/>
                    <a:pt x="1" y="31"/>
                    <a:pt x="1" y="65"/>
                  </a:cubicBezTo>
                  <a:lnTo>
                    <a:pt x="1" y="3837"/>
                  </a:lnTo>
                  <a:cubicBezTo>
                    <a:pt x="1" y="3873"/>
                    <a:pt x="30" y="3902"/>
                    <a:pt x="65" y="3902"/>
                  </a:cubicBezTo>
                  <a:lnTo>
                    <a:pt x="3837" y="3902"/>
                  </a:lnTo>
                  <a:cubicBezTo>
                    <a:pt x="3872" y="3902"/>
                    <a:pt x="3902" y="3873"/>
                    <a:pt x="3902" y="3837"/>
                  </a:cubicBezTo>
                  <a:lnTo>
                    <a:pt x="3902" y="65"/>
                  </a:lnTo>
                  <a:cubicBezTo>
                    <a:pt x="3902" y="29"/>
                    <a:pt x="3872" y="1"/>
                    <a:pt x="38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19;p45">
              <a:extLst>
                <a:ext uri="{FF2B5EF4-FFF2-40B4-BE49-F238E27FC236}">
                  <a16:creationId xmlns:a16="http://schemas.microsoft.com/office/drawing/2014/main" id="{6919D6C4-6CE3-D664-C4FA-26E3EED7A1CC}"/>
                </a:ext>
              </a:extLst>
            </p:cNvPr>
            <p:cNvSpPr/>
            <p:nvPr/>
          </p:nvSpPr>
          <p:spPr>
            <a:xfrm>
              <a:off x="6349851" y="751258"/>
              <a:ext cx="897477" cy="897477"/>
            </a:xfrm>
            <a:custGeom>
              <a:avLst/>
              <a:gdLst/>
              <a:ahLst/>
              <a:cxnLst/>
              <a:rect l="l" t="t" r="r" b="b"/>
              <a:pathLst>
                <a:path w="3517" h="3517" extrusionOk="0">
                  <a:moveTo>
                    <a:pt x="1759" y="1"/>
                  </a:moveTo>
                  <a:cubicBezTo>
                    <a:pt x="787" y="1"/>
                    <a:pt x="1" y="788"/>
                    <a:pt x="1" y="1759"/>
                  </a:cubicBezTo>
                  <a:cubicBezTo>
                    <a:pt x="1" y="2730"/>
                    <a:pt x="787" y="3517"/>
                    <a:pt x="1759" y="3517"/>
                  </a:cubicBezTo>
                  <a:cubicBezTo>
                    <a:pt x="2730" y="3517"/>
                    <a:pt x="3517" y="2730"/>
                    <a:pt x="3517" y="1759"/>
                  </a:cubicBezTo>
                  <a:cubicBezTo>
                    <a:pt x="3517" y="788"/>
                    <a:pt x="2730" y="1"/>
                    <a:pt x="17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20;p45">
              <a:extLst>
                <a:ext uri="{FF2B5EF4-FFF2-40B4-BE49-F238E27FC236}">
                  <a16:creationId xmlns:a16="http://schemas.microsoft.com/office/drawing/2014/main" id="{21523378-D8BC-8FC1-F04E-B89573218FB8}"/>
                </a:ext>
              </a:extLst>
            </p:cNvPr>
            <p:cNvSpPr/>
            <p:nvPr/>
          </p:nvSpPr>
          <p:spPr>
            <a:xfrm>
              <a:off x="6383025" y="784432"/>
              <a:ext cx="831385" cy="831385"/>
            </a:xfrm>
            <a:custGeom>
              <a:avLst/>
              <a:gdLst/>
              <a:ahLst/>
              <a:cxnLst/>
              <a:rect l="l" t="t" r="r" b="b"/>
              <a:pathLst>
                <a:path w="3258" h="3258" extrusionOk="0">
                  <a:moveTo>
                    <a:pt x="1629" y="0"/>
                  </a:moveTo>
                  <a:cubicBezTo>
                    <a:pt x="729" y="0"/>
                    <a:pt x="0" y="730"/>
                    <a:pt x="0" y="1629"/>
                  </a:cubicBezTo>
                  <a:cubicBezTo>
                    <a:pt x="0" y="2529"/>
                    <a:pt x="729" y="3257"/>
                    <a:pt x="1629" y="3257"/>
                  </a:cubicBezTo>
                  <a:cubicBezTo>
                    <a:pt x="2529" y="3257"/>
                    <a:pt x="3258" y="2529"/>
                    <a:pt x="3258" y="1629"/>
                  </a:cubicBezTo>
                  <a:cubicBezTo>
                    <a:pt x="3258" y="730"/>
                    <a:pt x="2529" y="0"/>
                    <a:pt x="16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21;p45">
              <a:extLst>
                <a:ext uri="{FF2B5EF4-FFF2-40B4-BE49-F238E27FC236}">
                  <a16:creationId xmlns:a16="http://schemas.microsoft.com/office/drawing/2014/main" id="{7D290136-FF0C-32C1-555A-3D6B63D77F11}"/>
                </a:ext>
              </a:extLst>
            </p:cNvPr>
            <p:cNvSpPr/>
            <p:nvPr/>
          </p:nvSpPr>
          <p:spPr>
            <a:xfrm>
              <a:off x="6570584" y="803826"/>
              <a:ext cx="412885" cy="373332"/>
            </a:xfrm>
            <a:custGeom>
              <a:avLst/>
              <a:gdLst/>
              <a:ahLst/>
              <a:cxnLst/>
              <a:rect l="l" t="t" r="r" b="b"/>
              <a:pathLst>
                <a:path w="1618" h="1463" extrusionOk="0">
                  <a:moveTo>
                    <a:pt x="900" y="1"/>
                  </a:moveTo>
                  <a:cubicBezTo>
                    <a:pt x="754" y="1"/>
                    <a:pt x="603" y="50"/>
                    <a:pt x="470" y="175"/>
                  </a:cubicBezTo>
                  <a:cubicBezTo>
                    <a:pt x="1" y="620"/>
                    <a:pt x="680" y="1463"/>
                    <a:pt x="680" y="1463"/>
                  </a:cubicBezTo>
                  <a:lnTo>
                    <a:pt x="1075" y="1463"/>
                  </a:lnTo>
                  <a:cubicBezTo>
                    <a:pt x="1016" y="844"/>
                    <a:pt x="1515" y="755"/>
                    <a:pt x="1575" y="499"/>
                  </a:cubicBezTo>
                  <a:cubicBezTo>
                    <a:pt x="1617" y="316"/>
                    <a:pt x="1272" y="1"/>
                    <a:pt x="9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22;p45">
              <a:extLst>
                <a:ext uri="{FF2B5EF4-FFF2-40B4-BE49-F238E27FC236}">
                  <a16:creationId xmlns:a16="http://schemas.microsoft.com/office/drawing/2014/main" id="{BB7E91E7-AF09-CAE1-9100-5EC3485844AB}"/>
                </a:ext>
              </a:extLst>
            </p:cNvPr>
            <p:cNvSpPr/>
            <p:nvPr/>
          </p:nvSpPr>
          <p:spPr>
            <a:xfrm>
              <a:off x="6390170" y="1171542"/>
              <a:ext cx="415947" cy="303922"/>
            </a:xfrm>
            <a:custGeom>
              <a:avLst/>
              <a:gdLst/>
              <a:ahLst/>
              <a:cxnLst/>
              <a:rect l="l" t="t" r="r" b="b"/>
              <a:pathLst>
                <a:path w="1630" h="1191" extrusionOk="0">
                  <a:moveTo>
                    <a:pt x="1431" y="0"/>
                  </a:moveTo>
                  <a:cubicBezTo>
                    <a:pt x="1266" y="119"/>
                    <a:pt x="1120" y="157"/>
                    <a:pt x="989" y="157"/>
                  </a:cubicBezTo>
                  <a:cubicBezTo>
                    <a:pt x="758" y="157"/>
                    <a:pt x="575" y="39"/>
                    <a:pt x="421" y="39"/>
                  </a:cubicBezTo>
                  <a:cubicBezTo>
                    <a:pt x="396" y="39"/>
                    <a:pt x="372" y="42"/>
                    <a:pt x="348" y="49"/>
                  </a:cubicBezTo>
                  <a:cubicBezTo>
                    <a:pt x="96" y="125"/>
                    <a:pt x="0" y="983"/>
                    <a:pt x="619" y="1168"/>
                  </a:cubicBezTo>
                  <a:cubicBezTo>
                    <a:pt x="671" y="1183"/>
                    <a:pt x="721" y="1190"/>
                    <a:pt x="769" y="1190"/>
                  </a:cubicBezTo>
                  <a:cubicBezTo>
                    <a:pt x="1301" y="1190"/>
                    <a:pt x="1630" y="343"/>
                    <a:pt x="1630" y="343"/>
                  </a:cubicBezTo>
                  <a:lnTo>
                    <a:pt x="14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23;p45">
              <a:extLst>
                <a:ext uri="{FF2B5EF4-FFF2-40B4-BE49-F238E27FC236}">
                  <a16:creationId xmlns:a16="http://schemas.microsoft.com/office/drawing/2014/main" id="{26E126C4-355B-554E-B66F-66347BEDDEC8}"/>
                </a:ext>
              </a:extLst>
            </p:cNvPr>
            <p:cNvSpPr/>
            <p:nvPr/>
          </p:nvSpPr>
          <p:spPr>
            <a:xfrm>
              <a:off x="6795654" y="1159294"/>
              <a:ext cx="393236" cy="338117"/>
            </a:xfrm>
            <a:custGeom>
              <a:avLst/>
              <a:gdLst/>
              <a:ahLst/>
              <a:cxnLst/>
              <a:rect l="l" t="t" r="r" b="b"/>
              <a:pathLst>
                <a:path w="1541" h="1325" extrusionOk="0">
                  <a:moveTo>
                    <a:pt x="498" y="1"/>
                  </a:moveTo>
                  <a:cubicBezTo>
                    <a:pt x="325" y="1"/>
                    <a:pt x="198" y="20"/>
                    <a:pt x="198" y="20"/>
                  </a:cubicBezTo>
                  <a:lnTo>
                    <a:pt x="0" y="363"/>
                  </a:lnTo>
                  <a:cubicBezTo>
                    <a:pt x="565" y="620"/>
                    <a:pt x="393" y="1098"/>
                    <a:pt x="584" y="1278"/>
                  </a:cubicBezTo>
                  <a:cubicBezTo>
                    <a:pt x="619" y="1310"/>
                    <a:pt x="672" y="1325"/>
                    <a:pt x="735" y="1325"/>
                  </a:cubicBezTo>
                  <a:cubicBezTo>
                    <a:pt x="1028" y="1325"/>
                    <a:pt x="1541" y="999"/>
                    <a:pt x="1417" y="483"/>
                  </a:cubicBezTo>
                  <a:cubicBezTo>
                    <a:pt x="1319" y="72"/>
                    <a:pt x="826" y="1"/>
                    <a:pt x="4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24;p45">
              <a:extLst>
                <a:ext uri="{FF2B5EF4-FFF2-40B4-BE49-F238E27FC236}">
                  <a16:creationId xmlns:a16="http://schemas.microsoft.com/office/drawing/2014/main" id="{ECD96C2F-8E4F-A5DF-FE16-DDE86E6C1E40}"/>
                </a:ext>
              </a:extLst>
            </p:cNvPr>
            <p:cNvSpPr/>
            <p:nvPr/>
          </p:nvSpPr>
          <p:spPr>
            <a:xfrm>
              <a:off x="6334796" y="736202"/>
              <a:ext cx="30367" cy="30622"/>
            </a:xfrm>
            <a:custGeom>
              <a:avLst/>
              <a:gdLst/>
              <a:ahLst/>
              <a:cxnLst/>
              <a:rect l="l" t="t" r="r" b="b"/>
              <a:pathLst>
                <a:path w="119" h="120" extrusionOk="0">
                  <a:moveTo>
                    <a:pt x="60" y="1"/>
                  </a:moveTo>
                  <a:cubicBezTo>
                    <a:pt x="28" y="1"/>
                    <a:pt x="0" y="28"/>
                    <a:pt x="0" y="60"/>
                  </a:cubicBezTo>
                  <a:cubicBezTo>
                    <a:pt x="0" y="92"/>
                    <a:pt x="26" y="120"/>
                    <a:pt x="60" y="120"/>
                  </a:cubicBezTo>
                  <a:cubicBezTo>
                    <a:pt x="92" y="120"/>
                    <a:pt x="119" y="94"/>
                    <a:pt x="119" y="60"/>
                  </a:cubicBezTo>
                  <a:cubicBezTo>
                    <a:pt x="119" y="27"/>
                    <a:pt x="92" y="1"/>
                    <a:pt x="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25;p45">
              <a:extLst>
                <a:ext uri="{FF2B5EF4-FFF2-40B4-BE49-F238E27FC236}">
                  <a16:creationId xmlns:a16="http://schemas.microsoft.com/office/drawing/2014/main" id="{5F656770-A55F-7D4A-D0B6-E6DEA65F47CA}"/>
                </a:ext>
              </a:extLst>
            </p:cNvPr>
            <p:cNvSpPr/>
            <p:nvPr/>
          </p:nvSpPr>
          <p:spPr>
            <a:xfrm>
              <a:off x="7232270" y="736202"/>
              <a:ext cx="30622" cy="30622"/>
            </a:xfrm>
            <a:custGeom>
              <a:avLst/>
              <a:gdLst/>
              <a:ahLst/>
              <a:cxnLst/>
              <a:rect l="l" t="t" r="r" b="b"/>
              <a:pathLst>
                <a:path w="120" h="120" extrusionOk="0">
                  <a:moveTo>
                    <a:pt x="60" y="1"/>
                  </a:moveTo>
                  <a:cubicBezTo>
                    <a:pt x="28" y="1"/>
                    <a:pt x="1" y="28"/>
                    <a:pt x="1" y="60"/>
                  </a:cubicBezTo>
                  <a:cubicBezTo>
                    <a:pt x="1" y="92"/>
                    <a:pt x="28" y="120"/>
                    <a:pt x="60" y="120"/>
                  </a:cubicBezTo>
                  <a:cubicBezTo>
                    <a:pt x="93" y="120"/>
                    <a:pt x="120" y="94"/>
                    <a:pt x="120" y="60"/>
                  </a:cubicBezTo>
                  <a:cubicBezTo>
                    <a:pt x="120" y="27"/>
                    <a:pt x="93" y="1"/>
                    <a:pt x="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26;p45">
              <a:extLst>
                <a:ext uri="{FF2B5EF4-FFF2-40B4-BE49-F238E27FC236}">
                  <a16:creationId xmlns:a16="http://schemas.microsoft.com/office/drawing/2014/main" id="{A660901C-B8FE-DC6D-E83F-058108ACE8E5}"/>
                </a:ext>
              </a:extLst>
            </p:cNvPr>
            <p:cNvSpPr/>
            <p:nvPr/>
          </p:nvSpPr>
          <p:spPr>
            <a:xfrm>
              <a:off x="6334540" y="1633677"/>
              <a:ext cx="30367" cy="30622"/>
            </a:xfrm>
            <a:custGeom>
              <a:avLst/>
              <a:gdLst/>
              <a:ahLst/>
              <a:cxnLst/>
              <a:rect l="l" t="t" r="r" b="b"/>
              <a:pathLst>
                <a:path w="119" h="120" extrusionOk="0">
                  <a:moveTo>
                    <a:pt x="59" y="1"/>
                  </a:moveTo>
                  <a:cubicBezTo>
                    <a:pt x="27" y="1"/>
                    <a:pt x="0" y="28"/>
                    <a:pt x="0" y="61"/>
                  </a:cubicBezTo>
                  <a:cubicBezTo>
                    <a:pt x="0" y="94"/>
                    <a:pt x="27" y="120"/>
                    <a:pt x="59" y="120"/>
                  </a:cubicBezTo>
                  <a:cubicBezTo>
                    <a:pt x="92" y="120"/>
                    <a:pt x="119" y="94"/>
                    <a:pt x="119" y="61"/>
                  </a:cubicBezTo>
                  <a:cubicBezTo>
                    <a:pt x="119" y="28"/>
                    <a:pt x="92" y="1"/>
                    <a:pt x="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7;p45">
              <a:extLst>
                <a:ext uri="{FF2B5EF4-FFF2-40B4-BE49-F238E27FC236}">
                  <a16:creationId xmlns:a16="http://schemas.microsoft.com/office/drawing/2014/main" id="{4EFC59F8-4268-7591-D347-E916BD4343DC}"/>
                </a:ext>
              </a:extLst>
            </p:cNvPr>
            <p:cNvSpPr/>
            <p:nvPr/>
          </p:nvSpPr>
          <p:spPr>
            <a:xfrm>
              <a:off x="7232270" y="1633677"/>
              <a:ext cx="30622" cy="30622"/>
            </a:xfrm>
            <a:custGeom>
              <a:avLst/>
              <a:gdLst/>
              <a:ahLst/>
              <a:cxnLst/>
              <a:rect l="l" t="t" r="r" b="b"/>
              <a:pathLst>
                <a:path w="120" h="120" extrusionOk="0">
                  <a:moveTo>
                    <a:pt x="60" y="1"/>
                  </a:moveTo>
                  <a:cubicBezTo>
                    <a:pt x="28" y="1"/>
                    <a:pt x="1" y="27"/>
                    <a:pt x="1" y="61"/>
                  </a:cubicBezTo>
                  <a:cubicBezTo>
                    <a:pt x="1" y="93"/>
                    <a:pt x="28" y="120"/>
                    <a:pt x="60" y="120"/>
                  </a:cubicBezTo>
                  <a:cubicBezTo>
                    <a:pt x="93" y="120"/>
                    <a:pt x="120" y="94"/>
                    <a:pt x="120" y="61"/>
                  </a:cubicBezTo>
                  <a:cubicBezTo>
                    <a:pt x="120" y="27"/>
                    <a:pt x="93" y="1"/>
                    <a:pt x="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28;p45">
              <a:extLst>
                <a:ext uri="{FF2B5EF4-FFF2-40B4-BE49-F238E27FC236}">
                  <a16:creationId xmlns:a16="http://schemas.microsoft.com/office/drawing/2014/main" id="{CF5FA87F-F624-0137-B963-AE15A9555F31}"/>
                </a:ext>
              </a:extLst>
            </p:cNvPr>
            <p:cNvSpPr/>
            <p:nvPr/>
          </p:nvSpPr>
          <p:spPr>
            <a:xfrm>
              <a:off x="7419828" y="676490"/>
              <a:ext cx="671385" cy="232726"/>
            </a:xfrm>
            <a:custGeom>
              <a:avLst/>
              <a:gdLst/>
              <a:ahLst/>
              <a:cxnLst/>
              <a:rect l="l" t="t" r="r" b="b"/>
              <a:pathLst>
                <a:path w="2631" h="912" extrusionOk="0">
                  <a:moveTo>
                    <a:pt x="103" y="0"/>
                  </a:moveTo>
                  <a:cubicBezTo>
                    <a:pt x="46" y="0"/>
                    <a:pt x="1" y="46"/>
                    <a:pt x="1" y="103"/>
                  </a:cubicBezTo>
                  <a:lnTo>
                    <a:pt x="1" y="810"/>
                  </a:lnTo>
                  <a:cubicBezTo>
                    <a:pt x="1" y="866"/>
                    <a:pt x="46" y="912"/>
                    <a:pt x="103" y="912"/>
                  </a:cubicBezTo>
                  <a:lnTo>
                    <a:pt x="2529" y="912"/>
                  </a:lnTo>
                  <a:cubicBezTo>
                    <a:pt x="2584" y="912"/>
                    <a:pt x="2631" y="865"/>
                    <a:pt x="2631" y="810"/>
                  </a:cubicBezTo>
                  <a:lnTo>
                    <a:pt x="2631" y="103"/>
                  </a:lnTo>
                  <a:cubicBezTo>
                    <a:pt x="2631" y="46"/>
                    <a:pt x="2586" y="0"/>
                    <a:pt x="25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29;p45">
              <a:extLst>
                <a:ext uri="{FF2B5EF4-FFF2-40B4-BE49-F238E27FC236}">
                  <a16:creationId xmlns:a16="http://schemas.microsoft.com/office/drawing/2014/main" id="{50A34B11-8F8A-CEA7-BD2D-CC25435FFC54}"/>
                </a:ext>
              </a:extLst>
            </p:cNvPr>
            <p:cNvSpPr/>
            <p:nvPr/>
          </p:nvSpPr>
          <p:spPr>
            <a:xfrm>
              <a:off x="7428760" y="685421"/>
              <a:ext cx="653778" cy="214864"/>
            </a:xfrm>
            <a:custGeom>
              <a:avLst/>
              <a:gdLst/>
              <a:ahLst/>
              <a:cxnLst/>
              <a:rect l="l" t="t" r="r" b="b"/>
              <a:pathLst>
                <a:path w="2562" h="842" extrusionOk="0">
                  <a:moveTo>
                    <a:pt x="68" y="1"/>
                  </a:moveTo>
                  <a:cubicBezTo>
                    <a:pt x="31" y="1"/>
                    <a:pt x="1" y="30"/>
                    <a:pt x="1" y="68"/>
                  </a:cubicBezTo>
                  <a:lnTo>
                    <a:pt x="1" y="775"/>
                  </a:lnTo>
                  <a:cubicBezTo>
                    <a:pt x="1" y="812"/>
                    <a:pt x="31" y="842"/>
                    <a:pt x="68" y="842"/>
                  </a:cubicBezTo>
                  <a:lnTo>
                    <a:pt x="2494" y="842"/>
                  </a:lnTo>
                  <a:cubicBezTo>
                    <a:pt x="2532" y="842"/>
                    <a:pt x="2562" y="812"/>
                    <a:pt x="2562" y="775"/>
                  </a:cubicBezTo>
                  <a:lnTo>
                    <a:pt x="2562" y="68"/>
                  </a:lnTo>
                  <a:cubicBezTo>
                    <a:pt x="2562" y="30"/>
                    <a:pt x="2532" y="1"/>
                    <a:pt x="2494" y="1"/>
                  </a:cubicBezTo>
                  <a:close/>
                </a:path>
              </a:pathLst>
            </a:custGeom>
            <a:solidFill>
              <a:srgbClr val="F8EFF2">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30;p45">
              <a:extLst>
                <a:ext uri="{FF2B5EF4-FFF2-40B4-BE49-F238E27FC236}">
                  <a16:creationId xmlns:a16="http://schemas.microsoft.com/office/drawing/2014/main" id="{62FBF6B1-8E09-6566-4083-2F04AF459181}"/>
                </a:ext>
              </a:extLst>
            </p:cNvPr>
            <p:cNvSpPr/>
            <p:nvPr/>
          </p:nvSpPr>
          <p:spPr>
            <a:xfrm>
              <a:off x="7419828" y="967907"/>
              <a:ext cx="671385" cy="760699"/>
            </a:xfrm>
            <a:custGeom>
              <a:avLst/>
              <a:gdLst/>
              <a:ahLst/>
              <a:cxnLst/>
              <a:rect l="l" t="t" r="r" b="b"/>
              <a:pathLst>
                <a:path w="2631" h="2981" extrusionOk="0">
                  <a:moveTo>
                    <a:pt x="103" y="0"/>
                  </a:moveTo>
                  <a:cubicBezTo>
                    <a:pt x="46" y="0"/>
                    <a:pt x="1" y="46"/>
                    <a:pt x="1" y="103"/>
                  </a:cubicBezTo>
                  <a:lnTo>
                    <a:pt x="1" y="2878"/>
                  </a:lnTo>
                  <a:cubicBezTo>
                    <a:pt x="1" y="2935"/>
                    <a:pt x="46" y="2981"/>
                    <a:pt x="103" y="2981"/>
                  </a:cubicBezTo>
                  <a:lnTo>
                    <a:pt x="2529" y="2981"/>
                  </a:lnTo>
                  <a:cubicBezTo>
                    <a:pt x="2584" y="2981"/>
                    <a:pt x="2631" y="2934"/>
                    <a:pt x="2631" y="2878"/>
                  </a:cubicBezTo>
                  <a:lnTo>
                    <a:pt x="2631" y="103"/>
                  </a:lnTo>
                  <a:cubicBezTo>
                    <a:pt x="2631" y="46"/>
                    <a:pt x="2586" y="0"/>
                    <a:pt x="25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31;p45">
              <a:extLst>
                <a:ext uri="{FF2B5EF4-FFF2-40B4-BE49-F238E27FC236}">
                  <a16:creationId xmlns:a16="http://schemas.microsoft.com/office/drawing/2014/main" id="{639B382B-D90C-8A7E-486C-F76391EAAAD4}"/>
                </a:ext>
              </a:extLst>
            </p:cNvPr>
            <p:cNvSpPr/>
            <p:nvPr/>
          </p:nvSpPr>
          <p:spPr>
            <a:xfrm>
              <a:off x="7428760" y="976584"/>
              <a:ext cx="653778" cy="743091"/>
            </a:xfrm>
            <a:custGeom>
              <a:avLst/>
              <a:gdLst/>
              <a:ahLst/>
              <a:cxnLst/>
              <a:rect l="l" t="t" r="r" b="b"/>
              <a:pathLst>
                <a:path w="2562" h="2912" extrusionOk="0">
                  <a:moveTo>
                    <a:pt x="68" y="0"/>
                  </a:moveTo>
                  <a:cubicBezTo>
                    <a:pt x="31" y="0"/>
                    <a:pt x="1" y="30"/>
                    <a:pt x="1" y="68"/>
                  </a:cubicBezTo>
                  <a:lnTo>
                    <a:pt x="1" y="2844"/>
                  </a:lnTo>
                  <a:cubicBezTo>
                    <a:pt x="1" y="2883"/>
                    <a:pt x="31" y="2912"/>
                    <a:pt x="68" y="2912"/>
                  </a:cubicBezTo>
                  <a:lnTo>
                    <a:pt x="2494" y="2912"/>
                  </a:lnTo>
                  <a:cubicBezTo>
                    <a:pt x="2532" y="2912"/>
                    <a:pt x="2562" y="2883"/>
                    <a:pt x="2562" y="2844"/>
                  </a:cubicBezTo>
                  <a:lnTo>
                    <a:pt x="2562" y="68"/>
                  </a:lnTo>
                  <a:cubicBezTo>
                    <a:pt x="2562" y="30"/>
                    <a:pt x="2532" y="0"/>
                    <a:pt x="2494" y="0"/>
                  </a:cubicBezTo>
                  <a:close/>
                </a:path>
              </a:pathLst>
            </a:custGeom>
            <a:solidFill>
              <a:srgbClr val="F8EFF2">
                <a:alpha val="39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32;p45">
              <a:extLst>
                <a:ext uri="{FF2B5EF4-FFF2-40B4-BE49-F238E27FC236}">
                  <a16:creationId xmlns:a16="http://schemas.microsoft.com/office/drawing/2014/main" id="{BADABB7F-43C6-0CE5-FF62-0DE71F3CACF7}"/>
                </a:ext>
              </a:extLst>
            </p:cNvPr>
            <p:cNvSpPr/>
            <p:nvPr/>
          </p:nvSpPr>
          <p:spPr>
            <a:xfrm>
              <a:off x="6185770" y="433047"/>
              <a:ext cx="2053709" cy="104370"/>
            </a:xfrm>
            <a:custGeom>
              <a:avLst/>
              <a:gdLst/>
              <a:ahLst/>
              <a:cxnLst/>
              <a:rect l="l" t="t" r="r" b="b"/>
              <a:pathLst>
                <a:path w="8048" h="409" extrusionOk="0">
                  <a:moveTo>
                    <a:pt x="118" y="1"/>
                  </a:moveTo>
                  <a:cubicBezTo>
                    <a:pt x="54" y="1"/>
                    <a:pt x="0" y="53"/>
                    <a:pt x="0" y="117"/>
                  </a:cubicBezTo>
                  <a:lnTo>
                    <a:pt x="0" y="409"/>
                  </a:lnTo>
                  <a:lnTo>
                    <a:pt x="8048" y="409"/>
                  </a:lnTo>
                  <a:lnTo>
                    <a:pt x="8048" y="117"/>
                  </a:lnTo>
                  <a:cubicBezTo>
                    <a:pt x="8048" y="53"/>
                    <a:pt x="7996" y="1"/>
                    <a:pt x="7930" y="1"/>
                  </a:cubicBezTo>
                  <a:close/>
                </a:path>
              </a:pathLst>
            </a:custGeom>
            <a:solidFill>
              <a:srgbClr val="C8B5BB">
                <a:alpha val="19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33;p45">
              <a:extLst>
                <a:ext uri="{FF2B5EF4-FFF2-40B4-BE49-F238E27FC236}">
                  <a16:creationId xmlns:a16="http://schemas.microsoft.com/office/drawing/2014/main" id="{707A9D31-9C37-E564-A239-2B8FC60C8275}"/>
                </a:ext>
              </a:extLst>
            </p:cNvPr>
            <p:cNvSpPr/>
            <p:nvPr/>
          </p:nvSpPr>
          <p:spPr>
            <a:xfrm>
              <a:off x="6300856" y="725740"/>
              <a:ext cx="995722" cy="10207"/>
            </a:xfrm>
            <a:custGeom>
              <a:avLst/>
              <a:gdLst/>
              <a:ahLst/>
              <a:cxnLst/>
              <a:rect l="l" t="t" r="r" b="b"/>
              <a:pathLst>
                <a:path w="3902" h="40" extrusionOk="0">
                  <a:moveTo>
                    <a:pt x="1" y="1"/>
                  </a:moveTo>
                  <a:lnTo>
                    <a:pt x="1" y="40"/>
                  </a:lnTo>
                  <a:lnTo>
                    <a:pt x="3902" y="40"/>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34;p45">
              <a:extLst>
                <a:ext uri="{FF2B5EF4-FFF2-40B4-BE49-F238E27FC236}">
                  <a16:creationId xmlns:a16="http://schemas.microsoft.com/office/drawing/2014/main" id="{1D108406-BF3C-4054-DE5A-EF7813EE13B0}"/>
                </a:ext>
              </a:extLst>
            </p:cNvPr>
            <p:cNvSpPr/>
            <p:nvPr/>
          </p:nvSpPr>
          <p:spPr>
            <a:xfrm>
              <a:off x="6632848" y="702519"/>
              <a:ext cx="10718" cy="1014350"/>
            </a:xfrm>
            <a:custGeom>
              <a:avLst/>
              <a:gdLst/>
              <a:ahLst/>
              <a:cxnLst/>
              <a:rect l="l" t="t" r="r" b="b"/>
              <a:pathLst>
                <a:path w="42" h="3975" extrusionOk="0">
                  <a:moveTo>
                    <a:pt x="1" y="1"/>
                  </a:moveTo>
                  <a:lnTo>
                    <a:pt x="1" y="3974"/>
                  </a:lnTo>
                  <a:lnTo>
                    <a:pt x="41" y="3974"/>
                  </a:lnTo>
                  <a:lnTo>
                    <a:pt x="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35;p45">
              <a:extLst>
                <a:ext uri="{FF2B5EF4-FFF2-40B4-BE49-F238E27FC236}">
                  <a16:creationId xmlns:a16="http://schemas.microsoft.com/office/drawing/2014/main" id="{D9B7B926-91F6-8A82-9B2D-DE5F9A89EBFD}"/>
                </a:ext>
              </a:extLst>
            </p:cNvPr>
            <p:cNvSpPr/>
            <p:nvPr/>
          </p:nvSpPr>
          <p:spPr>
            <a:xfrm>
              <a:off x="6953611" y="702519"/>
              <a:ext cx="10207" cy="1014350"/>
            </a:xfrm>
            <a:custGeom>
              <a:avLst/>
              <a:gdLst/>
              <a:ahLst/>
              <a:cxnLst/>
              <a:rect l="l" t="t" r="r" b="b"/>
              <a:pathLst>
                <a:path w="40" h="3975" extrusionOk="0">
                  <a:moveTo>
                    <a:pt x="1" y="1"/>
                  </a:moveTo>
                  <a:lnTo>
                    <a:pt x="1" y="3974"/>
                  </a:lnTo>
                  <a:lnTo>
                    <a:pt x="40" y="3974"/>
                  </a:lnTo>
                  <a:lnTo>
                    <a:pt x="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36;p45">
              <a:extLst>
                <a:ext uri="{FF2B5EF4-FFF2-40B4-BE49-F238E27FC236}">
                  <a16:creationId xmlns:a16="http://schemas.microsoft.com/office/drawing/2014/main" id="{417C18EC-2A36-2537-6211-DD2287DA3F2D}"/>
                </a:ext>
              </a:extLst>
            </p:cNvPr>
            <p:cNvSpPr/>
            <p:nvPr/>
          </p:nvSpPr>
          <p:spPr>
            <a:xfrm>
              <a:off x="6300856" y="792598"/>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37;p45">
              <a:extLst>
                <a:ext uri="{FF2B5EF4-FFF2-40B4-BE49-F238E27FC236}">
                  <a16:creationId xmlns:a16="http://schemas.microsoft.com/office/drawing/2014/main" id="{3AB6A0C7-1DBB-37B1-4DFF-139B51CB569B}"/>
                </a:ext>
              </a:extLst>
            </p:cNvPr>
            <p:cNvSpPr/>
            <p:nvPr/>
          </p:nvSpPr>
          <p:spPr>
            <a:xfrm>
              <a:off x="6300856" y="859710"/>
              <a:ext cx="995722" cy="10462"/>
            </a:xfrm>
            <a:custGeom>
              <a:avLst/>
              <a:gdLst/>
              <a:ahLst/>
              <a:cxnLst/>
              <a:rect l="l" t="t" r="r" b="b"/>
              <a:pathLst>
                <a:path w="3902" h="41" extrusionOk="0">
                  <a:moveTo>
                    <a:pt x="1" y="1"/>
                  </a:moveTo>
                  <a:lnTo>
                    <a:pt x="1" y="41"/>
                  </a:lnTo>
                  <a:lnTo>
                    <a:pt x="3902" y="41"/>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38;p45">
              <a:extLst>
                <a:ext uri="{FF2B5EF4-FFF2-40B4-BE49-F238E27FC236}">
                  <a16:creationId xmlns:a16="http://schemas.microsoft.com/office/drawing/2014/main" id="{B1AE4BD0-9377-E856-67D3-8F926A46FBBA}"/>
                </a:ext>
              </a:extLst>
            </p:cNvPr>
            <p:cNvSpPr/>
            <p:nvPr/>
          </p:nvSpPr>
          <p:spPr>
            <a:xfrm>
              <a:off x="6300856" y="926823"/>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39;p45">
              <a:extLst>
                <a:ext uri="{FF2B5EF4-FFF2-40B4-BE49-F238E27FC236}">
                  <a16:creationId xmlns:a16="http://schemas.microsoft.com/office/drawing/2014/main" id="{BABFE285-F882-6A99-84E0-0B84760890E9}"/>
                </a:ext>
              </a:extLst>
            </p:cNvPr>
            <p:cNvSpPr/>
            <p:nvPr/>
          </p:nvSpPr>
          <p:spPr>
            <a:xfrm>
              <a:off x="6300856" y="993681"/>
              <a:ext cx="995722" cy="10207"/>
            </a:xfrm>
            <a:custGeom>
              <a:avLst/>
              <a:gdLst/>
              <a:ahLst/>
              <a:cxnLst/>
              <a:rect l="l" t="t" r="r" b="b"/>
              <a:pathLst>
                <a:path w="3902" h="40" extrusionOk="0">
                  <a:moveTo>
                    <a:pt x="1" y="1"/>
                  </a:moveTo>
                  <a:lnTo>
                    <a:pt x="1" y="40"/>
                  </a:lnTo>
                  <a:lnTo>
                    <a:pt x="3902" y="40"/>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40;p45">
              <a:extLst>
                <a:ext uri="{FF2B5EF4-FFF2-40B4-BE49-F238E27FC236}">
                  <a16:creationId xmlns:a16="http://schemas.microsoft.com/office/drawing/2014/main" id="{213B94AB-46B1-CE3F-1268-C182CE2C7CE4}"/>
                </a:ext>
              </a:extLst>
            </p:cNvPr>
            <p:cNvSpPr/>
            <p:nvPr/>
          </p:nvSpPr>
          <p:spPr>
            <a:xfrm>
              <a:off x="6300856" y="1061049"/>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41;p45">
              <a:extLst>
                <a:ext uri="{FF2B5EF4-FFF2-40B4-BE49-F238E27FC236}">
                  <a16:creationId xmlns:a16="http://schemas.microsoft.com/office/drawing/2014/main" id="{5D3E0A5D-771D-274B-FC22-9A1D04890960}"/>
                </a:ext>
              </a:extLst>
            </p:cNvPr>
            <p:cNvSpPr/>
            <p:nvPr/>
          </p:nvSpPr>
          <p:spPr>
            <a:xfrm>
              <a:off x="6300856" y="1127906"/>
              <a:ext cx="995722" cy="10207"/>
            </a:xfrm>
            <a:custGeom>
              <a:avLst/>
              <a:gdLst/>
              <a:ahLst/>
              <a:cxnLst/>
              <a:rect l="l" t="t" r="r" b="b"/>
              <a:pathLst>
                <a:path w="3902" h="40" extrusionOk="0">
                  <a:moveTo>
                    <a:pt x="1" y="1"/>
                  </a:moveTo>
                  <a:lnTo>
                    <a:pt x="1" y="40"/>
                  </a:lnTo>
                  <a:lnTo>
                    <a:pt x="3902" y="40"/>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42;p45">
              <a:extLst>
                <a:ext uri="{FF2B5EF4-FFF2-40B4-BE49-F238E27FC236}">
                  <a16:creationId xmlns:a16="http://schemas.microsoft.com/office/drawing/2014/main" id="{BEB16C96-27DA-7B74-F59A-00A2CD1F2A83}"/>
                </a:ext>
              </a:extLst>
            </p:cNvPr>
            <p:cNvSpPr/>
            <p:nvPr/>
          </p:nvSpPr>
          <p:spPr>
            <a:xfrm>
              <a:off x="6300856" y="1195019"/>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43;p45">
              <a:extLst>
                <a:ext uri="{FF2B5EF4-FFF2-40B4-BE49-F238E27FC236}">
                  <a16:creationId xmlns:a16="http://schemas.microsoft.com/office/drawing/2014/main" id="{BFABE0D4-B649-8543-CF88-4A5B914257E4}"/>
                </a:ext>
              </a:extLst>
            </p:cNvPr>
            <p:cNvSpPr/>
            <p:nvPr/>
          </p:nvSpPr>
          <p:spPr>
            <a:xfrm>
              <a:off x="6300856" y="1261877"/>
              <a:ext cx="995722" cy="10462"/>
            </a:xfrm>
            <a:custGeom>
              <a:avLst/>
              <a:gdLst/>
              <a:ahLst/>
              <a:cxnLst/>
              <a:rect l="l" t="t" r="r" b="b"/>
              <a:pathLst>
                <a:path w="3902" h="41" extrusionOk="0">
                  <a:moveTo>
                    <a:pt x="1" y="1"/>
                  </a:moveTo>
                  <a:lnTo>
                    <a:pt x="1" y="41"/>
                  </a:lnTo>
                  <a:lnTo>
                    <a:pt x="3902" y="41"/>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44;p45">
              <a:extLst>
                <a:ext uri="{FF2B5EF4-FFF2-40B4-BE49-F238E27FC236}">
                  <a16:creationId xmlns:a16="http://schemas.microsoft.com/office/drawing/2014/main" id="{0A0B3ECB-77C7-3AA1-B342-4F2F0C00324E}"/>
                </a:ext>
              </a:extLst>
            </p:cNvPr>
            <p:cNvSpPr/>
            <p:nvPr/>
          </p:nvSpPr>
          <p:spPr>
            <a:xfrm>
              <a:off x="6300856" y="1329245"/>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45;p45">
              <a:extLst>
                <a:ext uri="{FF2B5EF4-FFF2-40B4-BE49-F238E27FC236}">
                  <a16:creationId xmlns:a16="http://schemas.microsoft.com/office/drawing/2014/main" id="{A00B679C-558F-595A-FDDD-8A6CBA9DF499}"/>
                </a:ext>
              </a:extLst>
            </p:cNvPr>
            <p:cNvSpPr/>
            <p:nvPr/>
          </p:nvSpPr>
          <p:spPr>
            <a:xfrm>
              <a:off x="6300856" y="1396102"/>
              <a:ext cx="995722" cy="10462"/>
            </a:xfrm>
            <a:custGeom>
              <a:avLst/>
              <a:gdLst/>
              <a:ahLst/>
              <a:cxnLst/>
              <a:rect l="l" t="t" r="r" b="b"/>
              <a:pathLst>
                <a:path w="3902" h="41" extrusionOk="0">
                  <a:moveTo>
                    <a:pt x="1" y="1"/>
                  </a:moveTo>
                  <a:lnTo>
                    <a:pt x="1" y="41"/>
                  </a:lnTo>
                  <a:lnTo>
                    <a:pt x="3902" y="41"/>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46;p45">
              <a:extLst>
                <a:ext uri="{FF2B5EF4-FFF2-40B4-BE49-F238E27FC236}">
                  <a16:creationId xmlns:a16="http://schemas.microsoft.com/office/drawing/2014/main" id="{7AAADF74-83EA-3380-006C-D5E1B69923F2}"/>
                </a:ext>
              </a:extLst>
            </p:cNvPr>
            <p:cNvSpPr/>
            <p:nvPr/>
          </p:nvSpPr>
          <p:spPr>
            <a:xfrm>
              <a:off x="6300856" y="1463470"/>
              <a:ext cx="995722" cy="10462"/>
            </a:xfrm>
            <a:custGeom>
              <a:avLst/>
              <a:gdLst/>
              <a:ahLst/>
              <a:cxnLst/>
              <a:rect l="l" t="t" r="r" b="b"/>
              <a:pathLst>
                <a:path w="3902" h="41" extrusionOk="0">
                  <a:moveTo>
                    <a:pt x="1" y="0"/>
                  </a:moveTo>
                  <a:lnTo>
                    <a:pt x="1" y="40"/>
                  </a:lnTo>
                  <a:lnTo>
                    <a:pt x="3902" y="40"/>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47;p45">
              <a:extLst>
                <a:ext uri="{FF2B5EF4-FFF2-40B4-BE49-F238E27FC236}">
                  <a16:creationId xmlns:a16="http://schemas.microsoft.com/office/drawing/2014/main" id="{88E95A5D-B0E7-4A0B-B6F6-3256FFAC8968}"/>
                </a:ext>
              </a:extLst>
            </p:cNvPr>
            <p:cNvSpPr/>
            <p:nvPr/>
          </p:nvSpPr>
          <p:spPr>
            <a:xfrm>
              <a:off x="6300856" y="1530328"/>
              <a:ext cx="995722" cy="10462"/>
            </a:xfrm>
            <a:custGeom>
              <a:avLst/>
              <a:gdLst/>
              <a:ahLst/>
              <a:cxnLst/>
              <a:rect l="l" t="t" r="r" b="b"/>
              <a:pathLst>
                <a:path w="3902" h="41" extrusionOk="0">
                  <a:moveTo>
                    <a:pt x="1" y="1"/>
                  </a:moveTo>
                  <a:lnTo>
                    <a:pt x="1" y="41"/>
                  </a:lnTo>
                  <a:lnTo>
                    <a:pt x="3902" y="41"/>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48;p45">
              <a:extLst>
                <a:ext uri="{FF2B5EF4-FFF2-40B4-BE49-F238E27FC236}">
                  <a16:creationId xmlns:a16="http://schemas.microsoft.com/office/drawing/2014/main" id="{BA870B45-F295-FCE9-FACF-A64BF2DBF7C6}"/>
                </a:ext>
              </a:extLst>
            </p:cNvPr>
            <p:cNvSpPr/>
            <p:nvPr/>
          </p:nvSpPr>
          <p:spPr>
            <a:xfrm>
              <a:off x="6300856" y="1597696"/>
              <a:ext cx="995722" cy="10207"/>
            </a:xfrm>
            <a:custGeom>
              <a:avLst/>
              <a:gdLst/>
              <a:ahLst/>
              <a:cxnLst/>
              <a:rect l="l" t="t" r="r" b="b"/>
              <a:pathLst>
                <a:path w="3902" h="40" extrusionOk="0">
                  <a:moveTo>
                    <a:pt x="1" y="0"/>
                  </a:moveTo>
                  <a:lnTo>
                    <a:pt x="1" y="39"/>
                  </a:lnTo>
                  <a:lnTo>
                    <a:pt x="3902" y="39"/>
                  </a:lnTo>
                  <a:lnTo>
                    <a:pt x="3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49;p45">
              <a:extLst>
                <a:ext uri="{FF2B5EF4-FFF2-40B4-BE49-F238E27FC236}">
                  <a16:creationId xmlns:a16="http://schemas.microsoft.com/office/drawing/2014/main" id="{258B5A62-B0D1-6757-12A4-6FDC5D78C53E}"/>
                </a:ext>
              </a:extLst>
            </p:cNvPr>
            <p:cNvSpPr/>
            <p:nvPr/>
          </p:nvSpPr>
          <p:spPr>
            <a:xfrm>
              <a:off x="6300856" y="1664298"/>
              <a:ext cx="995722" cy="10462"/>
            </a:xfrm>
            <a:custGeom>
              <a:avLst/>
              <a:gdLst/>
              <a:ahLst/>
              <a:cxnLst/>
              <a:rect l="l" t="t" r="r" b="b"/>
              <a:pathLst>
                <a:path w="3902" h="41" extrusionOk="0">
                  <a:moveTo>
                    <a:pt x="1" y="1"/>
                  </a:moveTo>
                  <a:lnTo>
                    <a:pt x="1" y="41"/>
                  </a:lnTo>
                  <a:lnTo>
                    <a:pt x="3902" y="41"/>
                  </a:lnTo>
                  <a:lnTo>
                    <a:pt x="39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50;p45">
              <a:extLst>
                <a:ext uri="{FF2B5EF4-FFF2-40B4-BE49-F238E27FC236}">
                  <a16:creationId xmlns:a16="http://schemas.microsoft.com/office/drawing/2014/main" id="{0E1EBF12-14FD-21CD-1DC2-B7F36B9DE1AA}"/>
                </a:ext>
              </a:extLst>
            </p:cNvPr>
            <p:cNvSpPr/>
            <p:nvPr/>
          </p:nvSpPr>
          <p:spPr>
            <a:xfrm>
              <a:off x="6710423" y="1111830"/>
              <a:ext cx="176586" cy="176331"/>
            </a:xfrm>
            <a:custGeom>
              <a:avLst/>
              <a:gdLst/>
              <a:ahLst/>
              <a:cxnLst/>
              <a:rect l="l" t="t" r="r" b="b"/>
              <a:pathLst>
                <a:path w="692" h="691" extrusionOk="0">
                  <a:moveTo>
                    <a:pt x="346" y="1"/>
                  </a:moveTo>
                  <a:cubicBezTo>
                    <a:pt x="156" y="1"/>
                    <a:pt x="1" y="156"/>
                    <a:pt x="1" y="346"/>
                  </a:cubicBezTo>
                  <a:cubicBezTo>
                    <a:pt x="1" y="537"/>
                    <a:pt x="156" y="691"/>
                    <a:pt x="346" y="691"/>
                  </a:cubicBezTo>
                  <a:cubicBezTo>
                    <a:pt x="536" y="691"/>
                    <a:pt x="691" y="537"/>
                    <a:pt x="691" y="346"/>
                  </a:cubicBezTo>
                  <a:cubicBezTo>
                    <a:pt x="691" y="156"/>
                    <a:pt x="536" y="1"/>
                    <a:pt x="3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51;p45">
              <a:extLst>
                <a:ext uri="{FF2B5EF4-FFF2-40B4-BE49-F238E27FC236}">
                  <a16:creationId xmlns:a16="http://schemas.microsoft.com/office/drawing/2014/main" id="{F615E6AF-6208-CDEB-1F02-6C84CFD41BF3}"/>
                </a:ext>
              </a:extLst>
            </p:cNvPr>
            <p:cNvSpPr/>
            <p:nvPr/>
          </p:nvSpPr>
          <p:spPr>
            <a:xfrm>
              <a:off x="6722417" y="1123824"/>
              <a:ext cx="152599" cy="152599"/>
            </a:xfrm>
            <a:custGeom>
              <a:avLst/>
              <a:gdLst/>
              <a:ahLst/>
              <a:cxnLst/>
              <a:rect l="l" t="t" r="r" b="b"/>
              <a:pathLst>
                <a:path w="598" h="598" extrusionOk="0">
                  <a:moveTo>
                    <a:pt x="299" y="0"/>
                  </a:moveTo>
                  <a:cubicBezTo>
                    <a:pt x="134" y="0"/>
                    <a:pt x="0" y="135"/>
                    <a:pt x="0" y="299"/>
                  </a:cubicBezTo>
                  <a:cubicBezTo>
                    <a:pt x="0" y="464"/>
                    <a:pt x="135" y="597"/>
                    <a:pt x="299" y="597"/>
                  </a:cubicBezTo>
                  <a:cubicBezTo>
                    <a:pt x="464" y="597"/>
                    <a:pt x="598" y="463"/>
                    <a:pt x="598" y="299"/>
                  </a:cubicBezTo>
                  <a:cubicBezTo>
                    <a:pt x="598" y="135"/>
                    <a:pt x="463" y="2"/>
                    <a:pt x="2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52;p45">
              <a:extLst>
                <a:ext uri="{FF2B5EF4-FFF2-40B4-BE49-F238E27FC236}">
                  <a16:creationId xmlns:a16="http://schemas.microsoft.com/office/drawing/2014/main" id="{6C9A0DA5-6886-A9D8-E919-616A124A889A}"/>
                </a:ext>
              </a:extLst>
            </p:cNvPr>
            <p:cNvSpPr/>
            <p:nvPr/>
          </p:nvSpPr>
          <p:spPr>
            <a:xfrm>
              <a:off x="7475713" y="1042931"/>
              <a:ext cx="559870" cy="33429"/>
            </a:xfrm>
            <a:custGeom>
              <a:avLst/>
              <a:gdLst/>
              <a:ahLst/>
              <a:cxnLst/>
              <a:rect l="l" t="t" r="r" b="b"/>
              <a:pathLst>
                <a:path w="2194" h="131" extrusionOk="0">
                  <a:moveTo>
                    <a:pt x="2132" y="1"/>
                  </a:moveTo>
                  <a:cubicBezTo>
                    <a:pt x="2132" y="1"/>
                    <a:pt x="2131" y="1"/>
                    <a:pt x="2131" y="1"/>
                  </a:cubicBezTo>
                  <a:lnTo>
                    <a:pt x="65" y="1"/>
                  </a:lnTo>
                  <a:cubicBezTo>
                    <a:pt x="48" y="1"/>
                    <a:pt x="32" y="9"/>
                    <a:pt x="19" y="21"/>
                  </a:cubicBezTo>
                  <a:cubicBezTo>
                    <a:pt x="8" y="32"/>
                    <a:pt x="1" y="47"/>
                    <a:pt x="1" y="66"/>
                  </a:cubicBezTo>
                  <a:cubicBezTo>
                    <a:pt x="1" y="71"/>
                    <a:pt x="1" y="76"/>
                    <a:pt x="2" y="81"/>
                  </a:cubicBezTo>
                  <a:cubicBezTo>
                    <a:pt x="9" y="109"/>
                    <a:pt x="34" y="130"/>
                    <a:pt x="65" y="130"/>
                  </a:cubicBezTo>
                  <a:lnTo>
                    <a:pt x="2131" y="130"/>
                  </a:lnTo>
                  <a:cubicBezTo>
                    <a:pt x="2147" y="130"/>
                    <a:pt x="2164" y="123"/>
                    <a:pt x="2176" y="110"/>
                  </a:cubicBezTo>
                  <a:cubicBezTo>
                    <a:pt x="2183" y="102"/>
                    <a:pt x="2190" y="92"/>
                    <a:pt x="2193" y="80"/>
                  </a:cubicBezTo>
                  <a:cubicBezTo>
                    <a:pt x="2193" y="75"/>
                    <a:pt x="2194" y="70"/>
                    <a:pt x="2194" y="65"/>
                  </a:cubicBezTo>
                  <a:cubicBezTo>
                    <a:pt x="2194" y="29"/>
                    <a:pt x="2167" y="1"/>
                    <a:pt x="2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53;p45">
              <a:extLst>
                <a:ext uri="{FF2B5EF4-FFF2-40B4-BE49-F238E27FC236}">
                  <a16:creationId xmlns:a16="http://schemas.microsoft.com/office/drawing/2014/main" id="{3E13B6E1-D794-2883-6E24-D37FE2DC07E0}"/>
                </a:ext>
              </a:extLst>
            </p:cNvPr>
            <p:cNvSpPr/>
            <p:nvPr/>
          </p:nvSpPr>
          <p:spPr>
            <a:xfrm>
              <a:off x="7475968" y="1050586"/>
              <a:ext cx="559360" cy="25773"/>
            </a:xfrm>
            <a:custGeom>
              <a:avLst/>
              <a:gdLst/>
              <a:ahLst/>
              <a:cxnLst/>
              <a:rect l="l" t="t" r="r" b="b"/>
              <a:pathLst>
                <a:path w="2192" h="101" extrusionOk="0">
                  <a:moveTo>
                    <a:pt x="2131" y="1"/>
                  </a:moveTo>
                  <a:cubicBezTo>
                    <a:pt x="2130" y="1"/>
                    <a:pt x="2129" y="1"/>
                    <a:pt x="2129" y="1"/>
                  </a:cubicBezTo>
                  <a:lnTo>
                    <a:pt x="63" y="1"/>
                  </a:lnTo>
                  <a:cubicBezTo>
                    <a:pt x="46" y="1"/>
                    <a:pt x="29" y="9"/>
                    <a:pt x="17" y="20"/>
                  </a:cubicBezTo>
                  <a:cubicBezTo>
                    <a:pt x="10" y="29"/>
                    <a:pt x="3" y="40"/>
                    <a:pt x="1" y="51"/>
                  </a:cubicBezTo>
                  <a:cubicBezTo>
                    <a:pt x="8" y="79"/>
                    <a:pt x="33" y="100"/>
                    <a:pt x="64" y="100"/>
                  </a:cubicBezTo>
                  <a:lnTo>
                    <a:pt x="2130" y="100"/>
                  </a:lnTo>
                  <a:cubicBezTo>
                    <a:pt x="2146" y="100"/>
                    <a:pt x="2163" y="93"/>
                    <a:pt x="2175" y="80"/>
                  </a:cubicBezTo>
                  <a:cubicBezTo>
                    <a:pt x="2182" y="72"/>
                    <a:pt x="2189" y="62"/>
                    <a:pt x="2192" y="50"/>
                  </a:cubicBezTo>
                  <a:cubicBezTo>
                    <a:pt x="2186" y="22"/>
                    <a:pt x="2161" y="1"/>
                    <a:pt x="21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54;p45">
              <a:extLst>
                <a:ext uri="{FF2B5EF4-FFF2-40B4-BE49-F238E27FC236}">
                  <a16:creationId xmlns:a16="http://schemas.microsoft.com/office/drawing/2014/main" id="{42F6AA33-4952-6E63-93BD-86AE25D0BF3D}"/>
                </a:ext>
              </a:extLst>
            </p:cNvPr>
            <p:cNvSpPr/>
            <p:nvPr/>
          </p:nvSpPr>
          <p:spPr>
            <a:xfrm>
              <a:off x="7475713" y="1235593"/>
              <a:ext cx="559870" cy="33174"/>
            </a:xfrm>
            <a:custGeom>
              <a:avLst/>
              <a:gdLst/>
              <a:ahLst/>
              <a:cxnLst/>
              <a:rect l="l" t="t" r="r" b="b"/>
              <a:pathLst>
                <a:path w="2194" h="130" extrusionOk="0">
                  <a:moveTo>
                    <a:pt x="2132" y="0"/>
                  </a:moveTo>
                  <a:cubicBezTo>
                    <a:pt x="2132" y="0"/>
                    <a:pt x="2131" y="0"/>
                    <a:pt x="2131" y="0"/>
                  </a:cubicBezTo>
                  <a:lnTo>
                    <a:pt x="65" y="0"/>
                  </a:lnTo>
                  <a:cubicBezTo>
                    <a:pt x="48" y="0"/>
                    <a:pt x="32" y="9"/>
                    <a:pt x="19" y="20"/>
                  </a:cubicBezTo>
                  <a:cubicBezTo>
                    <a:pt x="8" y="31"/>
                    <a:pt x="1" y="47"/>
                    <a:pt x="1" y="65"/>
                  </a:cubicBezTo>
                  <a:cubicBezTo>
                    <a:pt x="1" y="71"/>
                    <a:pt x="1" y="76"/>
                    <a:pt x="2" y="81"/>
                  </a:cubicBezTo>
                  <a:cubicBezTo>
                    <a:pt x="9" y="109"/>
                    <a:pt x="34" y="129"/>
                    <a:pt x="65" y="129"/>
                  </a:cubicBezTo>
                  <a:lnTo>
                    <a:pt x="2131" y="129"/>
                  </a:lnTo>
                  <a:cubicBezTo>
                    <a:pt x="2147" y="129"/>
                    <a:pt x="2164" y="122"/>
                    <a:pt x="2176" y="111"/>
                  </a:cubicBezTo>
                  <a:cubicBezTo>
                    <a:pt x="2183" y="102"/>
                    <a:pt x="2190" y="91"/>
                    <a:pt x="2193" y="80"/>
                  </a:cubicBezTo>
                  <a:cubicBezTo>
                    <a:pt x="2193" y="75"/>
                    <a:pt x="2194" y="70"/>
                    <a:pt x="2194" y="64"/>
                  </a:cubicBezTo>
                  <a:cubicBezTo>
                    <a:pt x="2194" y="29"/>
                    <a:pt x="2167" y="0"/>
                    <a:pt x="21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55;p45">
              <a:extLst>
                <a:ext uri="{FF2B5EF4-FFF2-40B4-BE49-F238E27FC236}">
                  <a16:creationId xmlns:a16="http://schemas.microsoft.com/office/drawing/2014/main" id="{507F7ADC-387F-58FD-FD85-18931296DDBE}"/>
                </a:ext>
              </a:extLst>
            </p:cNvPr>
            <p:cNvSpPr/>
            <p:nvPr/>
          </p:nvSpPr>
          <p:spPr>
            <a:xfrm>
              <a:off x="7475968" y="1243249"/>
              <a:ext cx="559360" cy="25518"/>
            </a:xfrm>
            <a:custGeom>
              <a:avLst/>
              <a:gdLst/>
              <a:ahLst/>
              <a:cxnLst/>
              <a:rect l="l" t="t" r="r" b="b"/>
              <a:pathLst>
                <a:path w="2192" h="100" extrusionOk="0">
                  <a:moveTo>
                    <a:pt x="2131" y="0"/>
                  </a:moveTo>
                  <a:cubicBezTo>
                    <a:pt x="2130" y="0"/>
                    <a:pt x="2129" y="0"/>
                    <a:pt x="2129" y="0"/>
                  </a:cubicBezTo>
                  <a:lnTo>
                    <a:pt x="63" y="0"/>
                  </a:lnTo>
                  <a:cubicBezTo>
                    <a:pt x="46" y="0"/>
                    <a:pt x="29" y="9"/>
                    <a:pt x="17" y="20"/>
                  </a:cubicBezTo>
                  <a:cubicBezTo>
                    <a:pt x="10" y="29"/>
                    <a:pt x="3" y="40"/>
                    <a:pt x="1" y="51"/>
                  </a:cubicBezTo>
                  <a:cubicBezTo>
                    <a:pt x="8" y="79"/>
                    <a:pt x="33" y="99"/>
                    <a:pt x="64" y="99"/>
                  </a:cubicBezTo>
                  <a:lnTo>
                    <a:pt x="2130" y="99"/>
                  </a:lnTo>
                  <a:cubicBezTo>
                    <a:pt x="2146" y="99"/>
                    <a:pt x="2163" y="92"/>
                    <a:pt x="2175" y="81"/>
                  </a:cubicBezTo>
                  <a:cubicBezTo>
                    <a:pt x="2182" y="72"/>
                    <a:pt x="2189" y="61"/>
                    <a:pt x="2192" y="50"/>
                  </a:cubicBezTo>
                  <a:cubicBezTo>
                    <a:pt x="2186" y="22"/>
                    <a:pt x="2161" y="0"/>
                    <a:pt x="21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56;p45">
              <a:extLst>
                <a:ext uri="{FF2B5EF4-FFF2-40B4-BE49-F238E27FC236}">
                  <a16:creationId xmlns:a16="http://schemas.microsoft.com/office/drawing/2014/main" id="{EAF78700-4D0F-5654-6F7D-9F99BD133C75}"/>
                </a:ext>
              </a:extLst>
            </p:cNvPr>
            <p:cNvSpPr/>
            <p:nvPr/>
          </p:nvSpPr>
          <p:spPr>
            <a:xfrm>
              <a:off x="7475713" y="1428000"/>
              <a:ext cx="559870" cy="33174"/>
            </a:xfrm>
            <a:custGeom>
              <a:avLst/>
              <a:gdLst/>
              <a:ahLst/>
              <a:cxnLst/>
              <a:rect l="l" t="t" r="r" b="b"/>
              <a:pathLst>
                <a:path w="2194" h="130" extrusionOk="0">
                  <a:moveTo>
                    <a:pt x="2132" y="1"/>
                  </a:moveTo>
                  <a:cubicBezTo>
                    <a:pt x="2132" y="1"/>
                    <a:pt x="2131" y="1"/>
                    <a:pt x="2131" y="1"/>
                  </a:cubicBezTo>
                  <a:lnTo>
                    <a:pt x="65" y="1"/>
                  </a:lnTo>
                  <a:cubicBezTo>
                    <a:pt x="48" y="1"/>
                    <a:pt x="32" y="9"/>
                    <a:pt x="19" y="20"/>
                  </a:cubicBezTo>
                  <a:cubicBezTo>
                    <a:pt x="8" y="32"/>
                    <a:pt x="1" y="47"/>
                    <a:pt x="1" y="66"/>
                  </a:cubicBezTo>
                  <a:cubicBezTo>
                    <a:pt x="1" y="71"/>
                    <a:pt x="1" y="76"/>
                    <a:pt x="2" y="81"/>
                  </a:cubicBezTo>
                  <a:cubicBezTo>
                    <a:pt x="9" y="109"/>
                    <a:pt x="34" y="130"/>
                    <a:pt x="65" y="130"/>
                  </a:cubicBezTo>
                  <a:lnTo>
                    <a:pt x="2131" y="130"/>
                  </a:lnTo>
                  <a:cubicBezTo>
                    <a:pt x="2147" y="130"/>
                    <a:pt x="2164" y="123"/>
                    <a:pt x="2176" y="111"/>
                  </a:cubicBezTo>
                  <a:cubicBezTo>
                    <a:pt x="2183" y="102"/>
                    <a:pt x="2190" y="92"/>
                    <a:pt x="2193" y="80"/>
                  </a:cubicBezTo>
                  <a:cubicBezTo>
                    <a:pt x="2193" y="75"/>
                    <a:pt x="2194" y="70"/>
                    <a:pt x="2194" y="65"/>
                  </a:cubicBezTo>
                  <a:cubicBezTo>
                    <a:pt x="2194" y="29"/>
                    <a:pt x="2167" y="1"/>
                    <a:pt x="21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57;p45">
              <a:extLst>
                <a:ext uri="{FF2B5EF4-FFF2-40B4-BE49-F238E27FC236}">
                  <a16:creationId xmlns:a16="http://schemas.microsoft.com/office/drawing/2014/main" id="{A8D57EFA-E3CA-04AA-E120-CCD9BF87FB6D}"/>
                </a:ext>
              </a:extLst>
            </p:cNvPr>
            <p:cNvSpPr/>
            <p:nvPr/>
          </p:nvSpPr>
          <p:spPr>
            <a:xfrm>
              <a:off x="7475968" y="1435656"/>
              <a:ext cx="559360" cy="25518"/>
            </a:xfrm>
            <a:custGeom>
              <a:avLst/>
              <a:gdLst/>
              <a:ahLst/>
              <a:cxnLst/>
              <a:rect l="l" t="t" r="r" b="b"/>
              <a:pathLst>
                <a:path w="2192" h="100" extrusionOk="0">
                  <a:moveTo>
                    <a:pt x="2131" y="1"/>
                  </a:moveTo>
                  <a:cubicBezTo>
                    <a:pt x="2130" y="1"/>
                    <a:pt x="2129" y="1"/>
                    <a:pt x="2129" y="1"/>
                  </a:cubicBezTo>
                  <a:lnTo>
                    <a:pt x="63" y="1"/>
                  </a:lnTo>
                  <a:cubicBezTo>
                    <a:pt x="46" y="1"/>
                    <a:pt x="29" y="9"/>
                    <a:pt x="17" y="20"/>
                  </a:cubicBezTo>
                  <a:cubicBezTo>
                    <a:pt x="10" y="30"/>
                    <a:pt x="3" y="40"/>
                    <a:pt x="1" y="51"/>
                  </a:cubicBezTo>
                  <a:cubicBezTo>
                    <a:pt x="8" y="79"/>
                    <a:pt x="33" y="100"/>
                    <a:pt x="64" y="100"/>
                  </a:cubicBezTo>
                  <a:lnTo>
                    <a:pt x="2130" y="100"/>
                  </a:lnTo>
                  <a:cubicBezTo>
                    <a:pt x="2146" y="100"/>
                    <a:pt x="2163" y="93"/>
                    <a:pt x="2175" y="81"/>
                  </a:cubicBezTo>
                  <a:cubicBezTo>
                    <a:pt x="2182" y="72"/>
                    <a:pt x="2189" y="62"/>
                    <a:pt x="2192" y="50"/>
                  </a:cubicBezTo>
                  <a:cubicBezTo>
                    <a:pt x="2186" y="22"/>
                    <a:pt x="2161" y="1"/>
                    <a:pt x="21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58;p45">
              <a:extLst>
                <a:ext uri="{FF2B5EF4-FFF2-40B4-BE49-F238E27FC236}">
                  <a16:creationId xmlns:a16="http://schemas.microsoft.com/office/drawing/2014/main" id="{FB348C86-CA1F-64C8-6CE0-63EA6BEFD925}"/>
                </a:ext>
              </a:extLst>
            </p:cNvPr>
            <p:cNvSpPr/>
            <p:nvPr/>
          </p:nvSpPr>
          <p:spPr>
            <a:xfrm>
              <a:off x="7475713" y="1620662"/>
              <a:ext cx="559870" cy="33174"/>
            </a:xfrm>
            <a:custGeom>
              <a:avLst/>
              <a:gdLst/>
              <a:ahLst/>
              <a:cxnLst/>
              <a:rect l="l" t="t" r="r" b="b"/>
              <a:pathLst>
                <a:path w="2194" h="130" extrusionOk="0">
                  <a:moveTo>
                    <a:pt x="2132" y="0"/>
                  </a:moveTo>
                  <a:cubicBezTo>
                    <a:pt x="2132" y="0"/>
                    <a:pt x="2131" y="0"/>
                    <a:pt x="2131" y="0"/>
                  </a:cubicBezTo>
                  <a:lnTo>
                    <a:pt x="65" y="0"/>
                  </a:lnTo>
                  <a:cubicBezTo>
                    <a:pt x="48" y="0"/>
                    <a:pt x="32" y="8"/>
                    <a:pt x="19" y="20"/>
                  </a:cubicBezTo>
                  <a:cubicBezTo>
                    <a:pt x="8" y="31"/>
                    <a:pt x="1" y="47"/>
                    <a:pt x="1" y="65"/>
                  </a:cubicBezTo>
                  <a:cubicBezTo>
                    <a:pt x="1" y="70"/>
                    <a:pt x="1" y="76"/>
                    <a:pt x="2" y="81"/>
                  </a:cubicBezTo>
                  <a:cubicBezTo>
                    <a:pt x="9" y="109"/>
                    <a:pt x="34" y="129"/>
                    <a:pt x="65" y="129"/>
                  </a:cubicBezTo>
                  <a:lnTo>
                    <a:pt x="2131" y="129"/>
                  </a:lnTo>
                  <a:cubicBezTo>
                    <a:pt x="2147" y="129"/>
                    <a:pt x="2164" y="122"/>
                    <a:pt x="2176" y="110"/>
                  </a:cubicBezTo>
                  <a:cubicBezTo>
                    <a:pt x="2183" y="101"/>
                    <a:pt x="2190" y="91"/>
                    <a:pt x="2193" y="80"/>
                  </a:cubicBezTo>
                  <a:cubicBezTo>
                    <a:pt x="2193" y="75"/>
                    <a:pt x="2194" y="68"/>
                    <a:pt x="2194" y="64"/>
                  </a:cubicBezTo>
                  <a:cubicBezTo>
                    <a:pt x="2194" y="29"/>
                    <a:pt x="2167" y="0"/>
                    <a:pt x="21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59;p45">
              <a:extLst>
                <a:ext uri="{FF2B5EF4-FFF2-40B4-BE49-F238E27FC236}">
                  <a16:creationId xmlns:a16="http://schemas.microsoft.com/office/drawing/2014/main" id="{885DE491-B839-9A1B-9982-8E52FD28C4F1}"/>
                </a:ext>
              </a:extLst>
            </p:cNvPr>
            <p:cNvSpPr/>
            <p:nvPr/>
          </p:nvSpPr>
          <p:spPr>
            <a:xfrm>
              <a:off x="7475968" y="1628063"/>
              <a:ext cx="559360" cy="25518"/>
            </a:xfrm>
            <a:custGeom>
              <a:avLst/>
              <a:gdLst/>
              <a:ahLst/>
              <a:cxnLst/>
              <a:rect l="l" t="t" r="r" b="b"/>
              <a:pathLst>
                <a:path w="2192" h="100" extrusionOk="0">
                  <a:moveTo>
                    <a:pt x="63" y="0"/>
                  </a:moveTo>
                  <a:cubicBezTo>
                    <a:pt x="46" y="0"/>
                    <a:pt x="29" y="7"/>
                    <a:pt x="17" y="20"/>
                  </a:cubicBezTo>
                  <a:cubicBezTo>
                    <a:pt x="10" y="28"/>
                    <a:pt x="3" y="38"/>
                    <a:pt x="1" y="51"/>
                  </a:cubicBezTo>
                  <a:cubicBezTo>
                    <a:pt x="8" y="79"/>
                    <a:pt x="33" y="99"/>
                    <a:pt x="64" y="99"/>
                  </a:cubicBezTo>
                  <a:lnTo>
                    <a:pt x="2130" y="99"/>
                  </a:lnTo>
                  <a:cubicBezTo>
                    <a:pt x="2146" y="99"/>
                    <a:pt x="2163" y="91"/>
                    <a:pt x="2175" y="80"/>
                  </a:cubicBezTo>
                  <a:cubicBezTo>
                    <a:pt x="2182" y="71"/>
                    <a:pt x="2189" y="61"/>
                    <a:pt x="2192" y="49"/>
                  </a:cubicBezTo>
                  <a:cubicBezTo>
                    <a:pt x="2185" y="21"/>
                    <a:pt x="2160" y="0"/>
                    <a:pt x="21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60;p45">
              <a:extLst>
                <a:ext uri="{FF2B5EF4-FFF2-40B4-BE49-F238E27FC236}">
                  <a16:creationId xmlns:a16="http://schemas.microsoft.com/office/drawing/2014/main" id="{CCE50BA2-8286-20B9-3357-3475FD03F0C0}"/>
                </a:ext>
              </a:extLst>
            </p:cNvPr>
            <p:cNvSpPr/>
            <p:nvPr/>
          </p:nvSpPr>
          <p:spPr>
            <a:xfrm>
              <a:off x="6226088" y="623157"/>
              <a:ext cx="18628" cy="18628"/>
            </a:xfrm>
            <a:custGeom>
              <a:avLst/>
              <a:gdLst/>
              <a:ahLst/>
              <a:cxnLst/>
              <a:rect l="l" t="t" r="r" b="b"/>
              <a:pathLst>
                <a:path w="73" h="73" extrusionOk="0">
                  <a:moveTo>
                    <a:pt x="36" y="1"/>
                  </a:moveTo>
                  <a:cubicBezTo>
                    <a:pt x="16" y="1"/>
                    <a:pt x="0" y="17"/>
                    <a:pt x="0" y="37"/>
                  </a:cubicBezTo>
                  <a:cubicBezTo>
                    <a:pt x="0" y="57"/>
                    <a:pt x="17" y="73"/>
                    <a:pt x="36" y="73"/>
                  </a:cubicBezTo>
                  <a:cubicBezTo>
                    <a:pt x="57" y="73"/>
                    <a:pt x="73" y="56"/>
                    <a:pt x="73" y="37"/>
                  </a:cubicBezTo>
                  <a:cubicBezTo>
                    <a:pt x="73" y="17"/>
                    <a:pt x="56" y="1"/>
                    <a:pt x="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61;p45">
              <a:extLst>
                <a:ext uri="{FF2B5EF4-FFF2-40B4-BE49-F238E27FC236}">
                  <a16:creationId xmlns:a16="http://schemas.microsoft.com/office/drawing/2014/main" id="{404C1411-D93B-E9CE-2DAF-0492277D5EB9}"/>
                </a:ext>
              </a:extLst>
            </p:cNvPr>
            <p:cNvSpPr/>
            <p:nvPr/>
          </p:nvSpPr>
          <p:spPr>
            <a:xfrm>
              <a:off x="6226088" y="1753357"/>
              <a:ext cx="18628" cy="18884"/>
            </a:xfrm>
            <a:custGeom>
              <a:avLst/>
              <a:gdLst/>
              <a:ahLst/>
              <a:cxnLst/>
              <a:rect l="l" t="t" r="r" b="b"/>
              <a:pathLst>
                <a:path w="73" h="74" extrusionOk="0">
                  <a:moveTo>
                    <a:pt x="36" y="1"/>
                  </a:moveTo>
                  <a:cubicBezTo>
                    <a:pt x="16" y="1"/>
                    <a:pt x="0" y="17"/>
                    <a:pt x="0" y="37"/>
                  </a:cubicBezTo>
                  <a:cubicBezTo>
                    <a:pt x="0" y="58"/>
                    <a:pt x="17" y="73"/>
                    <a:pt x="36" y="73"/>
                  </a:cubicBezTo>
                  <a:cubicBezTo>
                    <a:pt x="57" y="73"/>
                    <a:pt x="73" y="57"/>
                    <a:pt x="73" y="37"/>
                  </a:cubicBezTo>
                  <a:cubicBezTo>
                    <a:pt x="73" y="17"/>
                    <a:pt x="56" y="1"/>
                    <a:pt x="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62;p45">
              <a:extLst>
                <a:ext uri="{FF2B5EF4-FFF2-40B4-BE49-F238E27FC236}">
                  <a16:creationId xmlns:a16="http://schemas.microsoft.com/office/drawing/2014/main" id="{4C344AA9-4D42-6A08-06DF-D3D9D398A3C4}"/>
                </a:ext>
              </a:extLst>
            </p:cNvPr>
            <p:cNvSpPr/>
            <p:nvPr/>
          </p:nvSpPr>
          <p:spPr>
            <a:xfrm>
              <a:off x="8180780" y="623157"/>
              <a:ext cx="18628" cy="18628"/>
            </a:xfrm>
            <a:custGeom>
              <a:avLst/>
              <a:gdLst/>
              <a:ahLst/>
              <a:cxnLst/>
              <a:rect l="l" t="t" r="r" b="b"/>
              <a:pathLst>
                <a:path w="73" h="73" extrusionOk="0">
                  <a:moveTo>
                    <a:pt x="36" y="1"/>
                  </a:moveTo>
                  <a:cubicBezTo>
                    <a:pt x="16" y="1"/>
                    <a:pt x="0" y="17"/>
                    <a:pt x="0" y="37"/>
                  </a:cubicBezTo>
                  <a:cubicBezTo>
                    <a:pt x="0" y="57"/>
                    <a:pt x="16" y="73"/>
                    <a:pt x="36" y="73"/>
                  </a:cubicBezTo>
                  <a:cubicBezTo>
                    <a:pt x="57" y="73"/>
                    <a:pt x="72" y="56"/>
                    <a:pt x="72" y="37"/>
                  </a:cubicBezTo>
                  <a:cubicBezTo>
                    <a:pt x="72" y="17"/>
                    <a:pt x="57" y="1"/>
                    <a:pt x="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63;p45">
              <a:extLst>
                <a:ext uri="{FF2B5EF4-FFF2-40B4-BE49-F238E27FC236}">
                  <a16:creationId xmlns:a16="http://schemas.microsoft.com/office/drawing/2014/main" id="{0073528D-0FC9-4CAF-6629-AF788FDBE0FF}"/>
                </a:ext>
              </a:extLst>
            </p:cNvPr>
            <p:cNvSpPr/>
            <p:nvPr/>
          </p:nvSpPr>
          <p:spPr>
            <a:xfrm>
              <a:off x="6186025" y="560893"/>
              <a:ext cx="2053709" cy="20925"/>
            </a:xfrm>
            <a:custGeom>
              <a:avLst/>
              <a:gdLst/>
              <a:ahLst/>
              <a:cxnLst/>
              <a:rect l="l" t="t" r="r" b="b"/>
              <a:pathLst>
                <a:path w="8048" h="82" extrusionOk="0">
                  <a:moveTo>
                    <a:pt x="0" y="1"/>
                  </a:moveTo>
                  <a:lnTo>
                    <a:pt x="0" y="81"/>
                  </a:lnTo>
                  <a:lnTo>
                    <a:pt x="8048" y="81"/>
                  </a:lnTo>
                  <a:lnTo>
                    <a:pt x="80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964;p45">
              <a:extLst>
                <a:ext uri="{FF2B5EF4-FFF2-40B4-BE49-F238E27FC236}">
                  <a16:creationId xmlns:a16="http://schemas.microsoft.com/office/drawing/2014/main" id="{84937D92-5435-2A62-B08A-40B0184E7906}"/>
                </a:ext>
              </a:extLst>
            </p:cNvPr>
            <p:cNvSpPr/>
            <p:nvPr/>
          </p:nvSpPr>
          <p:spPr>
            <a:xfrm>
              <a:off x="6364397" y="1762799"/>
              <a:ext cx="53078" cy="62520"/>
            </a:xfrm>
            <a:custGeom>
              <a:avLst/>
              <a:gdLst/>
              <a:ahLst/>
              <a:cxnLst/>
              <a:rect l="l" t="t" r="r" b="b"/>
              <a:pathLst>
                <a:path w="208" h="245" extrusionOk="0">
                  <a:moveTo>
                    <a:pt x="43" y="0"/>
                  </a:moveTo>
                  <a:cubicBezTo>
                    <a:pt x="20" y="0"/>
                    <a:pt x="1" y="20"/>
                    <a:pt x="1" y="43"/>
                  </a:cubicBezTo>
                  <a:lnTo>
                    <a:pt x="1" y="225"/>
                  </a:lnTo>
                  <a:cubicBezTo>
                    <a:pt x="1" y="236"/>
                    <a:pt x="10" y="244"/>
                    <a:pt x="20" y="244"/>
                  </a:cubicBezTo>
                  <a:lnTo>
                    <a:pt x="188" y="244"/>
                  </a:lnTo>
                  <a:cubicBezTo>
                    <a:pt x="198" y="244"/>
                    <a:pt x="208" y="236"/>
                    <a:pt x="208" y="225"/>
                  </a:cubicBezTo>
                  <a:lnTo>
                    <a:pt x="208" y="43"/>
                  </a:lnTo>
                  <a:cubicBezTo>
                    <a:pt x="206" y="20"/>
                    <a:pt x="187" y="0"/>
                    <a:pt x="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965;p45">
              <a:extLst>
                <a:ext uri="{FF2B5EF4-FFF2-40B4-BE49-F238E27FC236}">
                  <a16:creationId xmlns:a16="http://schemas.microsoft.com/office/drawing/2014/main" id="{9BF85D1A-D690-57F2-A1CA-090F8F97EC2A}"/>
                </a:ext>
              </a:extLst>
            </p:cNvPr>
            <p:cNvSpPr/>
            <p:nvPr/>
          </p:nvSpPr>
          <p:spPr>
            <a:xfrm>
              <a:off x="8008533" y="1762799"/>
              <a:ext cx="52823" cy="62520"/>
            </a:xfrm>
            <a:custGeom>
              <a:avLst/>
              <a:gdLst/>
              <a:ahLst/>
              <a:cxnLst/>
              <a:rect l="l" t="t" r="r" b="b"/>
              <a:pathLst>
                <a:path w="207" h="245" extrusionOk="0">
                  <a:moveTo>
                    <a:pt x="43" y="0"/>
                  </a:moveTo>
                  <a:cubicBezTo>
                    <a:pt x="19" y="0"/>
                    <a:pt x="0" y="20"/>
                    <a:pt x="0" y="43"/>
                  </a:cubicBezTo>
                  <a:lnTo>
                    <a:pt x="0" y="225"/>
                  </a:lnTo>
                  <a:cubicBezTo>
                    <a:pt x="0" y="236"/>
                    <a:pt x="9" y="244"/>
                    <a:pt x="19" y="244"/>
                  </a:cubicBezTo>
                  <a:lnTo>
                    <a:pt x="187" y="244"/>
                  </a:lnTo>
                  <a:cubicBezTo>
                    <a:pt x="198" y="244"/>
                    <a:pt x="207" y="236"/>
                    <a:pt x="207" y="225"/>
                  </a:cubicBezTo>
                  <a:lnTo>
                    <a:pt x="207" y="43"/>
                  </a:lnTo>
                  <a:cubicBezTo>
                    <a:pt x="205" y="20"/>
                    <a:pt x="186" y="0"/>
                    <a:pt x="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966;p45">
              <a:extLst>
                <a:ext uri="{FF2B5EF4-FFF2-40B4-BE49-F238E27FC236}">
                  <a16:creationId xmlns:a16="http://schemas.microsoft.com/office/drawing/2014/main" id="{5E26A06B-D982-733B-9944-442C62148364}"/>
                </a:ext>
              </a:extLst>
            </p:cNvPr>
            <p:cNvSpPr/>
            <p:nvPr/>
          </p:nvSpPr>
          <p:spPr>
            <a:xfrm>
              <a:off x="8296122" y="560382"/>
              <a:ext cx="519807" cy="1193233"/>
            </a:xfrm>
            <a:custGeom>
              <a:avLst/>
              <a:gdLst/>
              <a:ahLst/>
              <a:cxnLst/>
              <a:rect l="l" t="t" r="r" b="b"/>
              <a:pathLst>
                <a:path w="2037" h="4676" extrusionOk="0">
                  <a:moveTo>
                    <a:pt x="146" y="1"/>
                  </a:moveTo>
                  <a:cubicBezTo>
                    <a:pt x="67" y="1"/>
                    <a:pt x="1" y="67"/>
                    <a:pt x="1" y="147"/>
                  </a:cubicBezTo>
                  <a:lnTo>
                    <a:pt x="1" y="4530"/>
                  </a:lnTo>
                  <a:cubicBezTo>
                    <a:pt x="1" y="4610"/>
                    <a:pt x="67" y="4676"/>
                    <a:pt x="146" y="4676"/>
                  </a:cubicBezTo>
                  <a:lnTo>
                    <a:pt x="1891" y="4676"/>
                  </a:lnTo>
                  <a:cubicBezTo>
                    <a:pt x="1970" y="4676"/>
                    <a:pt x="2037" y="4612"/>
                    <a:pt x="2037" y="4530"/>
                  </a:cubicBezTo>
                  <a:lnTo>
                    <a:pt x="2037" y="147"/>
                  </a:lnTo>
                  <a:cubicBezTo>
                    <a:pt x="2037" y="67"/>
                    <a:pt x="1970" y="1"/>
                    <a:pt x="18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967;p45">
            <a:extLst>
              <a:ext uri="{FF2B5EF4-FFF2-40B4-BE49-F238E27FC236}">
                <a16:creationId xmlns:a16="http://schemas.microsoft.com/office/drawing/2014/main" id="{C9D151A7-71EE-654F-3ACC-00EB7ACB81C1}"/>
              </a:ext>
            </a:extLst>
          </p:cNvPr>
          <p:cNvGrpSpPr/>
          <p:nvPr/>
        </p:nvGrpSpPr>
        <p:grpSpPr>
          <a:xfrm>
            <a:off x="6417475" y="-19452"/>
            <a:ext cx="2650317" cy="4603478"/>
            <a:chOff x="6417475" y="3"/>
            <a:chExt cx="2650317" cy="4603478"/>
          </a:xfrm>
        </p:grpSpPr>
        <p:sp>
          <p:nvSpPr>
            <p:cNvPr id="61" name="Google Shape;968;p45">
              <a:extLst>
                <a:ext uri="{FF2B5EF4-FFF2-40B4-BE49-F238E27FC236}">
                  <a16:creationId xmlns:a16="http://schemas.microsoft.com/office/drawing/2014/main" id="{6BC3BE35-F077-BCD8-5BE7-B40192E877F3}"/>
                </a:ext>
              </a:extLst>
            </p:cNvPr>
            <p:cNvSpPr/>
            <p:nvPr/>
          </p:nvSpPr>
          <p:spPr>
            <a:xfrm>
              <a:off x="8180780" y="1753357"/>
              <a:ext cx="18628" cy="18883"/>
            </a:xfrm>
            <a:custGeom>
              <a:avLst/>
              <a:gdLst/>
              <a:ahLst/>
              <a:cxnLst/>
              <a:rect l="l" t="t" r="r" b="b"/>
              <a:pathLst>
                <a:path w="73" h="74" extrusionOk="0">
                  <a:moveTo>
                    <a:pt x="36" y="1"/>
                  </a:moveTo>
                  <a:cubicBezTo>
                    <a:pt x="17" y="1"/>
                    <a:pt x="0" y="17"/>
                    <a:pt x="0" y="37"/>
                  </a:cubicBezTo>
                  <a:cubicBezTo>
                    <a:pt x="0" y="57"/>
                    <a:pt x="17" y="73"/>
                    <a:pt x="36" y="73"/>
                  </a:cubicBezTo>
                  <a:cubicBezTo>
                    <a:pt x="57" y="73"/>
                    <a:pt x="72" y="57"/>
                    <a:pt x="72" y="37"/>
                  </a:cubicBezTo>
                  <a:cubicBezTo>
                    <a:pt x="72" y="17"/>
                    <a:pt x="57" y="1"/>
                    <a:pt x="36" y="1"/>
                  </a:cubicBezTo>
                  <a:close/>
                </a:path>
              </a:pathLst>
            </a:custGeom>
            <a:solidFill>
              <a:srgbClr val="C8B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969;p45">
              <a:extLst>
                <a:ext uri="{FF2B5EF4-FFF2-40B4-BE49-F238E27FC236}">
                  <a16:creationId xmlns:a16="http://schemas.microsoft.com/office/drawing/2014/main" id="{8CF3D3AE-DEB5-BD92-8E1A-1202A5972D0C}"/>
                </a:ext>
              </a:extLst>
            </p:cNvPr>
            <p:cNvSpPr/>
            <p:nvPr/>
          </p:nvSpPr>
          <p:spPr>
            <a:xfrm>
              <a:off x="8318833" y="623157"/>
              <a:ext cx="18628" cy="18628"/>
            </a:xfrm>
            <a:custGeom>
              <a:avLst/>
              <a:gdLst/>
              <a:ahLst/>
              <a:cxnLst/>
              <a:rect l="l" t="t" r="r" b="b"/>
              <a:pathLst>
                <a:path w="73" h="73" extrusionOk="0">
                  <a:moveTo>
                    <a:pt x="37" y="1"/>
                  </a:moveTo>
                  <a:cubicBezTo>
                    <a:pt x="16" y="1"/>
                    <a:pt x="1" y="17"/>
                    <a:pt x="1" y="37"/>
                  </a:cubicBezTo>
                  <a:cubicBezTo>
                    <a:pt x="1" y="57"/>
                    <a:pt x="16" y="73"/>
                    <a:pt x="37" y="73"/>
                  </a:cubicBezTo>
                  <a:cubicBezTo>
                    <a:pt x="57" y="73"/>
                    <a:pt x="73" y="56"/>
                    <a:pt x="73" y="37"/>
                  </a:cubicBezTo>
                  <a:cubicBezTo>
                    <a:pt x="73" y="17"/>
                    <a:pt x="57" y="1"/>
                    <a:pt x="37" y="1"/>
                  </a:cubicBezTo>
                  <a:close/>
                </a:path>
              </a:pathLst>
            </a:custGeom>
            <a:solidFill>
              <a:srgbClr val="C8B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970;p45">
              <a:extLst>
                <a:ext uri="{FF2B5EF4-FFF2-40B4-BE49-F238E27FC236}">
                  <a16:creationId xmlns:a16="http://schemas.microsoft.com/office/drawing/2014/main" id="{4C10E528-F7B1-0B3B-0219-BA1026FD4684}"/>
                </a:ext>
              </a:extLst>
            </p:cNvPr>
            <p:cNvSpPr/>
            <p:nvPr/>
          </p:nvSpPr>
          <p:spPr>
            <a:xfrm>
              <a:off x="8770505" y="623157"/>
              <a:ext cx="18883" cy="18628"/>
            </a:xfrm>
            <a:custGeom>
              <a:avLst/>
              <a:gdLst/>
              <a:ahLst/>
              <a:cxnLst/>
              <a:rect l="l" t="t" r="r" b="b"/>
              <a:pathLst>
                <a:path w="74" h="73" extrusionOk="0">
                  <a:moveTo>
                    <a:pt x="37" y="1"/>
                  </a:moveTo>
                  <a:cubicBezTo>
                    <a:pt x="16" y="1"/>
                    <a:pt x="1" y="17"/>
                    <a:pt x="1" y="37"/>
                  </a:cubicBezTo>
                  <a:cubicBezTo>
                    <a:pt x="1" y="57"/>
                    <a:pt x="17" y="73"/>
                    <a:pt x="37" y="73"/>
                  </a:cubicBezTo>
                  <a:cubicBezTo>
                    <a:pt x="57" y="73"/>
                    <a:pt x="73" y="56"/>
                    <a:pt x="73" y="37"/>
                  </a:cubicBezTo>
                  <a:cubicBezTo>
                    <a:pt x="73" y="17"/>
                    <a:pt x="58" y="1"/>
                    <a:pt x="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971;p45">
              <a:extLst>
                <a:ext uri="{FF2B5EF4-FFF2-40B4-BE49-F238E27FC236}">
                  <a16:creationId xmlns:a16="http://schemas.microsoft.com/office/drawing/2014/main" id="{5730CE75-D17A-73A3-624F-605985A02CB6}"/>
                </a:ext>
              </a:extLst>
            </p:cNvPr>
            <p:cNvSpPr/>
            <p:nvPr/>
          </p:nvSpPr>
          <p:spPr>
            <a:xfrm>
              <a:off x="8319089" y="1696196"/>
              <a:ext cx="18628" cy="18883"/>
            </a:xfrm>
            <a:custGeom>
              <a:avLst/>
              <a:gdLst/>
              <a:ahLst/>
              <a:cxnLst/>
              <a:rect l="l" t="t" r="r" b="b"/>
              <a:pathLst>
                <a:path w="73" h="74" extrusionOk="0">
                  <a:moveTo>
                    <a:pt x="37" y="1"/>
                  </a:moveTo>
                  <a:cubicBezTo>
                    <a:pt x="17" y="1"/>
                    <a:pt x="1" y="16"/>
                    <a:pt x="1" y="37"/>
                  </a:cubicBezTo>
                  <a:cubicBezTo>
                    <a:pt x="1" y="57"/>
                    <a:pt x="17" y="73"/>
                    <a:pt x="37" y="73"/>
                  </a:cubicBezTo>
                  <a:cubicBezTo>
                    <a:pt x="58" y="73"/>
                    <a:pt x="73" y="57"/>
                    <a:pt x="73" y="37"/>
                  </a:cubicBezTo>
                  <a:cubicBezTo>
                    <a:pt x="73" y="16"/>
                    <a:pt x="58" y="1"/>
                    <a:pt x="37" y="1"/>
                  </a:cubicBezTo>
                  <a:close/>
                </a:path>
              </a:pathLst>
            </a:custGeom>
            <a:solidFill>
              <a:srgbClr val="C8B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972;p45">
              <a:extLst>
                <a:ext uri="{FF2B5EF4-FFF2-40B4-BE49-F238E27FC236}">
                  <a16:creationId xmlns:a16="http://schemas.microsoft.com/office/drawing/2014/main" id="{3BC894B8-0435-896B-B806-F4CB1CC07A04}"/>
                </a:ext>
              </a:extLst>
            </p:cNvPr>
            <p:cNvSpPr/>
            <p:nvPr/>
          </p:nvSpPr>
          <p:spPr>
            <a:xfrm>
              <a:off x="8770505" y="1696196"/>
              <a:ext cx="18883" cy="18883"/>
            </a:xfrm>
            <a:custGeom>
              <a:avLst/>
              <a:gdLst/>
              <a:ahLst/>
              <a:cxnLst/>
              <a:rect l="l" t="t" r="r" b="b"/>
              <a:pathLst>
                <a:path w="74" h="74" extrusionOk="0">
                  <a:moveTo>
                    <a:pt x="37" y="1"/>
                  </a:moveTo>
                  <a:cubicBezTo>
                    <a:pt x="16" y="1"/>
                    <a:pt x="1" y="17"/>
                    <a:pt x="1" y="37"/>
                  </a:cubicBezTo>
                  <a:cubicBezTo>
                    <a:pt x="1" y="58"/>
                    <a:pt x="17" y="73"/>
                    <a:pt x="37" y="73"/>
                  </a:cubicBezTo>
                  <a:cubicBezTo>
                    <a:pt x="57" y="73"/>
                    <a:pt x="73" y="55"/>
                    <a:pt x="73" y="37"/>
                  </a:cubicBezTo>
                  <a:cubicBezTo>
                    <a:pt x="73" y="17"/>
                    <a:pt x="58" y="1"/>
                    <a:pt x="37" y="1"/>
                  </a:cubicBezTo>
                  <a:close/>
                </a:path>
              </a:pathLst>
            </a:custGeom>
            <a:solidFill>
              <a:srgbClr val="C8B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973;p45">
              <a:extLst>
                <a:ext uri="{FF2B5EF4-FFF2-40B4-BE49-F238E27FC236}">
                  <a16:creationId xmlns:a16="http://schemas.microsoft.com/office/drawing/2014/main" id="{0F97E2A7-FD18-D8D8-F56C-1981C0FF61CB}"/>
                </a:ext>
              </a:extLst>
            </p:cNvPr>
            <p:cNvSpPr/>
            <p:nvPr/>
          </p:nvSpPr>
          <p:spPr>
            <a:xfrm>
              <a:off x="7322094" y="2522474"/>
              <a:ext cx="746407" cy="655051"/>
            </a:xfrm>
            <a:custGeom>
              <a:avLst/>
              <a:gdLst/>
              <a:ahLst/>
              <a:cxnLst/>
              <a:rect l="l" t="t" r="r" b="b"/>
              <a:pathLst>
                <a:path w="2925" h="2567" extrusionOk="0">
                  <a:moveTo>
                    <a:pt x="1456" y="0"/>
                  </a:moveTo>
                  <a:cubicBezTo>
                    <a:pt x="1436" y="0"/>
                    <a:pt x="1416" y="13"/>
                    <a:pt x="1406" y="30"/>
                  </a:cubicBezTo>
                  <a:lnTo>
                    <a:pt x="17" y="2479"/>
                  </a:lnTo>
                  <a:cubicBezTo>
                    <a:pt x="0" y="2507"/>
                    <a:pt x="11" y="2543"/>
                    <a:pt x="40" y="2558"/>
                  </a:cubicBezTo>
                  <a:cubicBezTo>
                    <a:pt x="48" y="2563"/>
                    <a:pt x="57" y="2567"/>
                    <a:pt x="67" y="2567"/>
                  </a:cubicBezTo>
                  <a:cubicBezTo>
                    <a:pt x="88" y="2567"/>
                    <a:pt x="109" y="2554"/>
                    <a:pt x="118" y="2537"/>
                  </a:cubicBezTo>
                  <a:lnTo>
                    <a:pt x="1456" y="179"/>
                  </a:lnTo>
                  <a:lnTo>
                    <a:pt x="2807" y="2537"/>
                  </a:lnTo>
                  <a:cubicBezTo>
                    <a:pt x="2817" y="2556"/>
                    <a:pt x="2837" y="2566"/>
                    <a:pt x="2857" y="2566"/>
                  </a:cubicBezTo>
                  <a:cubicBezTo>
                    <a:pt x="2868" y="2566"/>
                    <a:pt x="2878" y="2563"/>
                    <a:pt x="2888" y="2558"/>
                  </a:cubicBezTo>
                  <a:cubicBezTo>
                    <a:pt x="2916" y="2543"/>
                    <a:pt x="2925" y="2507"/>
                    <a:pt x="2909" y="2479"/>
                  </a:cubicBezTo>
                  <a:lnTo>
                    <a:pt x="1507" y="30"/>
                  </a:lnTo>
                  <a:cubicBezTo>
                    <a:pt x="1497" y="13"/>
                    <a:pt x="1477" y="0"/>
                    <a:pt x="1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974;p45">
              <a:extLst>
                <a:ext uri="{FF2B5EF4-FFF2-40B4-BE49-F238E27FC236}">
                  <a16:creationId xmlns:a16="http://schemas.microsoft.com/office/drawing/2014/main" id="{F5067099-AE85-93FE-35A9-E95B9D2328C9}"/>
                </a:ext>
              </a:extLst>
            </p:cNvPr>
            <p:cNvSpPr/>
            <p:nvPr/>
          </p:nvSpPr>
          <p:spPr>
            <a:xfrm>
              <a:off x="7682155" y="3"/>
              <a:ext cx="23222" cy="2549010"/>
            </a:xfrm>
            <a:custGeom>
              <a:avLst/>
              <a:gdLst/>
              <a:ahLst/>
              <a:cxnLst/>
              <a:rect l="l" t="t" r="r" b="b"/>
              <a:pathLst>
                <a:path w="91" h="9989" extrusionOk="0">
                  <a:moveTo>
                    <a:pt x="45" y="1"/>
                  </a:moveTo>
                  <a:cubicBezTo>
                    <a:pt x="21" y="1"/>
                    <a:pt x="1" y="20"/>
                    <a:pt x="1" y="45"/>
                  </a:cubicBezTo>
                  <a:lnTo>
                    <a:pt x="1" y="9945"/>
                  </a:lnTo>
                  <a:cubicBezTo>
                    <a:pt x="1" y="9970"/>
                    <a:pt x="21" y="9989"/>
                    <a:pt x="45" y="9989"/>
                  </a:cubicBezTo>
                  <a:cubicBezTo>
                    <a:pt x="70" y="9989"/>
                    <a:pt x="91" y="9968"/>
                    <a:pt x="89" y="9945"/>
                  </a:cubicBezTo>
                  <a:lnTo>
                    <a:pt x="89" y="45"/>
                  </a:lnTo>
                  <a:cubicBezTo>
                    <a:pt x="89" y="20"/>
                    <a:pt x="70" y="1"/>
                    <a:pt x="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975;p45">
              <a:extLst>
                <a:ext uri="{FF2B5EF4-FFF2-40B4-BE49-F238E27FC236}">
                  <a16:creationId xmlns:a16="http://schemas.microsoft.com/office/drawing/2014/main" id="{0AA2242C-6B31-2EE9-568F-C34B59C561DB}"/>
                </a:ext>
              </a:extLst>
            </p:cNvPr>
            <p:cNvSpPr/>
            <p:nvPr/>
          </p:nvSpPr>
          <p:spPr>
            <a:xfrm>
              <a:off x="6819896" y="4335285"/>
              <a:ext cx="478721" cy="268196"/>
            </a:xfrm>
            <a:custGeom>
              <a:avLst/>
              <a:gdLst/>
              <a:ahLst/>
              <a:cxnLst/>
              <a:rect l="l" t="t" r="r" b="b"/>
              <a:pathLst>
                <a:path w="1876" h="1051" extrusionOk="0">
                  <a:moveTo>
                    <a:pt x="764" y="0"/>
                  </a:moveTo>
                  <a:cubicBezTo>
                    <a:pt x="592" y="290"/>
                    <a:pt x="295" y="536"/>
                    <a:pt x="113" y="670"/>
                  </a:cubicBezTo>
                  <a:cubicBezTo>
                    <a:pt x="24" y="733"/>
                    <a:pt x="1" y="854"/>
                    <a:pt x="59" y="946"/>
                  </a:cubicBezTo>
                  <a:lnTo>
                    <a:pt x="119" y="1042"/>
                  </a:lnTo>
                  <a:cubicBezTo>
                    <a:pt x="123" y="1047"/>
                    <a:pt x="128" y="1050"/>
                    <a:pt x="134" y="1050"/>
                  </a:cubicBezTo>
                  <a:cubicBezTo>
                    <a:pt x="136" y="1050"/>
                    <a:pt x="137" y="1050"/>
                    <a:pt x="139" y="1049"/>
                  </a:cubicBezTo>
                  <a:lnTo>
                    <a:pt x="1616" y="703"/>
                  </a:lnTo>
                  <a:cubicBezTo>
                    <a:pt x="1739" y="675"/>
                    <a:pt x="1834" y="577"/>
                    <a:pt x="1859" y="453"/>
                  </a:cubicBezTo>
                  <a:cubicBezTo>
                    <a:pt x="1875" y="367"/>
                    <a:pt x="1858" y="279"/>
                    <a:pt x="1808" y="208"/>
                  </a:cubicBezTo>
                  <a:lnTo>
                    <a:pt x="1697" y="46"/>
                  </a:lnTo>
                  <a:lnTo>
                    <a:pt x="7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976;p45">
              <a:extLst>
                <a:ext uri="{FF2B5EF4-FFF2-40B4-BE49-F238E27FC236}">
                  <a16:creationId xmlns:a16="http://schemas.microsoft.com/office/drawing/2014/main" id="{88333E5D-46ED-5855-FF7D-A2942F4821E1}"/>
                </a:ext>
              </a:extLst>
            </p:cNvPr>
            <p:cNvSpPr/>
            <p:nvPr/>
          </p:nvSpPr>
          <p:spPr>
            <a:xfrm>
              <a:off x="6417475" y="4239337"/>
              <a:ext cx="478721" cy="256713"/>
            </a:xfrm>
            <a:custGeom>
              <a:avLst/>
              <a:gdLst/>
              <a:ahLst/>
              <a:cxnLst/>
              <a:rect l="l" t="t" r="r" b="b"/>
              <a:pathLst>
                <a:path w="1876" h="1006" extrusionOk="0">
                  <a:moveTo>
                    <a:pt x="946" y="0"/>
                  </a:moveTo>
                  <a:cubicBezTo>
                    <a:pt x="774" y="290"/>
                    <a:pt x="295" y="490"/>
                    <a:pt x="112" y="624"/>
                  </a:cubicBezTo>
                  <a:cubicBezTo>
                    <a:pt x="24" y="687"/>
                    <a:pt x="1" y="808"/>
                    <a:pt x="58" y="901"/>
                  </a:cubicBezTo>
                  <a:lnTo>
                    <a:pt x="119" y="996"/>
                  </a:lnTo>
                  <a:cubicBezTo>
                    <a:pt x="123" y="1002"/>
                    <a:pt x="128" y="1005"/>
                    <a:pt x="135" y="1005"/>
                  </a:cubicBezTo>
                  <a:cubicBezTo>
                    <a:pt x="136" y="1005"/>
                    <a:pt x="138" y="1005"/>
                    <a:pt x="139" y="1005"/>
                  </a:cubicBezTo>
                  <a:lnTo>
                    <a:pt x="1616" y="658"/>
                  </a:lnTo>
                  <a:cubicBezTo>
                    <a:pt x="1738" y="630"/>
                    <a:pt x="1834" y="531"/>
                    <a:pt x="1859" y="407"/>
                  </a:cubicBezTo>
                  <a:cubicBezTo>
                    <a:pt x="1875" y="323"/>
                    <a:pt x="1857" y="235"/>
                    <a:pt x="1808" y="163"/>
                  </a:cubicBezTo>
                  <a:lnTo>
                    <a:pt x="16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977;p45">
              <a:extLst>
                <a:ext uri="{FF2B5EF4-FFF2-40B4-BE49-F238E27FC236}">
                  <a16:creationId xmlns:a16="http://schemas.microsoft.com/office/drawing/2014/main" id="{5089B2E0-3D63-7BFD-E533-AA3872B14706}"/>
                </a:ext>
              </a:extLst>
            </p:cNvPr>
            <p:cNvSpPr/>
            <p:nvPr/>
          </p:nvSpPr>
          <p:spPr>
            <a:xfrm>
              <a:off x="6592274" y="2721006"/>
              <a:ext cx="901302" cy="1599734"/>
            </a:xfrm>
            <a:custGeom>
              <a:avLst/>
              <a:gdLst/>
              <a:ahLst/>
              <a:cxnLst/>
              <a:rect l="l" t="t" r="r" b="b"/>
              <a:pathLst>
                <a:path w="3532" h="6269" extrusionOk="0">
                  <a:moveTo>
                    <a:pt x="2412" y="1"/>
                  </a:moveTo>
                  <a:lnTo>
                    <a:pt x="2410" y="2"/>
                  </a:lnTo>
                  <a:cubicBezTo>
                    <a:pt x="2000" y="364"/>
                    <a:pt x="1707" y="839"/>
                    <a:pt x="1559" y="1365"/>
                  </a:cubicBezTo>
                  <a:cubicBezTo>
                    <a:pt x="1215" y="2603"/>
                    <a:pt x="518" y="4590"/>
                    <a:pt x="193" y="5506"/>
                  </a:cubicBezTo>
                  <a:cubicBezTo>
                    <a:pt x="84" y="5811"/>
                    <a:pt x="1" y="5819"/>
                    <a:pt x="16" y="5999"/>
                  </a:cubicBezTo>
                  <a:cubicBezTo>
                    <a:pt x="22" y="6072"/>
                    <a:pt x="198" y="6202"/>
                    <a:pt x="509" y="6248"/>
                  </a:cubicBezTo>
                  <a:cubicBezTo>
                    <a:pt x="606" y="6262"/>
                    <a:pt x="700" y="6269"/>
                    <a:pt x="785" y="6269"/>
                  </a:cubicBezTo>
                  <a:cubicBezTo>
                    <a:pt x="973" y="6269"/>
                    <a:pt x="1121" y="6237"/>
                    <a:pt x="1180" y="6186"/>
                  </a:cubicBezTo>
                  <a:cubicBezTo>
                    <a:pt x="1265" y="6110"/>
                    <a:pt x="1214" y="5994"/>
                    <a:pt x="1252" y="5913"/>
                  </a:cubicBezTo>
                  <a:cubicBezTo>
                    <a:pt x="2332" y="3610"/>
                    <a:pt x="2872" y="3243"/>
                    <a:pt x="3091" y="2631"/>
                  </a:cubicBezTo>
                  <a:cubicBezTo>
                    <a:pt x="3532" y="1392"/>
                    <a:pt x="3171" y="696"/>
                    <a:pt x="3171" y="696"/>
                  </a:cubicBezTo>
                  <a:lnTo>
                    <a:pt x="24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978;p45">
              <a:extLst>
                <a:ext uri="{FF2B5EF4-FFF2-40B4-BE49-F238E27FC236}">
                  <a16:creationId xmlns:a16="http://schemas.microsoft.com/office/drawing/2014/main" id="{ED8A894D-5D58-8AA7-B733-DF4F20D9BA6C}"/>
                </a:ext>
              </a:extLst>
            </p:cNvPr>
            <p:cNvSpPr/>
            <p:nvPr/>
          </p:nvSpPr>
          <p:spPr>
            <a:xfrm>
              <a:off x="7207517" y="2578359"/>
              <a:ext cx="1666081" cy="550937"/>
            </a:xfrm>
            <a:custGeom>
              <a:avLst/>
              <a:gdLst/>
              <a:ahLst/>
              <a:cxnLst/>
              <a:rect l="l" t="t" r="r" b="b"/>
              <a:pathLst>
                <a:path w="6529" h="2159" extrusionOk="0">
                  <a:moveTo>
                    <a:pt x="3681" y="1"/>
                  </a:moveTo>
                  <a:cubicBezTo>
                    <a:pt x="3568" y="1"/>
                    <a:pt x="3459" y="1"/>
                    <a:pt x="3359" y="3"/>
                  </a:cubicBezTo>
                  <a:cubicBezTo>
                    <a:pt x="2552" y="14"/>
                    <a:pt x="1" y="560"/>
                    <a:pt x="1" y="560"/>
                  </a:cubicBezTo>
                  <a:lnTo>
                    <a:pt x="285" y="2049"/>
                  </a:lnTo>
                  <a:lnTo>
                    <a:pt x="5392" y="2158"/>
                  </a:lnTo>
                  <a:cubicBezTo>
                    <a:pt x="6008" y="2142"/>
                    <a:pt x="6512" y="1649"/>
                    <a:pt x="6529" y="1031"/>
                  </a:cubicBezTo>
                  <a:lnTo>
                    <a:pt x="6529" y="993"/>
                  </a:lnTo>
                  <a:cubicBezTo>
                    <a:pt x="6529" y="639"/>
                    <a:pt x="5545" y="32"/>
                    <a:pt x="5545" y="32"/>
                  </a:cubicBezTo>
                  <a:cubicBezTo>
                    <a:pt x="5545" y="32"/>
                    <a:pt x="4487" y="1"/>
                    <a:pt x="3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979;p45">
              <a:extLst>
                <a:ext uri="{FF2B5EF4-FFF2-40B4-BE49-F238E27FC236}">
                  <a16:creationId xmlns:a16="http://schemas.microsoft.com/office/drawing/2014/main" id="{69C99ADF-34E5-A09E-BC1D-881286A29597}"/>
                </a:ext>
              </a:extLst>
            </p:cNvPr>
            <p:cNvSpPr/>
            <p:nvPr/>
          </p:nvSpPr>
          <p:spPr>
            <a:xfrm>
              <a:off x="6968157" y="2753924"/>
              <a:ext cx="685931" cy="1647458"/>
            </a:xfrm>
            <a:custGeom>
              <a:avLst/>
              <a:gdLst/>
              <a:ahLst/>
              <a:cxnLst/>
              <a:rect l="l" t="t" r="r" b="b"/>
              <a:pathLst>
                <a:path w="2688" h="6456" extrusionOk="0">
                  <a:moveTo>
                    <a:pt x="1554" y="1"/>
                  </a:moveTo>
                  <a:lnTo>
                    <a:pt x="1552" y="3"/>
                  </a:lnTo>
                  <a:cubicBezTo>
                    <a:pt x="1199" y="421"/>
                    <a:pt x="975" y="932"/>
                    <a:pt x="906" y="1475"/>
                  </a:cubicBezTo>
                  <a:cubicBezTo>
                    <a:pt x="741" y="2750"/>
                    <a:pt x="337" y="4816"/>
                    <a:pt x="146" y="5768"/>
                  </a:cubicBezTo>
                  <a:cubicBezTo>
                    <a:pt x="81" y="6087"/>
                    <a:pt x="0" y="6105"/>
                    <a:pt x="42" y="6280"/>
                  </a:cubicBezTo>
                  <a:cubicBezTo>
                    <a:pt x="58" y="6351"/>
                    <a:pt x="251" y="6456"/>
                    <a:pt x="566" y="6456"/>
                  </a:cubicBezTo>
                  <a:cubicBezTo>
                    <a:pt x="880" y="6456"/>
                    <a:pt x="1145" y="6384"/>
                    <a:pt x="1221" y="6300"/>
                  </a:cubicBezTo>
                  <a:cubicBezTo>
                    <a:pt x="1295" y="6214"/>
                    <a:pt x="1228" y="6104"/>
                    <a:pt x="1254" y="6020"/>
                  </a:cubicBezTo>
                  <a:cubicBezTo>
                    <a:pt x="1993" y="3587"/>
                    <a:pt x="2475" y="3145"/>
                    <a:pt x="2605" y="2506"/>
                  </a:cubicBezTo>
                  <a:cubicBezTo>
                    <a:pt x="2665" y="2207"/>
                    <a:pt x="2687" y="1944"/>
                    <a:pt x="2684" y="1715"/>
                  </a:cubicBezTo>
                  <a:cubicBezTo>
                    <a:pt x="2683" y="1619"/>
                    <a:pt x="2678" y="1530"/>
                    <a:pt x="2670" y="1447"/>
                  </a:cubicBezTo>
                  <a:cubicBezTo>
                    <a:pt x="2613" y="868"/>
                    <a:pt x="2408" y="581"/>
                    <a:pt x="2408" y="581"/>
                  </a:cubicBezTo>
                  <a:lnTo>
                    <a:pt x="15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980;p45">
              <a:extLst>
                <a:ext uri="{FF2B5EF4-FFF2-40B4-BE49-F238E27FC236}">
                  <a16:creationId xmlns:a16="http://schemas.microsoft.com/office/drawing/2014/main" id="{07457876-1D46-3192-B9BB-A275D88BBAA5}"/>
                </a:ext>
              </a:extLst>
            </p:cNvPr>
            <p:cNvSpPr/>
            <p:nvPr/>
          </p:nvSpPr>
          <p:spPr>
            <a:xfrm>
              <a:off x="6968157" y="2753919"/>
              <a:ext cx="685931" cy="1647458"/>
            </a:xfrm>
            <a:custGeom>
              <a:avLst/>
              <a:gdLst/>
              <a:ahLst/>
              <a:cxnLst/>
              <a:rect l="l" t="t" r="r" b="b"/>
              <a:pathLst>
                <a:path w="2688" h="6456" extrusionOk="0">
                  <a:moveTo>
                    <a:pt x="1554" y="1"/>
                  </a:moveTo>
                  <a:lnTo>
                    <a:pt x="1552" y="3"/>
                  </a:lnTo>
                  <a:cubicBezTo>
                    <a:pt x="1199" y="421"/>
                    <a:pt x="975" y="932"/>
                    <a:pt x="906" y="1475"/>
                  </a:cubicBezTo>
                  <a:cubicBezTo>
                    <a:pt x="741" y="2750"/>
                    <a:pt x="337" y="4816"/>
                    <a:pt x="146" y="5768"/>
                  </a:cubicBezTo>
                  <a:cubicBezTo>
                    <a:pt x="81" y="6087"/>
                    <a:pt x="0" y="6105"/>
                    <a:pt x="42" y="6280"/>
                  </a:cubicBezTo>
                  <a:cubicBezTo>
                    <a:pt x="58" y="6351"/>
                    <a:pt x="251" y="6456"/>
                    <a:pt x="566" y="6456"/>
                  </a:cubicBezTo>
                  <a:cubicBezTo>
                    <a:pt x="880" y="6456"/>
                    <a:pt x="1145" y="6384"/>
                    <a:pt x="1221" y="6300"/>
                  </a:cubicBezTo>
                  <a:cubicBezTo>
                    <a:pt x="1295" y="6214"/>
                    <a:pt x="1228" y="6104"/>
                    <a:pt x="1254" y="6020"/>
                  </a:cubicBezTo>
                  <a:cubicBezTo>
                    <a:pt x="1993" y="3587"/>
                    <a:pt x="2475" y="3145"/>
                    <a:pt x="2605" y="2506"/>
                  </a:cubicBezTo>
                  <a:cubicBezTo>
                    <a:pt x="2665" y="2207"/>
                    <a:pt x="2687" y="1944"/>
                    <a:pt x="2684" y="1715"/>
                  </a:cubicBezTo>
                  <a:cubicBezTo>
                    <a:pt x="2683" y="1619"/>
                    <a:pt x="2678" y="1530"/>
                    <a:pt x="2670" y="1447"/>
                  </a:cubicBezTo>
                  <a:cubicBezTo>
                    <a:pt x="2613" y="868"/>
                    <a:pt x="2408" y="581"/>
                    <a:pt x="2408" y="581"/>
                  </a:cubicBezTo>
                  <a:lnTo>
                    <a:pt x="1554" y="1"/>
                  </a:lnTo>
                  <a:close/>
                </a:path>
              </a:pathLst>
            </a:custGeom>
            <a:solidFill>
              <a:srgbClr val="000000">
                <a:alpha val="25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981;p45">
              <a:extLst>
                <a:ext uri="{FF2B5EF4-FFF2-40B4-BE49-F238E27FC236}">
                  <a16:creationId xmlns:a16="http://schemas.microsoft.com/office/drawing/2014/main" id="{626BAA6F-D027-B1F1-2765-2142E21AB295}"/>
                </a:ext>
              </a:extLst>
            </p:cNvPr>
            <p:cNvSpPr/>
            <p:nvPr/>
          </p:nvSpPr>
          <p:spPr>
            <a:xfrm>
              <a:off x="7364454" y="2611788"/>
              <a:ext cx="1666087" cy="550429"/>
            </a:xfrm>
            <a:custGeom>
              <a:avLst/>
              <a:gdLst/>
              <a:ahLst/>
              <a:cxnLst/>
              <a:rect l="l" t="t" r="r" b="b"/>
              <a:pathLst>
                <a:path w="6529" h="2157" extrusionOk="0">
                  <a:moveTo>
                    <a:pt x="3597" y="1"/>
                  </a:moveTo>
                  <a:lnTo>
                    <a:pt x="1" y="558"/>
                  </a:lnTo>
                  <a:lnTo>
                    <a:pt x="285" y="2047"/>
                  </a:lnTo>
                  <a:lnTo>
                    <a:pt x="5392" y="2157"/>
                  </a:lnTo>
                  <a:cubicBezTo>
                    <a:pt x="6008" y="2140"/>
                    <a:pt x="6513" y="1647"/>
                    <a:pt x="6529" y="1029"/>
                  </a:cubicBezTo>
                  <a:lnTo>
                    <a:pt x="6529" y="991"/>
                  </a:lnTo>
                  <a:cubicBezTo>
                    <a:pt x="6529" y="637"/>
                    <a:pt x="5545" y="30"/>
                    <a:pt x="5545" y="30"/>
                  </a:cubicBezTo>
                  <a:lnTo>
                    <a:pt x="35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982;p45">
              <a:extLst>
                <a:ext uri="{FF2B5EF4-FFF2-40B4-BE49-F238E27FC236}">
                  <a16:creationId xmlns:a16="http://schemas.microsoft.com/office/drawing/2014/main" id="{9ADC9958-304B-02FC-F7AE-A76DF050F267}"/>
                </a:ext>
              </a:extLst>
            </p:cNvPr>
            <p:cNvSpPr/>
            <p:nvPr/>
          </p:nvSpPr>
          <p:spPr>
            <a:xfrm>
              <a:off x="7828119" y="1195274"/>
              <a:ext cx="506792" cy="647398"/>
            </a:xfrm>
            <a:custGeom>
              <a:avLst/>
              <a:gdLst/>
              <a:ahLst/>
              <a:cxnLst/>
              <a:rect l="l" t="t" r="r" b="b"/>
              <a:pathLst>
                <a:path w="1986" h="2537" extrusionOk="0">
                  <a:moveTo>
                    <a:pt x="1423" y="1"/>
                  </a:moveTo>
                  <a:cubicBezTo>
                    <a:pt x="1400" y="1"/>
                    <a:pt x="1377" y="6"/>
                    <a:pt x="1354" y="19"/>
                  </a:cubicBezTo>
                  <a:cubicBezTo>
                    <a:pt x="1077" y="169"/>
                    <a:pt x="276" y="1708"/>
                    <a:pt x="41" y="2171"/>
                  </a:cubicBezTo>
                  <a:cubicBezTo>
                    <a:pt x="0" y="2249"/>
                    <a:pt x="16" y="2344"/>
                    <a:pt x="77" y="2406"/>
                  </a:cubicBezTo>
                  <a:cubicBezTo>
                    <a:pt x="162" y="2493"/>
                    <a:pt x="276" y="2536"/>
                    <a:pt x="389" y="2536"/>
                  </a:cubicBezTo>
                  <a:cubicBezTo>
                    <a:pt x="490" y="2536"/>
                    <a:pt x="592" y="2502"/>
                    <a:pt x="674" y="2432"/>
                  </a:cubicBezTo>
                  <a:cubicBezTo>
                    <a:pt x="1059" y="2108"/>
                    <a:pt x="1671" y="1569"/>
                    <a:pt x="1804" y="1335"/>
                  </a:cubicBezTo>
                  <a:cubicBezTo>
                    <a:pt x="1985" y="1014"/>
                    <a:pt x="1722" y="1"/>
                    <a:pt x="14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983;p45">
              <a:extLst>
                <a:ext uri="{FF2B5EF4-FFF2-40B4-BE49-F238E27FC236}">
                  <a16:creationId xmlns:a16="http://schemas.microsoft.com/office/drawing/2014/main" id="{A6E0A263-9C47-36F0-56A2-3B459954DAB0}"/>
                </a:ext>
              </a:extLst>
            </p:cNvPr>
            <p:cNvSpPr/>
            <p:nvPr/>
          </p:nvSpPr>
          <p:spPr>
            <a:xfrm>
              <a:off x="7828119" y="1195272"/>
              <a:ext cx="506792" cy="647398"/>
            </a:xfrm>
            <a:custGeom>
              <a:avLst/>
              <a:gdLst/>
              <a:ahLst/>
              <a:cxnLst/>
              <a:rect l="l" t="t" r="r" b="b"/>
              <a:pathLst>
                <a:path w="1986" h="2537" extrusionOk="0">
                  <a:moveTo>
                    <a:pt x="1423" y="1"/>
                  </a:moveTo>
                  <a:cubicBezTo>
                    <a:pt x="1400" y="1"/>
                    <a:pt x="1377" y="6"/>
                    <a:pt x="1354" y="19"/>
                  </a:cubicBezTo>
                  <a:cubicBezTo>
                    <a:pt x="1077" y="169"/>
                    <a:pt x="276" y="1708"/>
                    <a:pt x="41" y="2171"/>
                  </a:cubicBezTo>
                  <a:cubicBezTo>
                    <a:pt x="0" y="2249"/>
                    <a:pt x="16" y="2344"/>
                    <a:pt x="77" y="2406"/>
                  </a:cubicBezTo>
                  <a:cubicBezTo>
                    <a:pt x="162" y="2493"/>
                    <a:pt x="276" y="2536"/>
                    <a:pt x="389" y="2536"/>
                  </a:cubicBezTo>
                  <a:cubicBezTo>
                    <a:pt x="490" y="2536"/>
                    <a:pt x="592" y="2502"/>
                    <a:pt x="674" y="2432"/>
                  </a:cubicBezTo>
                  <a:cubicBezTo>
                    <a:pt x="1059" y="2108"/>
                    <a:pt x="1671" y="1569"/>
                    <a:pt x="1804" y="1335"/>
                  </a:cubicBezTo>
                  <a:cubicBezTo>
                    <a:pt x="1985" y="1014"/>
                    <a:pt x="1722" y="1"/>
                    <a:pt x="1423"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984;p45">
              <a:extLst>
                <a:ext uri="{FF2B5EF4-FFF2-40B4-BE49-F238E27FC236}">
                  <a16:creationId xmlns:a16="http://schemas.microsoft.com/office/drawing/2014/main" id="{2A09DB5E-3386-C5EA-9FDF-B8B50B86427F}"/>
                </a:ext>
              </a:extLst>
            </p:cNvPr>
            <p:cNvSpPr/>
            <p:nvPr/>
          </p:nvSpPr>
          <p:spPr>
            <a:xfrm>
              <a:off x="7364454" y="2611786"/>
              <a:ext cx="1666087" cy="550429"/>
            </a:xfrm>
            <a:custGeom>
              <a:avLst/>
              <a:gdLst/>
              <a:ahLst/>
              <a:cxnLst/>
              <a:rect l="l" t="t" r="r" b="b"/>
              <a:pathLst>
                <a:path w="6529" h="2157" extrusionOk="0">
                  <a:moveTo>
                    <a:pt x="3597" y="1"/>
                  </a:moveTo>
                  <a:lnTo>
                    <a:pt x="1" y="558"/>
                  </a:lnTo>
                  <a:lnTo>
                    <a:pt x="285" y="2047"/>
                  </a:lnTo>
                  <a:lnTo>
                    <a:pt x="5392" y="2157"/>
                  </a:lnTo>
                  <a:cubicBezTo>
                    <a:pt x="6008" y="2140"/>
                    <a:pt x="6513" y="1647"/>
                    <a:pt x="6529" y="1029"/>
                  </a:cubicBezTo>
                  <a:lnTo>
                    <a:pt x="6529" y="991"/>
                  </a:lnTo>
                  <a:cubicBezTo>
                    <a:pt x="6529" y="637"/>
                    <a:pt x="5545" y="30"/>
                    <a:pt x="5545" y="30"/>
                  </a:cubicBezTo>
                  <a:lnTo>
                    <a:pt x="3597" y="1"/>
                  </a:lnTo>
                  <a:close/>
                </a:path>
              </a:pathLst>
            </a:custGeom>
            <a:solidFill>
              <a:srgbClr val="000000">
                <a:alpha val="25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985;p45">
              <a:extLst>
                <a:ext uri="{FF2B5EF4-FFF2-40B4-BE49-F238E27FC236}">
                  <a16:creationId xmlns:a16="http://schemas.microsoft.com/office/drawing/2014/main" id="{9438D98D-8A16-20A5-0B00-2A2CACCD79FE}"/>
                </a:ext>
              </a:extLst>
            </p:cNvPr>
            <p:cNvSpPr/>
            <p:nvPr/>
          </p:nvSpPr>
          <p:spPr>
            <a:xfrm>
              <a:off x="8294591" y="1071256"/>
              <a:ext cx="44402" cy="49760"/>
            </a:xfrm>
            <a:custGeom>
              <a:avLst/>
              <a:gdLst/>
              <a:ahLst/>
              <a:cxnLst/>
              <a:rect l="l" t="t" r="r" b="b"/>
              <a:pathLst>
                <a:path w="174" h="195" extrusionOk="0">
                  <a:moveTo>
                    <a:pt x="132" y="0"/>
                  </a:moveTo>
                  <a:cubicBezTo>
                    <a:pt x="132" y="0"/>
                    <a:pt x="34" y="97"/>
                    <a:pt x="1" y="184"/>
                  </a:cubicBezTo>
                  <a:cubicBezTo>
                    <a:pt x="23" y="192"/>
                    <a:pt x="50" y="195"/>
                    <a:pt x="75" y="195"/>
                  </a:cubicBezTo>
                  <a:cubicBezTo>
                    <a:pt x="126" y="195"/>
                    <a:pt x="173" y="184"/>
                    <a:pt x="173" y="184"/>
                  </a:cubicBezTo>
                  <a:lnTo>
                    <a:pt x="1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986;p45">
              <a:extLst>
                <a:ext uri="{FF2B5EF4-FFF2-40B4-BE49-F238E27FC236}">
                  <a16:creationId xmlns:a16="http://schemas.microsoft.com/office/drawing/2014/main" id="{9C207561-1B6C-E0E6-FEA2-FD5CD276599A}"/>
                </a:ext>
              </a:extLst>
            </p:cNvPr>
            <p:cNvSpPr/>
            <p:nvPr/>
          </p:nvSpPr>
          <p:spPr>
            <a:xfrm>
              <a:off x="7862824" y="897222"/>
              <a:ext cx="106921" cy="119680"/>
            </a:xfrm>
            <a:custGeom>
              <a:avLst/>
              <a:gdLst/>
              <a:ahLst/>
              <a:cxnLst/>
              <a:rect l="l" t="t" r="r" b="b"/>
              <a:pathLst>
                <a:path w="419" h="469" extrusionOk="0">
                  <a:moveTo>
                    <a:pt x="137" y="0"/>
                  </a:moveTo>
                  <a:lnTo>
                    <a:pt x="16" y="7"/>
                  </a:lnTo>
                  <a:lnTo>
                    <a:pt x="1" y="300"/>
                  </a:lnTo>
                  <a:lnTo>
                    <a:pt x="181" y="469"/>
                  </a:lnTo>
                  <a:lnTo>
                    <a:pt x="239" y="460"/>
                  </a:lnTo>
                  <a:lnTo>
                    <a:pt x="418" y="229"/>
                  </a:lnTo>
                  <a:lnTo>
                    <a:pt x="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87;p45">
              <a:extLst>
                <a:ext uri="{FF2B5EF4-FFF2-40B4-BE49-F238E27FC236}">
                  <a16:creationId xmlns:a16="http://schemas.microsoft.com/office/drawing/2014/main" id="{2C9E1524-CB6A-0473-65C4-38B47F5D14E5}"/>
                </a:ext>
              </a:extLst>
            </p:cNvPr>
            <p:cNvSpPr/>
            <p:nvPr/>
          </p:nvSpPr>
          <p:spPr>
            <a:xfrm>
              <a:off x="8044513" y="479490"/>
              <a:ext cx="31643" cy="44912"/>
            </a:xfrm>
            <a:custGeom>
              <a:avLst/>
              <a:gdLst/>
              <a:ahLst/>
              <a:cxnLst/>
              <a:rect l="l" t="t" r="r" b="b"/>
              <a:pathLst>
                <a:path w="124" h="176" extrusionOk="0">
                  <a:moveTo>
                    <a:pt x="61" y="1"/>
                  </a:moveTo>
                  <a:cubicBezTo>
                    <a:pt x="55" y="1"/>
                    <a:pt x="49" y="3"/>
                    <a:pt x="46" y="10"/>
                  </a:cubicBezTo>
                  <a:cubicBezTo>
                    <a:pt x="44" y="10"/>
                    <a:pt x="44" y="10"/>
                    <a:pt x="44" y="11"/>
                  </a:cubicBezTo>
                  <a:lnTo>
                    <a:pt x="1" y="155"/>
                  </a:lnTo>
                  <a:lnTo>
                    <a:pt x="47" y="175"/>
                  </a:lnTo>
                  <a:lnTo>
                    <a:pt x="120" y="42"/>
                  </a:lnTo>
                  <a:cubicBezTo>
                    <a:pt x="121" y="42"/>
                    <a:pt x="121" y="41"/>
                    <a:pt x="121" y="41"/>
                  </a:cubicBezTo>
                  <a:cubicBezTo>
                    <a:pt x="124" y="33"/>
                    <a:pt x="121" y="25"/>
                    <a:pt x="114" y="22"/>
                  </a:cubicBezTo>
                  <a:lnTo>
                    <a:pt x="66" y="1"/>
                  </a:lnTo>
                  <a:cubicBezTo>
                    <a:pt x="64" y="1"/>
                    <a:pt x="62" y="1"/>
                    <a:pt x="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988;p45">
              <a:extLst>
                <a:ext uri="{FF2B5EF4-FFF2-40B4-BE49-F238E27FC236}">
                  <a16:creationId xmlns:a16="http://schemas.microsoft.com/office/drawing/2014/main" id="{1A3C04DD-B476-CD7A-F15D-E4E71349A5E4}"/>
                </a:ext>
              </a:extLst>
            </p:cNvPr>
            <p:cNvSpPr/>
            <p:nvPr/>
          </p:nvSpPr>
          <p:spPr>
            <a:xfrm>
              <a:off x="7907736" y="517767"/>
              <a:ext cx="151323" cy="329695"/>
            </a:xfrm>
            <a:custGeom>
              <a:avLst/>
              <a:gdLst/>
              <a:ahLst/>
              <a:cxnLst/>
              <a:rect l="l" t="t" r="r" b="b"/>
              <a:pathLst>
                <a:path w="593" h="1292" extrusionOk="0">
                  <a:moveTo>
                    <a:pt x="540" y="1"/>
                  </a:moveTo>
                  <a:cubicBezTo>
                    <a:pt x="535" y="1"/>
                    <a:pt x="531" y="3"/>
                    <a:pt x="530" y="7"/>
                  </a:cubicBezTo>
                  <a:lnTo>
                    <a:pt x="1" y="1265"/>
                  </a:lnTo>
                  <a:lnTo>
                    <a:pt x="61" y="1291"/>
                  </a:lnTo>
                  <a:lnTo>
                    <a:pt x="590" y="33"/>
                  </a:lnTo>
                  <a:cubicBezTo>
                    <a:pt x="593" y="28"/>
                    <a:pt x="590" y="21"/>
                    <a:pt x="584" y="18"/>
                  </a:cubicBezTo>
                  <a:lnTo>
                    <a:pt x="545" y="1"/>
                  </a:lnTo>
                  <a:cubicBezTo>
                    <a:pt x="543" y="1"/>
                    <a:pt x="542" y="1"/>
                    <a:pt x="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989;p45">
              <a:extLst>
                <a:ext uri="{FF2B5EF4-FFF2-40B4-BE49-F238E27FC236}">
                  <a16:creationId xmlns:a16="http://schemas.microsoft.com/office/drawing/2014/main" id="{1F2FCFC1-B5BA-DCBB-EE5D-128765F85376}"/>
                </a:ext>
              </a:extLst>
            </p:cNvPr>
            <p:cNvSpPr/>
            <p:nvPr/>
          </p:nvSpPr>
          <p:spPr>
            <a:xfrm>
              <a:off x="8056251" y="479490"/>
              <a:ext cx="19904" cy="10462"/>
            </a:xfrm>
            <a:custGeom>
              <a:avLst/>
              <a:gdLst/>
              <a:ahLst/>
              <a:cxnLst/>
              <a:rect l="l" t="t" r="r" b="b"/>
              <a:pathLst>
                <a:path w="78" h="41" extrusionOk="0">
                  <a:moveTo>
                    <a:pt x="15" y="1"/>
                  </a:moveTo>
                  <a:cubicBezTo>
                    <a:pt x="9" y="1"/>
                    <a:pt x="3" y="3"/>
                    <a:pt x="0" y="10"/>
                  </a:cubicBezTo>
                  <a:lnTo>
                    <a:pt x="75" y="41"/>
                  </a:lnTo>
                  <a:cubicBezTo>
                    <a:pt x="78" y="33"/>
                    <a:pt x="75" y="25"/>
                    <a:pt x="68" y="22"/>
                  </a:cubicBezTo>
                  <a:lnTo>
                    <a:pt x="20" y="1"/>
                  </a:lnTo>
                  <a:cubicBezTo>
                    <a:pt x="18" y="1"/>
                    <a:pt x="16" y="1"/>
                    <a:pt x="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90;p45">
              <a:extLst>
                <a:ext uri="{FF2B5EF4-FFF2-40B4-BE49-F238E27FC236}">
                  <a16:creationId xmlns:a16="http://schemas.microsoft.com/office/drawing/2014/main" id="{C90FBDD3-16A1-E827-9610-0E57AAEC1217}"/>
                </a:ext>
              </a:extLst>
            </p:cNvPr>
            <p:cNvSpPr/>
            <p:nvPr/>
          </p:nvSpPr>
          <p:spPr>
            <a:xfrm>
              <a:off x="7924323" y="767845"/>
              <a:ext cx="41595" cy="21435"/>
            </a:xfrm>
            <a:custGeom>
              <a:avLst/>
              <a:gdLst/>
              <a:ahLst/>
              <a:cxnLst/>
              <a:rect l="l" t="t" r="r" b="b"/>
              <a:pathLst>
                <a:path w="163" h="84" extrusionOk="0">
                  <a:moveTo>
                    <a:pt x="17" y="1"/>
                  </a:moveTo>
                  <a:cubicBezTo>
                    <a:pt x="12" y="1"/>
                    <a:pt x="6" y="4"/>
                    <a:pt x="5" y="9"/>
                  </a:cubicBezTo>
                  <a:lnTo>
                    <a:pt x="1" y="19"/>
                  </a:lnTo>
                  <a:lnTo>
                    <a:pt x="156" y="84"/>
                  </a:lnTo>
                  <a:lnTo>
                    <a:pt x="160" y="74"/>
                  </a:lnTo>
                  <a:cubicBezTo>
                    <a:pt x="163" y="68"/>
                    <a:pt x="160" y="59"/>
                    <a:pt x="151" y="55"/>
                  </a:cubicBezTo>
                  <a:lnTo>
                    <a:pt x="23" y="2"/>
                  </a:lnTo>
                  <a:cubicBezTo>
                    <a:pt x="21" y="1"/>
                    <a:pt x="19" y="1"/>
                    <a:pt x="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991;p45">
              <a:extLst>
                <a:ext uri="{FF2B5EF4-FFF2-40B4-BE49-F238E27FC236}">
                  <a16:creationId xmlns:a16="http://schemas.microsoft.com/office/drawing/2014/main" id="{23006022-4389-58C8-2669-5A8C13F130F7}"/>
                </a:ext>
              </a:extLst>
            </p:cNvPr>
            <p:cNvSpPr/>
            <p:nvPr/>
          </p:nvSpPr>
          <p:spPr>
            <a:xfrm>
              <a:off x="7806939" y="771418"/>
              <a:ext cx="164337" cy="285548"/>
            </a:xfrm>
            <a:custGeom>
              <a:avLst/>
              <a:gdLst/>
              <a:ahLst/>
              <a:cxnLst/>
              <a:rect l="l" t="t" r="r" b="b"/>
              <a:pathLst>
                <a:path w="644" h="1119" extrusionOk="0">
                  <a:moveTo>
                    <a:pt x="450" y="0"/>
                  </a:moveTo>
                  <a:cubicBezTo>
                    <a:pt x="435" y="0"/>
                    <a:pt x="420" y="6"/>
                    <a:pt x="409" y="19"/>
                  </a:cubicBezTo>
                  <a:lnTo>
                    <a:pt x="400" y="29"/>
                  </a:lnTo>
                  <a:cubicBezTo>
                    <a:pt x="387" y="44"/>
                    <a:pt x="379" y="62"/>
                    <a:pt x="378" y="82"/>
                  </a:cubicBezTo>
                  <a:cubicBezTo>
                    <a:pt x="378" y="90"/>
                    <a:pt x="378" y="98"/>
                    <a:pt x="377" y="106"/>
                  </a:cubicBezTo>
                  <a:cubicBezTo>
                    <a:pt x="375" y="114"/>
                    <a:pt x="374" y="124"/>
                    <a:pt x="372" y="134"/>
                  </a:cubicBezTo>
                  <a:cubicBezTo>
                    <a:pt x="368" y="150"/>
                    <a:pt x="362" y="168"/>
                    <a:pt x="356" y="183"/>
                  </a:cubicBezTo>
                  <a:lnTo>
                    <a:pt x="289" y="344"/>
                  </a:lnTo>
                  <a:cubicBezTo>
                    <a:pt x="270" y="387"/>
                    <a:pt x="233" y="454"/>
                    <a:pt x="204" y="493"/>
                  </a:cubicBezTo>
                  <a:cubicBezTo>
                    <a:pt x="199" y="500"/>
                    <a:pt x="196" y="505"/>
                    <a:pt x="191" y="511"/>
                  </a:cubicBezTo>
                  <a:cubicBezTo>
                    <a:pt x="142" y="572"/>
                    <a:pt x="96" y="650"/>
                    <a:pt x="59" y="741"/>
                  </a:cubicBezTo>
                  <a:cubicBezTo>
                    <a:pt x="16" y="842"/>
                    <a:pt x="1" y="917"/>
                    <a:pt x="3" y="974"/>
                  </a:cubicBezTo>
                  <a:cubicBezTo>
                    <a:pt x="6" y="1021"/>
                    <a:pt x="22" y="1057"/>
                    <a:pt x="47" y="1079"/>
                  </a:cubicBezTo>
                  <a:cubicBezTo>
                    <a:pt x="59" y="1091"/>
                    <a:pt x="74" y="1100"/>
                    <a:pt x="90" y="1106"/>
                  </a:cubicBezTo>
                  <a:cubicBezTo>
                    <a:pt x="105" y="1113"/>
                    <a:pt x="122" y="1117"/>
                    <a:pt x="139" y="1119"/>
                  </a:cubicBezTo>
                  <a:cubicBezTo>
                    <a:pt x="141" y="1119"/>
                    <a:pt x="142" y="1119"/>
                    <a:pt x="143" y="1119"/>
                  </a:cubicBezTo>
                  <a:cubicBezTo>
                    <a:pt x="175" y="1119"/>
                    <a:pt x="210" y="1107"/>
                    <a:pt x="245" y="1075"/>
                  </a:cubicBezTo>
                  <a:cubicBezTo>
                    <a:pt x="287" y="1038"/>
                    <a:pt x="330" y="974"/>
                    <a:pt x="373" y="873"/>
                  </a:cubicBezTo>
                  <a:cubicBezTo>
                    <a:pt x="411" y="783"/>
                    <a:pt x="435" y="695"/>
                    <a:pt x="445" y="618"/>
                  </a:cubicBezTo>
                  <a:lnTo>
                    <a:pt x="449" y="595"/>
                  </a:lnTo>
                  <a:cubicBezTo>
                    <a:pt x="456" y="548"/>
                    <a:pt x="480" y="474"/>
                    <a:pt x="498" y="429"/>
                  </a:cubicBezTo>
                  <a:lnTo>
                    <a:pt x="565" y="269"/>
                  </a:lnTo>
                  <a:cubicBezTo>
                    <a:pt x="570" y="257"/>
                    <a:pt x="576" y="244"/>
                    <a:pt x="584" y="233"/>
                  </a:cubicBezTo>
                  <a:cubicBezTo>
                    <a:pt x="594" y="215"/>
                    <a:pt x="606" y="199"/>
                    <a:pt x="621" y="183"/>
                  </a:cubicBezTo>
                  <a:cubicBezTo>
                    <a:pt x="627" y="176"/>
                    <a:pt x="632" y="168"/>
                    <a:pt x="636" y="159"/>
                  </a:cubicBezTo>
                  <a:cubicBezTo>
                    <a:pt x="640" y="149"/>
                    <a:pt x="642" y="140"/>
                    <a:pt x="642" y="130"/>
                  </a:cubicBezTo>
                  <a:lnTo>
                    <a:pt x="642" y="116"/>
                  </a:lnTo>
                  <a:cubicBezTo>
                    <a:pt x="644" y="92"/>
                    <a:pt x="630" y="72"/>
                    <a:pt x="609" y="62"/>
                  </a:cubicBezTo>
                  <a:lnTo>
                    <a:pt x="471" y="5"/>
                  </a:lnTo>
                  <a:cubicBezTo>
                    <a:pt x="464" y="2"/>
                    <a:pt x="457" y="0"/>
                    <a:pt x="4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992;p45">
              <a:extLst>
                <a:ext uri="{FF2B5EF4-FFF2-40B4-BE49-F238E27FC236}">
                  <a16:creationId xmlns:a16="http://schemas.microsoft.com/office/drawing/2014/main" id="{E1E24ADD-CB80-5D1A-5898-9EC8B2C64D27}"/>
                </a:ext>
              </a:extLst>
            </p:cNvPr>
            <p:cNvSpPr/>
            <p:nvPr/>
          </p:nvSpPr>
          <p:spPr>
            <a:xfrm>
              <a:off x="7819188" y="870683"/>
              <a:ext cx="95438" cy="186283"/>
            </a:xfrm>
            <a:custGeom>
              <a:avLst/>
              <a:gdLst/>
              <a:ahLst/>
              <a:cxnLst/>
              <a:rect l="l" t="t" r="r" b="b"/>
              <a:pathLst>
                <a:path w="374" h="730" extrusionOk="0">
                  <a:moveTo>
                    <a:pt x="324" y="0"/>
                  </a:moveTo>
                  <a:cubicBezTo>
                    <a:pt x="303" y="0"/>
                    <a:pt x="284" y="14"/>
                    <a:pt x="277" y="34"/>
                  </a:cubicBezTo>
                  <a:lnTo>
                    <a:pt x="0" y="690"/>
                  </a:lnTo>
                  <a:cubicBezTo>
                    <a:pt x="12" y="702"/>
                    <a:pt x="27" y="711"/>
                    <a:pt x="43" y="717"/>
                  </a:cubicBezTo>
                  <a:cubicBezTo>
                    <a:pt x="58" y="724"/>
                    <a:pt x="76" y="728"/>
                    <a:pt x="92" y="730"/>
                  </a:cubicBezTo>
                  <a:lnTo>
                    <a:pt x="368" y="70"/>
                  </a:lnTo>
                  <a:cubicBezTo>
                    <a:pt x="373" y="58"/>
                    <a:pt x="373" y="43"/>
                    <a:pt x="368" y="32"/>
                  </a:cubicBezTo>
                  <a:cubicBezTo>
                    <a:pt x="363" y="20"/>
                    <a:pt x="355" y="9"/>
                    <a:pt x="342" y="4"/>
                  </a:cubicBezTo>
                  <a:cubicBezTo>
                    <a:pt x="336" y="1"/>
                    <a:pt x="330"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993;p45">
              <a:extLst>
                <a:ext uri="{FF2B5EF4-FFF2-40B4-BE49-F238E27FC236}">
                  <a16:creationId xmlns:a16="http://schemas.microsoft.com/office/drawing/2014/main" id="{E03524C5-02B5-DF53-E219-DF1D8ECE566F}"/>
                </a:ext>
              </a:extLst>
            </p:cNvPr>
            <p:cNvSpPr/>
            <p:nvPr/>
          </p:nvSpPr>
          <p:spPr>
            <a:xfrm>
              <a:off x="7806939" y="895946"/>
              <a:ext cx="53078" cy="124018"/>
            </a:xfrm>
            <a:custGeom>
              <a:avLst/>
              <a:gdLst/>
              <a:ahLst/>
              <a:cxnLst/>
              <a:rect l="l" t="t" r="r" b="b"/>
              <a:pathLst>
                <a:path w="208" h="486" extrusionOk="0">
                  <a:moveTo>
                    <a:pt x="207" y="0"/>
                  </a:moveTo>
                  <a:lnTo>
                    <a:pt x="207" y="0"/>
                  </a:lnTo>
                  <a:cubicBezTo>
                    <a:pt x="202" y="7"/>
                    <a:pt x="196" y="16"/>
                    <a:pt x="191" y="23"/>
                  </a:cubicBezTo>
                  <a:cubicBezTo>
                    <a:pt x="142" y="84"/>
                    <a:pt x="96" y="162"/>
                    <a:pt x="59" y="253"/>
                  </a:cubicBezTo>
                  <a:cubicBezTo>
                    <a:pt x="16" y="354"/>
                    <a:pt x="1" y="429"/>
                    <a:pt x="3" y="486"/>
                  </a:cubicBezTo>
                  <a:lnTo>
                    <a:pt x="207" y="0"/>
                  </a:lnTo>
                  <a:close/>
                </a:path>
              </a:pathLst>
            </a:custGeom>
            <a:solidFill>
              <a:srgbClr val="90A9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994;p45">
              <a:extLst>
                <a:ext uri="{FF2B5EF4-FFF2-40B4-BE49-F238E27FC236}">
                  <a16:creationId xmlns:a16="http://schemas.microsoft.com/office/drawing/2014/main" id="{BD09D5AB-9AA6-1133-01A3-29BF7B69F7EE}"/>
                </a:ext>
              </a:extLst>
            </p:cNvPr>
            <p:cNvSpPr/>
            <p:nvPr/>
          </p:nvSpPr>
          <p:spPr>
            <a:xfrm>
              <a:off x="7869203" y="921720"/>
              <a:ext cx="52567" cy="124273"/>
            </a:xfrm>
            <a:custGeom>
              <a:avLst/>
              <a:gdLst/>
              <a:ahLst/>
              <a:cxnLst/>
              <a:rect l="l" t="t" r="r" b="b"/>
              <a:pathLst>
                <a:path w="206" h="487" extrusionOk="0">
                  <a:moveTo>
                    <a:pt x="205" y="0"/>
                  </a:moveTo>
                  <a:lnTo>
                    <a:pt x="1" y="486"/>
                  </a:lnTo>
                  <a:cubicBezTo>
                    <a:pt x="43" y="449"/>
                    <a:pt x="85" y="385"/>
                    <a:pt x="129" y="284"/>
                  </a:cubicBezTo>
                  <a:cubicBezTo>
                    <a:pt x="167" y="194"/>
                    <a:pt x="191" y="106"/>
                    <a:pt x="201" y="29"/>
                  </a:cubicBezTo>
                  <a:cubicBezTo>
                    <a:pt x="202" y="20"/>
                    <a:pt x="203" y="1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995;p45">
              <a:extLst>
                <a:ext uri="{FF2B5EF4-FFF2-40B4-BE49-F238E27FC236}">
                  <a16:creationId xmlns:a16="http://schemas.microsoft.com/office/drawing/2014/main" id="{B877587B-DBD1-B225-D935-531F15D5840E}"/>
                </a:ext>
              </a:extLst>
            </p:cNvPr>
            <p:cNvSpPr/>
            <p:nvPr/>
          </p:nvSpPr>
          <p:spPr>
            <a:xfrm>
              <a:off x="7902887" y="771162"/>
              <a:ext cx="68389" cy="51292"/>
            </a:xfrm>
            <a:custGeom>
              <a:avLst/>
              <a:gdLst/>
              <a:ahLst/>
              <a:cxnLst/>
              <a:rect l="l" t="t" r="r" b="b"/>
              <a:pathLst>
                <a:path w="268" h="201" extrusionOk="0">
                  <a:moveTo>
                    <a:pt x="73" y="1"/>
                  </a:moveTo>
                  <a:cubicBezTo>
                    <a:pt x="58" y="1"/>
                    <a:pt x="44" y="7"/>
                    <a:pt x="33" y="17"/>
                  </a:cubicBezTo>
                  <a:lnTo>
                    <a:pt x="24" y="27"/>
                  </a:lnTo>
                  <a:cubicBezTo>
                    <a:pt x="11" y="42"/>
                    <a:pt x="3" y="61"/>
                    <a:pt x="2" y="81"/>
                  </a:cubicBezTo>
                  <a:cubicBezTo>
                    <a:pt x="2" y="88"/>
                    <a:pt x="2" y="97"/>
                    <a:pt x="1" y="104"/>
                  </a:cubicBezTo>
                  <a:lnTo>
                    <a:pt x="230" y="201"/>
                  </a:lnTo>
                  <a:cubicBezTo>
                    <a:pt x="234" y="196"/>
                    <a:pt x="240" y="190"/>
                    <a:pt x="245" y="184"/>
                  </a:cubicBezTo>
                  <a:cubicBezTo>
                    <a:pt x="251" y="177"/>
                    <a:pt x="256" y="169"/>
                    <a:pt x="260" y="160"/>
                  </a:cubicBezTo>
                  <a:cubicBezTo>
                    <a:pt x="264" y="150"/>
                    <a:pt x="266" y="141"/>
                    <a:pt x="266" y="131"/>
                  </a:cubicBezTo>
                  <a:lnTo>
                    <a:pt x="266" y="117"/>
                  </a:lnTo>
                  <a:cubicBezTo>
                    <a:pt x="268" y="93"/>
                    <a:pt x="254" y="73"/>
                    <a:pt x="233" y="63"/>
                  </a:cubicBezTo>
                  <a:lnTo>
                    <a:pt x="95" y="6"/>
                  </a:lnTo>
                  <a:cubicBezTo>
                    <a:pt x="88" y="2"/>
                    <a:pt x="81" y="1"/>
                    <a:pt x="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996;p45">
              <a:extLst>
                <a:ext uri="{FF2B5EF4-FFF2-40B4-BE49-F238E27FC236}">
                  <a16:creationId xmlns:a16="http://schemas.microsoft.com/office/drawing/2014/main" id="{A97EEB5F-20A5-3AB0-3461-2AB9910F8F86}"/>
                </a:ext>
              </a:extLst>
            </p:cNvPr>
            <p:cNvSpPr/>
            <p:nvPr/>
          </p:nvSpPr>
          <p:spPr>
            <a:xfrm>
              <a:off x="7825822" y="1026599"/>
              <a:ext cx="22201" cy="19394"/>
            </a:xfrm>
            <a:custGeom>
              <a:avLst/>
              <a:gdLst/>
              <a:ahLst/>
              <a:cxnLst/>
              <a:rect l="l" t="t" r="r" b="b"/>
              <a:pathLst>
                <a:path w="87" h="76" extrusionOk="0">
                  <a:moveTo>
                    <a:pt x="45" y="0"/>
                  </a:moveTo>
                  <a:cubicBezTo>
                    <a:pt x="31" y="0"/>
                    <a:pt x="17" y="9"/>
                    <a:pt x="9" y="22"/>
                  </a:cubicBezTo>
                  <a:cubicBezTo>
                    <a:pt x="0" y="42"/>
                    <a:pt x="9" y="64"/>
                    <a:pt x="29" y="72"/>
                  </a:cubicBezTo>
                  <a:cubicBezTo>
                    <a:pt x="34" y="74"/>
                    <a:pt x="39" y="75"/>
                    <a:pt x="44" y="75"/>
                  </a:cubicBezTo>
                  <a:cubicBezTo>
                    <a:pt x="58" y="75"/>
                    <a:pt x="72" y="67"/>
                    <a:pt x="78" y="52"/>
                  </a:cubicBezTo>
                  <a:cubicBezTo>
                    <a:pt x="87" y="33"/>
                    <a:pt x="78" y="11"/>
                    <a:pt x="58" y="3"/>
                  </a:cubicBezTo>
                  <a:cubicBezTo>
                    <a:pt x="54" y="1"/>
                    <a:pt x="50"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97;p45">
              <a:extLst>
                <a:ext uri="{FF2B5EF4-FFF2-40B4-BE49-F238E27FC236}">
                  <a16:creationId xmlns:a16="http://schemas.microsoft.com/office/drawing/2014/main" id="{8536DF56-C527-A230-52F5-E407ABE87DC9}"/>
                </a:ext>
              </a:extLst>
            </p:cNvPr>
            <p:cNvSpPr/>
            <p:nvPr/>
          </p:nvSpPr>
          <p:spPr>
            <a:xfrm>
              <a:off x="7814850" y="851289"/>
              <a:ext cx="76810" cy="55630"/>
            </a:xfrm>
            <a:custGeom>
              <a:avLst/>
              <a:gdLst/>
              <a:ahLst/>
              <a:cxnLst/>
              <a:rect l="l" t="t" r="r" b="b"/>
              <a:pathLst>
                <a:path w="301" h="218" extrusionOk="0">
                  <a:moveTo>
                    <a:pt x="95" y="0"/>
                  </a:moveTo>
                  <a:cubicBezTo>
                    <a:pt x="69" y="0"/>
                    <a:pt x="45" y="14"/>
                    <a:pt x="33" y="39"/>
                  </a:cubicBezTo>
                  <a:lnTo>
                    <a:pt x="18" y="69"/>
                  </a:lnTo>
                  <a:cubicBezTo>
                    <a:pt x="1" y="105"/>
                    <a:pt x="18" y="149"/>
                    <a:pt x="59" y="163"/>
                  </a:cubicBezTo>
                  <a:lnTo>
                    <a:pt x="202" y="213"/>
                  </a:lnTo>
                  <a:cubicBezTo>
                    <a:pt x="209" y="216"/>
                    <a:pt x="217" y="217"/>
                    <a:pt x="224" y="217"/>
                  </a:cubicBezTo>
                  <a:cubicBezTo>
                    <a:pt x="249" y="217"/>
                    <a:pt x="274" y="202"/>
                    <a:pt x="286" y="178"/>
                  </a:cubicBezTo>
                  <a:cubicBezTo>
                    <a:pt x="300" y="147"/>
                    <a:pt x="290" y="109"/>
                    <a:pt x="260" y="90"/>
                  </a:cubicBezTo>
                  <a:lnTo>
                    <a:pt x="131" y="11"/>
                  </a:lnTo>
                  <a:cubicBezTo>
                    <a:pt x="119" y="4"/>
                    <a:pt x="107"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98;p45">
              <a:extLst>
                <a:ext uri="{FF2B5EF4-FFF2-40B4-BE49-F238E27FC236}">
                  <a16:creationId xmlns:a16="http://schemas.microsoft.com/office/drawing/2014/main" id="{2BD2C11C-5C8E-5C71-8282-48F386E6875E}"/>
                </a:ext>
              </a:extLst>
            </p:cNvPr>
            <p:cNvSpPr/>
            <p:nvPr/>
          </p:nvSpPr>
          <p:spPr>
            <a:xfrm>
              <a:off x="7799283" y="888546"/>
              <a:ext cx="82934" cy="53843"/>
            </a:xfrm>
            <a:custGeom>
              <a:avLst/>
              <a:gdLst/>
              <a:ahLst/>
              <a:cxnLst/>
              <a:rect l="l" t="t" r="r" b="b"/>
              <a:pathLst>
                <a:path w="325" h="211" extrusionOk="0">
                  <a:moveTo>
                    <a:pt x="95" y="1"/>
                  </a:moveTo>
                  <a:cubicBezTo>
                    <a:pt x="63" y="1"/>
                    <a:pt x="34" y="21"/>
                    <a:pt x="25" y="53"/>
                  </a:cubicBezTo>
                  <a:lnTo>
                    <a:pt x="14" y="87"/>
                  </a:lnTo>
                  <a:cubicBezTo>
                    <a:pt x="1" y="128"/>
                    <a:pt x="27" y="172"/>
                    <a:pt x="71" y="180"/>
                  </a:cubicBezTo>
                  <a:lnTo>
                    <a:pt x="229" y="209"/>
                  </a:lnTo>
                  <a:cubicBezTo>
                    <a:pt x="235" y="210"/>
                    <a:pt x="240" y="211"/>
                    <a:pt x="245" y="211"/>
                  </a:cubicBezTo>
                  <a:cubicBezTo>
                    <a:pt x="277" y="211"/>
                    <a:pt x="305" y="190"/>
                    <a:pt x="314" y="159"/>
                  </a:cubicBezTo>
                  <a:cubicBezTo>
                    <a:pt x="324" y="123"/>
                    <a:pt x="307" y="84"/>
                    <a:pt x="273" y="70"/>
                  </a:cubicBezTo>
                  <a:lnTo>
                    <a:pt x="123" y="6"/>
                  </a:lnTo>
                  <a:cubicBezTo>
                    <a:pt x="113" y="3"/>
                    <a:pt x="104" y="1"/>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99;p45">
              <a:extLst>
                <a:ext uri="{FF2B5EF4-FFF2-40B4-BE49-F238E27FC236}">
                  <a16:creationId xmlns:a16="http://schemas.microsoft.com/office/drawing/2014/main" id="{51E76B44-3B7A-7229-3D78-B4822FA21DC2}"/>
                </a:ext>
              </a:extLst>
            </p:cNvPr>
            <p:cNvSpPr/>
            <p:nvPr/>
          </p:nvSpPr>
          <p:spPr>
            <a:xfrm>
              <a:off x="7793925" y="932692"/>
              <a:ext cx="76299" cy="45167"/>
            </a:xfrm>
            <a:custGeom>
              <a:avLst/>
              <a:gdLst/>
              <a:ahLst/>
              <a:cxnLst/>
              <a:rect l="l" t="t" r="r" b="b"/>
              <a:pathLst>
                <a:path w="299" h="177" extrusionOk="0">
                  <a:moveTo>
                    <a:pt x="77" y="1"/>
                  </a:moveTo>
                  <a:cubicBezTo>
                    <a:pt x="43" y="1"/>
                    <a:pt x="14" y="27"/>
                    <a:pt x="9" y="61"/>
                  </a:cubicBezTo>
                  <a:lnTo>
                    <a:pt x="5" y="94"/>
                  </a:lnTo>
                  <a:cubicBezTo>
                    <a:pt x="0" y="135"/>
                    <a:pt x="31" y="171"/>
                    <a:pt x="71" y="173"/>
                  </a:cubicBezTo>
                  <a:lnTo>
                    <a:pt x="223" y="177"/>
                  </a:lnTo>
                  <a:cubicBezTo>
                    <a:pt x="258" y="177"/>
                    <a:pt x="289" y="151"/>
                    <a:pt x="294" y="116"/>
                  </a:cubicBezTo>
                  <a:cubicBezTo>
                    <a:pt x="299" y="80"/>
                    <a:pt x="275" y="47"/>
                    <a:pt x="242" y="39"/>
                  </a:cubicBezTo>
                  <a:lnTo>
                    <a:pt x="93" y="3"/>
                  </a:lnTo>
                  <a:cubicBezTo>
                    <a:pt x="87" y="2"/>
                    <a:pt x="82" y="1"/>
                    <a:pt x="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000;p45">
              <a:extLst>
                <a:ext uri="{FF2B5EF4-FFF2-40B4-BE49-F238E27FC236}">
                  <a16:creationId xmlns:a16="http://schemas.microsoft.com/office/drawing/2014/main" id="{806A13F8-509D-27B9-D696-D76D9D35433D}"/>
                </a:ext>
              </a:extLst>
            </p:cNvPr>
            <p:cNvSpPr/>
            <p:nvPr/>
          </p:nvSpPr>
          <p:spPr>
            <a:xfrm>
              <a:off x="7794435" y="977094"/>
              <a:ext cx="71196" cy="41084"/>
            </a:xfrm>
            <a:custGeom>
              <a:avLst/>
              <a:gdLst/>
              <a:ahLst/>
              <a:cxnLst/>
              <a:rect l="l" t="t" r="r" b="b"/>
              <a:pathLst>
                <a:path w="279" h="161" extrusionOk="0">
                  <a:moveTo>
                    <a:pt x="69" y="0"/>
                  </a:moveTo>
                  <a:cubicBezTo>
                    <a:pt x="30" y="0"/>
                    <a:pt x="0" y="32"/>
                    <a:pt x="4" y="71"/>
                  </a:cubicBezTo>
                  <a:lnTo>
                    <a:pt x="7" y="102"/>
                  </a:lnTo>
                  <a:cubicBezTo>
                    <a:pt x="9" y="135"/>
                    <a:pt x="37" y="160"/>
                    <a:pt x="70" y="160"/>
                  </a:cubicBezTo>
                  <a:cubicBezTo>
                    <a:pt x="75" y="160"/>
                    <a:pt x="80" y="160"/>
                    <a:pt x="85" y="159"/>
                  </a:cubicBezTo>
                  <a:lnTo>
                    <a:pt x="224" y="130"/>
                  </a:lnTo>
                  <a:cubicBezTo>
                    <a:pt x="256" y="123"/>
                    <a:pt x="278" y="94"/>
                    <a:pt x="276" y="61"/>
                  </a:cubicBezTo>
                  <a:cubicBezTo>
                    <a:pt x="272" y="29"/>
                    <a:pt x="245" y="4"/>
                    <a:pt x="212" y="4"/>
                  </a:cubicBezTo>
                  <a:lnTo>
                    <a:pt x="70" y="1"/>
                  </a:lnTo>
                  <a:cubicBezTo>
                    <a:pt x="70" y="0"/>
                    <a:pt x="69" y="0"/>
                    <a:pt x="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001;p45">
              <a:extLst>
                <a:ext uri="{FF2B5EF4-FFF2-40B4-BE49-F238E27FC236}">
                  <a16:creationId xmlns:a16="http://schemas.microsoft.com/office/drawing/2014/main" id="{91FB68EC-E5A7-0F4A-4F95-2D039DEC0B6A}"/>
                </a:ext>
              </a:extLst>
            </p:cNvPr>
            <p:cNvSpPr/>
            <p:nvPr/>
          </p:nvSpPr>
          <p:spPr>
            <a:xfrm>
              <a:off x="7852106" y="872214"/>
              <a:ext cx="161020" cy="196745"/>
            </a:xfrm>
            <a:custGeom>
              <a:avLst/>
              <a:gdLst/>
              <a:ahLst/>
              <a:cxnLst/>
              <a:rect l="l" t="t" r="r" b="b"/>
              <a:pathLst>
                <a:path w="631" h="771" extrusionOk="0">
                  <a:moveTo>
                    <a:pt x="213" y="1"/>
                  </a:moveTo>
                  <a:cubicBezTo>
                    <a:pt x="189" y="1"/>
                    <a:pt x="164" y="5"/>
                    <a:pt x="141" y="14"/>
                  </a:cubicBezTo>
                  <a:lnTo>
                    <a:pt x="23" y="59"/>
                  </a:lnTo>
                  <a:cubicBezTo>
                    <a:pt x="8" y="64"/>
                    <a:pt x="0" y="81"/>
                    <a:pt x="6" y="96"/>
                  </a:cubicBezTo>
                  <a:lnTo>
                    <a:pt x="7" y="99"/>
                  </a:lnTo>
                  <a:cubicBezTo>
                    <a:pt x="20" y="136"/>
                    <a:pt x="53" y="161"/>
                    <a:pt x="92" y="162"/>
                  </a:cubicBezTo>
                  <a:lnTo>
                    <a:pt x="219" y="168"/>
                  </a:lnTo>
                  <a:lnTo>
                    <a:pt x="289" y="231"/>
                  </a:lnTo>
                  <a:cubicBezTo>
                    <a:pt x="339" y="277"/>
                    <a:pt x="329" y="359"/>
                    <a:pt x="269" y="394"/>
                  </a:cubicBezTo>
                  <a:cubicBezTo>
                    <a:pt x="192" y="437"/>
                    <a:pt x="89" y="518"/>
                    <a:pt x="87" y="678"/>
                  </a:cubicBezTo>
                  <a:lnTo>
                    <a:pt x="531" y="770"/>
                  </a:lnTo>
                  <a:lnTo>
                    <a:pt x="614" y="370"/>
                  </a:lnTo>
                  <a:cubicBezTo>
                    <a:pt x="631" y="291"/>
                    <a:pt x="596" y="208"/>
                    <a:pt x="528" y="162"/>
                  </a:cubicBezTo>
                  <a:lnTo>
                    <a:pt x="326" y="33"/>
                  </a:lnTo>
                  <a:cubicBezTo>
                    <a:pt x="292" y="12"/>
                    <a:pt x="253" y="1"/>
                    <a:pt x="2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002;p45">
              <a:extLst>
                <a:ext uri="{FF2B5EF4-FFF2-40B4-BE49-F238E27FC236}">
                  <a16:creationId xmlns:a16="http://schemas.microsoft.com/office/drawing/2014/main" id="{F20BE0E7-DDAC-54B9-C694-D2EEBA7BC580}"/>
                </a:ext>
              </a:extLst>
            </p:cNvPr>
            <p:cNvSpPr/>
            <p:nvPr/>
          </p:nvSpPr>
          <p:spPr>
            <a:xfrm>
              <a:off x="7793925" y="1168480"/>
              <a:ext cx="202869" cy="66092"/>
            </a:xfrm>
            <a:custGeom>
              <a:avLst/>
              <a:gdLst/>
              <a:ahLst/>
              <a:cxnLst/>
              <a:rect l="l" t="t" r="r" b="b"/>
              <a:pathLst>
                <a:path w="795" h="259" extrusionOk="0">
                  <a:moveTo>
                    <a:pt x="616" y="1"/>
                  </a:moveTo>
                  <a:cubicBezTo>
                    <a:pt x="549" y="1"/>
                    <a:pt x="468" y="9"/>
                    <a:pt x="382" y="26"/>
                  </a:cubicBezTo>
                  <a:cubicBezTo>
                    <a:pt x="166" y="69"/>
                    <a:pt x="0" y="150"/>
                    <a:pt x="11" y="206"/>
                  </a:cubicBezTo>
                  <a:cubicBezTo>
                    <a:pt x="19" y="241"/>
                    <a:pt x="85" y="259"/>
                    <a:pt x="182" y="259"/>
                  </a:cubicBezTo>
                  <a:cubicBezTo>
                    <a:pt x="192" y="259"/>
                    <a:pt x="203" y="259"/>
                    <a:pt x="214" y="258"/>
                  </a:cubicBezTo>
                  <a:cubicBezTo>
                    <a:pt x="275" y="257"/>
                    <a:pt x="347" y="248"/>
                    <a:pt x="423" y="234"/>
                  </a:cubicBezTo>
                  <a:cubicBezTo>
                    <a:pt x="564" y="206"/>
                    <a:pt x="686" y="162"/>
                    <a:pt x="748" y="118"/>
                  </a:cubicBezTo>
                  <a:cubicBezTo>
                    <a:pt x="772" y="101"/>
                    <a:pt x="788" y="84"/>
                    <a:pt x="792" y="69"/>
                  </a:cubicBezTo>
                  <a:cubicBezTo>
                    <a:pt x="793" y="64"/>
                    <a:pt x="795" y="59"/>
                    <a:pt x="793" y="53"/>
                  </a:cubicBezTo>
                  <a:cubicBezTo>
                    <a:pt x="786" y="19"/>
                    <a:pt x="717" y="1"/>
                    <a:pt x="6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003;p45">
              <a:extLst>
                <a:ext uri="{FF2B5EF4-FFF2-40B4-BE49-F238E27FC236}">
                  <a16:creationId xmlns:a16="http://schemas.microsoft.com/office/drawing/2014/main" id="{EFDA6C5E-3DD4-CE83-EC48-27AD5DCFE924}"/>
                </a:ext>
              </a:extLst>
            </p:cNvPr>
            <p:cNvSpPr/>
            <p:nvPr/>
          </p:nvSpPr>
          <p:spPr>
            <a:xfrm>
              <a:off x="7775041" y="1185833"/>
              <a:ext cx="241147" cy="654543"/>
            </a:xfrm>
            <a:custGeom>
              <a:avLst/>
              <a:gdLst/>
              <a:ahLst/>
              <a:cxnLst/>
              <a:rect l="l" t="t" r="r" b="b"/>
              <a:pathLst>
                <a:path w="945" h="2565" extrusionOk="0">
                  <a:moveTo>
                    <a:pt x="866" y="1"/>
                  </a:moveTo>
                  <a:cubicBezTo>
                    <a:pt x="862" y="16"/>
                    <a:pt x="846" y="33"/>
                    <a:pt x="822" y="50"/>
                  </a:cubicBezTo>
                  <a:cubicBezTo>
                    <a:pt x="760" y="94"/>
                    <a:pt x="638" y="138"/>
                    <a:pt x="497" y="166"/>
                  </a:cubicBezTo>
                  <a:cubicBezTo>
                    <a:pt x="421" y="180"/>
                    <a:pt x="349" y="189"/>
                    <a:pt x="288" y="190"/>
                  </a:cubicBezTo>
                  <a:cubicBezTo>
                    <a:pt x="277" y="191"/>
                    <a:pt x="266" y="191"/>
                    <a:pt x="256" y="191"/>
                  </a:cubicBezTo>
                  <a:cubicBezTo>
                    <a:pt x="159" y="191"/>
                    <a:pt x="93" y="173"/>
                    <a:pt x="85" y="138"/>
                  </a:cubicBezTo>
                  <a:lnTo>
                    <a:pt x="85" y="138"/>
                  </a:lnTo>
                  <a:cubicBezTo>
                    <a:pt x="85" y="139"/>
                    <a:pt x="1" y="1838"/>
                    <a:pt x="147" y="2246"/>
                  </a:cubicBezTo>
                  <a:cubicBezTo>
                    <a:pt x="151" y="2254"/>
                    <a:pt x="153" y="2260"/>
                    <a:pt x="156" y="2265"/>
                  </a:cubicBezTo>
                  <a:cubicBezTo>
                    <a:pt x="192" y="2338"/>
                    <a:pt x="246" y="2405"/>
                    <a:pt x="307" y="2464"/>
                  </a:cubicBezTo>
                  <a:cubicBezTo>
                    <a:pt x="376" y="2532"/>
                    <a:pt x="463" y="2565"/>
                    <a:pt x="549" y="2565"/>
                  </a:cubicBezTo>
                  <a:cubicBezTo>
                    <a:pt x="690" y="2565"/>
                    <a:pt x="827" y="2479"/>
                    <a:pt x="877" y="2328"/>
                  </a:cubicBezTo>
                  <a:cubicBezTo>
                    <a:pt x="898" y="2266"/>
                    <a:pt x="916" y="2200"/>
                    <a:pt x="928" y="2133"/>
                  </a:cubicBezTo>
                  <a:cubicBezTo>
                    <a:pt x="944" y="2039"/>
                    <a:pt x="937" y="1991"/>
                    <a:pt x="920" y="1905"/>
                  </a:cubicBezTo>
                  <a:cubicBezTo>
                    <a:pt x="920" y="1894"/>
                    <a:pt x="843" y="400"/>
                    <a:pt x="8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004;p45">
              <a:extLst>
                <a:ext uri="{FF2B5EF4-FFF2-40B4-BE49-F238E27FC236}">
                  <a16:creationId xmlns:a16="http://schemas.microsoft.com/office/drawing/2014/main" id="{8FDCE6EC-69E4-9C94-4E23-A72F818DFAB7}"/>
                </a:ext>
              </a:extLst>
            </p:cNvPr>
            <p:cNvSpPr/>
            <p:nvPr/>
          </p:nvSpPr>
          <p:spPr>
            <a:xfrm>
              <a:off x="7775041" y="1185831"/>
              <a:ext cx="241147" cy="654543"/>
            </a:xfrm>
            <a:custGeom>
              <a:avLst/>
              <a:gdLst/>
              <a:ahLst/>
              <a:cxnLst/>
              <a:rect l="l" t="t" r="r" b="b"/>
              <a:pathLst>
                <a:path w="945" h="2565" extrusionOk="0">
                  <a:moveTo>
                    <a:pt x="866" y="1"/>
                  </a:moveTo>
                  <a:cubicBezTo>
                    <a:pt x="862" y="16"/>
                    <a:pt x="846" y="33"/>
                    <a:pt x="822" y="50"/>
                  </a:cubicBezTo>
                  <a:cubicBezTo>
                    <a:pt x="760" y="94"/>
                    <a:pt x="638" y="138"/>
                    <a:pt x="497" y="166"/>
                  </a:cubicBezTo>
                  <a:cubicBezTo>
                    <a:pt x="421" y="180"/>
                    <a:pt x="349" y="189"/>
                    <a:pt x="288" y="190"/>
                  </a:cubicBezTo>
                  <a:cubicBezTo>
                    <a:pt x="277" y="191"/>
                    <a:pt x="266" y="191"/>
                    <a:pt x="256" y="191"/>
                  </a:cubicBezTo>
                  <a:cubicBezTo>
                    <a:pt x="159" y="191"/>
                    <a:pt x="93" y="173"/>
                    <a:pt x="85" y="138"/>
                  </a:cubicBezTo>
                  <a:lnTo>
                    <a:pt x="85" y="138"/>
                  </a:lnTo>
                  <a:cubicBezTo>
                    <a:pt x="85" y="139"/>
                    <a:pt x="1" y="1838"/>
                    <a:pt x="147" y="2246"/>
                  </a:cubicBezTo>
                  <a:cubicBezTo>
                    <a:pt x="151" y="2254"/>
                    <a:pt x="153" y="2260"/>
                    <a:pt x="156" y="2265"/>
                  </a:cubicBezTo>
                  <a:cubicBezTo>
                    <a:pt x="192" y="2338"/>
                    <a:pt x="246" y="2405"/>
                    <a:pt x="307" y="2464"/>
                  </a:cubicBezTo>
                  <a:cubicBezTo>
                    <a:pt x="376" y="2532"/>
                    <a:pt x="463" y="2565"/>
                    <a:pt x="549" y="2565"/>
                  </a:cubicBezTo>
                  <a:cubicBezTo>
                    <a:pt x="690" y="2565"/>
                    <a:pt x="827" y="2479"/>
                    <a:pt x="877" y="2328"/>
                  </a:cubicBezTo>
                  <a:cubicBezTo>
                    <a:pt x="898" y="2266"/>
                    <a:pt x="916" y="2200"/>
                    <a:pt x="928" y="2133"/>
                  </a:cubicBezTo>
                  <a:cubicBezTo>
                    <a:pt x="944" y="2039"/>
                    <a:pt x="937" y="1991"/>
                    <a:pt x="920" y="1905"/>
                  </a:cubicBezTo>
                  <a:cubicBezTo>
                    <a:pt x="920" y="1894"/>
                    <a:pt x="843" y="400"/>
                    <a:pt x="866"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005;p45">
              <a:extLst>
                <a:ext uri="{FF2B5EF4-FFF2-40B4-BE49-F238E27FC236}">
                  <a16:creationId xmlns:a16="http://schemas.microsoft.com/office/drawing/2014/main" id="{84247DBA-819C-BE78-4527-26128C4C122E}"/>
                </a:ext>
              </a:extLst>
            </p:cNvPr>
            <p:cNvSpPr/>
            <p:nvPr/>
          </p:nvSpPr>
          <p:spPr>
            <a:xfrm>
              <a:off x="7851851" y="1045483"/>
              <a:ext cx="135757" cy="173524"/>
            </a:xfrm>
            <a:custGeom>
              <a:avLst/>
              <a:gdLst/>
              <a:ahLst/>
              <a:cxnLst/>
              <a:rect l="l" t="t" r="r" b="b"/>
              <a:pathLst>
                <a:path w="532" h="680" extrusionOk="0">
                  <a:moveTo>
                    <a:pt x="87" y="0"/>
                  </a:moveTo>
                  <a:cubicBezTo>
                    <a:pt x="87" y="0"/>
                    <a:pt x="74" y="93"/>
                    <a:pt x="53" y="244"/>
                  </a:cubicBezTo>
                  <a:cubicBezTo>
                    <a:pt x="46" y="295"/>
                    <a:pt x="38" y="352"/>
                    <a:pt x="30" y="414"/>
                  </a:cubicBezTo>
                  <a:cubicBezTo>
                    <a:pt x="21" y="482"/>
                    <a:pt x="11" y="558"/>
                    <a:pt x="0" y="639"/>
                  </a:cubicBezTo>
                  <a:lnTo>
                    <a:pt x="0" y="643"/>
                  </a:lnTo>
                  <a:lnTo>
                    <a:pt x="0" y="647"/>
                  </a:lnTo>
                  <a:cubicBezTo>
                    <a:pt x="4" y="668"/>
                    <a:pt x="47" y="679"/>
                    <a:pt x="111" y="679"/>
                  </a:cubicBezTo>
                  <a:cubicBezTo>
                    <a:pt x="157" y="679"/>
                    <a:pt x="214" y="674"/>
                    <a:pt x="274" y="662"/>
                  </a:cubicBezTo>
                  <a:cubicBezTo>
                    <a:pt x="342" y="649"/>
                    <a:pt x="403" y="630"/>
                    <a:pt x="447" y="610"/>
                  </a:cubicBezTo>
                  <a:cubicBezTo>
                    <a:pt x="490" y="590"/>
                    <a:pt x="517" y="572"/>
                    <a:pt x="522" y="554"/>
                  </a:cubicBezTo>
                  <a:cubicBezTo>
                    <a:pt x="523" y="551"/>
                    <a:pt x="523" y="547"/>
                    <a:pt x="523" y="544"/>
                  </a:cubicBezTo>
                  <a:cubicBezTo>
                    <a:pt x="522" y="543"/>
                    <a:pt x="522" y="543"/>
                    <a:pt x="522" y="542"/>
                  </a:cubicBezTo>
                  <a:cubicBezTo>
                    <a:pt x="523" y="439"/>
                    <a:pt x="524" y="332"/>
                    <a:pt x="527" y="218"/>
                  </a:cubicBezTo>
                  <a:cubicBezTo>
                    <a:pt x="529" y="177"/>
                    <a:pt x="530" y="135"/>
                    <a:pt x="532" y="91"/>
                  </a:cubicBezTo>
                  <a:lnTo>
                    <a:pt x="87" y="0"/>
                  </a:ln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006;p45">
              <a:extLst>
                <a:ext uri="{FF2B5EF4-FFF2-40B4-BE49-F238E27FC236}">
                  <a16:creationId xmlns:a16="http://schemas.microsoft.com/office/drawing/2014/main" id="{8CEEECFE-7552-4CAC-A34B-A2BEE1C45A22}"/>
                </a:ext>
              </a:extLst>
            </p:cNvPr>
            <p:cNvSpPr/>
            <p:nvPr/>
          </p:nvSpPr>
          <p:spPr>
            <a:xfrm>
              <a:off x="8381863" y="872470"/>
              <a:ext cx="302135" cy="341433"/>
            </a:xfrm>
            <a:custGeom>
              <a:avLst/>
              <a:gdLst/>
              <a:ahLst/>
              <a:cxnLst/>
              <a:rect l="l" t="t" r="r" b="b"/>
              <a:pathLst>
                <a:path w="1184" h="1338" extrusionOk="0">
                  <a:moveTo>
                    <a:pt x="693" y="0"/>
                  </a:moveTo>
                  <a:cubicBezTo>
                    <a:pt x="438" y="0"/>
                    <a:pt x="161" y="68"/>
                    <a:pt x="161" y="68"/>
                  </a:cubicBezTo>
                  <a:cubicBezTo>
                    <a:pt x="161" y="68"/>
                    <a:pt x="184" y="343"/>
                    <a:pt x="154" y="673"/>
                  </a:cubicBezTo>
                  <a:cubicBezTo>
                    <a:pt x="147" y="734"/>
                    <a:pt x="141" y="796"/>
                    <a:pt x="131" y="859"/>
                  </a:cubicBezTo>
                  <a:cubicBezTo>
                    <a:pt x="106" y="1023"/>
                    <a:pt x="65" y="1191"/>
                    <a:pt x="1" y="1338"/>
                  </a:cubicBezTo>
                  <a:lnTo>
                    <a:pt x="1184" y="1266"/>
                  </a:lnTo>
                  <a:cubicBezTo>
                    <a:pt x="1184" y="1266"/>
                    <a:pt x="1056" y="969"/>
                    <a:pt x="1029" y="353"/>
                  </a:cubicBezTo>
                  <a:cubicBezTo>
                    <a:pt x="1025" y="265"/>
                    <a:pt x="1023" y="170"/>
                    <a:pt x="1024" y="68"/>
                  </a:cubicBezTo>
                  <a:cubicBezTo>
                    <a:pt x="1000" y="54"/>
                    <a:pt x="973" y="42"/>
                    <a:pt x="943" y="32"/>
                  </a:cubicBezTo>
                  <a:cubicBezTo>
                    <a:pt x="871" y="9"/>
                    <a:pt x="783" y="0"/>
                    <a:pt x="693" y="0"/>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7;p45">
              <a:extLst>
                <a:ext uri="{FF2B5EF4-FFF2-40B4-BE49-F238E27FC236}">
                  <a16:creationId xmlns:a16="http://schemas.microsoft.com/office/drawing/2014/main" id="{B602724A-A9CB-B288-A735-620469CD0EFA}"/>
                </a:ext>
              </a:extLst>
            </p:cNvPr>
            <p:cNvSpPr/>
            <p:nvPr/>
          </p:nvSpPr>
          <p:spPr>
            <a:xfrm>
              <a:off x="8066459" y="1104940"/>
              <a:ext cx="967142" cy="1500983"/>
            </a:xfrm>
            <a:custGeom>
              <a:avLst/>
              <a:gdLst/>
              <a:ahLst/>
              <a:cxnLst/>
              <a:rect l="l" t="t" r="r" b="b"/>
              <a:pathLst>
                <a:path w="3790" h="5882" extrusionOk="0">
                  <a:moveTo>
                    <a:pt x="1856" y="1"/>
                  </a:moveTo>
                  <a:cubicBezTo>
                    <a:pt x="1628" y="1"/>
                    <a:pt x="1431" y="9"/>
                    <a:pt x="1261" y="46"/>
                  </a:cubicBezTo>
                  <a:cubicBezTo>
                    <a:pt x="694" y="170"/>
                    <a:pt x="442" y="427"/>
                    <a:pt x="442" y="427"/>
                  </a:cubicBezTo>
                  <a:cubicBezTo>
                    <a:pt x="96" y="1107"/>
                    <a:pt x="266" y="1776"/>
                    <a:pt x="385" y="2552"/>
                  </a:cubicBezTo>
                  <a:cubicBezTo>
                    <a:pt x="395" y="2624"/>
                    <a:pt x="406" y="2697"/>
                    <a:pt x="416" y="2770"/>
                  </a:cubicBezTo>
                  <a:cubicBezTo>
                    <a:pt x="447" y="3007"/>
                    <a:pt x="469" y="3254"/>
                    <a:pt x="468" y="3514"/>
                  </a:cubicBezTo>
                  <a:cubicBezTo>
                    <a:pt x="461" y="4561"/>
                    <a:pt x="45" y="5082"/>
                    <a:pt x="1" y="5755"/>
                  </a:cubicBezTo>
                  <a:cubicBezTo>
                    <a:pt x="1" y="5755"/>
                    <a:pt x="1248" y="5882"/>
                    <a:pt x="2278" y="5882"/>
                  </a:cubicBezTo>
                  <a:cubicBezTo>
                    <a:pt x="2792" y="5882"/>
                    <a:pt x="3253" y="5850"/>
                    <a:pt x="3475" y="5755"/>
                  </a:cubicBezTo>
                  <a:cubicBezTo>
                    <a:pt x="3419" y="4887"/>
                    <a:pt x="3190" y="4800"/>
                    <a:pt x="3184" y="3704"/>
                  </a:cubicBezTo>
                  <a:cubicBezTo>
                    <a:pt x="3181" y="3227"/>
                    <a:pt x="3789" y="1478"/>
                    <a:pt x="3616" y="908"/>
                  </a:cubicBezTo>
                  <a:cubicBezTo>
                    <a:pt x="3504" y="541"/>
                    <a:pt x="2608" y="6"/>
                    <a:pt x="2341" y="5"/>
                  </a:cubicBezTo>
                  <a:cubicBezTo>
                    <a:pt x="2166" y="4"/>
                    <a:pt x="2005" y="1"/>
                    <a:pt x="18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08;p45">
              <a:extLst>
                <a:ext uri="{FF2B5EF4-FFF2-40B4-BE49-F238E27FC236}">
                  <a16:creationId xmlns:a16="http://schemas.microsoft.com/office/drawing/2014/main" id="{67AB67B1-4DDC-1FB1-3CF8-EC6E00CBF39D}"/>
                </a:ext>
              </a:extLst>
            </p:cNvPr>
            <p:cNvSpPr/>
            <p:nvPr/>
          </p:nvSpPr>
          <p:spPr>
            <a:xfrm>
              <a:off x="8029457" y="2475776"/>
              <a:ext cx="948000" cy="167144"/>
            </a:xfrm>
            <a:custGeom>
              <a:avLst/>
              <a:gdLst/>
              <a:ahLst/>
              <a:cxnLst/>
              <a:rect l="l" t="t" r="r" b="b"/>
              <a:pathLst>
                <a:path w="3715" h="655" extrusionOk="0">
                  <a:moveTo>
                    <a:pt x="209" y="1"/>
                  </a:moveTo>
                  <a:cubicBezTo>
                    <a:pt x="102" y="240"/>
                    <a:pt x="1" y="409"/>
                    <a:pt x="1" y="409"/>
                  </a:cubicBezTo>
                  <a:cubicBezTo>
                    <a:pt x="1" y="409"/>
                    <a:pt x="525" y="509"/>
                    <a:pt x="1144" y="583"/>
                  </a:cubicBezTo>
                  <a:cubicBezTo>
                    <a:pt x="1346" y="607"/>
                    <a:pt x="1574" y="628"/>
                    <a:pt x="1822" y="641"/>
                  </a:cubicBezTo>
                  <a:cubicBezTo>
                    <a:pt x="1982" y="650"/>
                    <a:pt x="2149" y="654"/>
                    <a:pt x="2324" y="654"/>
                  </a:cubicBezTo>
                  <a:cubicBezTo>
                    <a:pt x="2721" y="654"/>
                    <a:pt x="3152" y="630"/>
                    <a:pt x="3601" y="566"/>
                  </a:cubicBezTo>
                  <a:cubicBezTo>
                    <a:pt x="3714" y="328"/>
                    <a:pt x="3636" y="131"/>
                    <a:pt x="3636" y="131"/>
                  </a:cubicBezTo>
                  <a:lnTo>
                    <a:pt x="3636" y="131"/>
                  </a:lnTo>
                  <a:cubicBezTo>
                    <a:pt x="3635" y="131"/>
                    <a:pt x="3049" y="308"/>
                    <a:pt x="2170" y="308"/>
                  </a:cubicBezTo>
                  <a:cubicBezTo>
                    <a:pt x="1610" y="308"/>
                    <a:pt x="931" y="236"/>
                    <a:pt x="2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09;p45">
              <a:extLst>
                <a:ext uri="{FF2B5EF4-FFF2-40B4-BE49-F238E27FC236}">
                  <a16:creationId xmlns:a16="http://schemas.microsoft.com/office/drawing/2014/main" id="{2256C469-8886-AD03-6B2E-91AD71C17CF7}"/>
                </a:ext>
              </a:extLst>
            </p:cNvPr>
            <p:cNvSpPr/>
            <p:nvPr/>
          </p:nvSpPr>
          <p:spPr>
            <a:xfrm>
              <a:off x="7828629" y="2306846"/>
              <a:ext cx="291162" cy="314384"/>
            </a:xfrm>
            <a:custGeom>
              <a:avLst/>
              <a:gdLst/>
              <a:ahLst/>
              <a:cxnLst/>
              <a:rect l="l" t="t" r="r" b="b"/>
              <a:pathLst>
                <a:path w="1141" h="1232" extrusionOk="0">
                  <a:moveTo>
                    <a:pt x="960" y="0"/>
                  </a:moveTo>
                  <a:cubicBezTo>
                    <a:pt x="775" y="564"/>
                    <a:pt x="0" y="775"/>
                    <a:pt x="121" y="1149"/>
                  </a:cubicBezTo>
                  <a:cubicBezTo>
                    <a:pt x="226" y="1210"/>
                    <a:pt x="361" y="1232"/>
                    <a:pt x="497" y="1232"/>
                  </a:cubicBezTo>
                  <a:cubicBezTo>
                    <a:pt x="813" y="1232"/>
                    <a:pt x="1140" y="1117"/>
                    <a:pt x="1140" y="1117"/>
                  </a:cubicBezTo>
                  <a:lnTo>
                    <a:pt x="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10;p45">
              <a:extLst>
                <a:ext uri="{FF2B5EF4-FFF2-40B4-BE49-F238E27FC236}">
                  <a16:creationId xmlns:a16="http://schemas.microsoft.com/office/drawing/2014/main" id="{DFE29448-1C15-22DE-A549-CE4CD856DAFC}"/>
                </a:ext>
              </a:extLst>
            </p:cNvPr>
            <p:cNvSpPr/>
            <p:nvPr/>
          </p:nvSpPr>
          <p:spPr>
            <a:xfrm>
              <a:off x="8049617" y="1129182"/>
              <a:ext cx="288866" cy="1449687"/>
            </a:xfrm>
            <a:custGeom>
              <a:avLst/>
              <a:gdLst/>
              <a:ahLst/>
              <a:cxnLst/>
              <a:rect l="l" t="t" r="r" b="b"/>
              <a:pathLst>
                <a:path w="1132" h="5681" extrusionOk="0">
                  <a:moveTo>
                    <a:pt x="1131" y="1"/>
                  </a:moveTo>
                  <a:lnTo>
                    <a:pt x="1131" y="1"/>
                  </a:lnTo>
                  <a:cubicBezTo>
                    <a:pt x="1131" y="1"/>
                    <a:pt x="865" y="25"/>
                    <a:pt x="485" y="280"/>
                  </a:cubicBezTo>
                  <a:cubicBezTo>
                    <a:pt x="254" y="799"/>
                    <a:pt x="237" y="1557"/>
                    <a:pt x="268" y="2238"/>
                  </a:cubicBezTo>
                  <a:cubicBezTo>
                    <a:pt x="270" y="2280"/>
                    <a:pt x="271" y="2319"/>
                    <a:pt x="274" y="2359"/>
                  </a:cubicBezTo>
                  <a:cubicBezTo>
                    <a:pt x="275" y="2381"/>
                    <a:pt x="276" y="2405"/>
                    <a:pt x="278" y="2426"/>
                  </a:cubicBezTo>
                  <a:cubicBezTo>
                    <a:pt x="280" y="2446"/>
                    <a:pt x="281" y="2467"/>
                    <a:pt x="282" y="2486"/>
                  </a:cubicBezTo>
                  <a:lnTo>
                    <a:pt x="286" y="2548"/>
                  </a:lnTo>
                  <a:lnTo>
                    <a:pt x="290" y="2610"/>
                  </a:lnTo>
                  <a:cubicBezTo>
                    <a:pt x="327" y="3170"/>
                    <a:pt x="378" y="3629"/>
                    <a:pt x="328" y="3774"/>
                  </a:cubicBezTo>
                  <a:cubicBezTo>
                    <a:pt x="251" y="4000"/>
                    <a:pt x="83" y="4520"/>
                    <a:pt x="27" y="5005"/>
                  </a:cubicBezTo>
                  <a:cubicBezTo>
                    <a:pt x="22" y="5044"/>
                    <a:pt x="18" y="5082"/>
                    <a:pt x="16" y="5122"/>
                  </a:cubicBezTo>
                  <a:cubicBezTo>
                    <a:pt x="0" y="5329"/>
                    <a:pt x="8" y="5525"/>
                    <a:pt x="58" y="5681"/>
                  </a:cubicBezTo>
                  <a:cubicBezTo>
                    <a:pt x="57" y="5460"/>
                    <a:pt x="105" y="5300"/>
                    <a:pt x="173" y="5148"/>
                  </a:cubicBezTo>
                  <a:cubicBezTo>
                    <a:pt x="193" y="5107"/>
                    <a:pt x="212" y="5065"/>
                    <a:pt x="234" y="5022"/>
                  </a:cubicBezTo>
                  <a:cubicBezTo>
                    <a:pt x="380" y="4736"/>
                    <a:pt x="569" y="4430"/>
                    <a:pt x="596" y="3773"/>
                  </a:cubicBezTo>
                  <a:cubicBezTo>
                    <a:pt x="595" y="3386"/>
                    <a:pt x="604" y="3037"/>
                    <a:pt x="620" y="2721"/>
                  </a:cubicBezTo>
                  <a:cubicBezTo>
                    <a:pt x="622" y="2655"/>
                    <a:pt x="626" y="2589"/>
                    <a:pt x="630" y="2526"/>
                  </a:cubicBezTo>
                  <a:cubicBezTo>
                    <a:pt x="636" y="2430"/>
                    <a:pt x="642" y="2337"/>
                    <a:pt x="648" y="2246"/>
                  </a:cubicBezTo>
                  <a:cubicBezTo>
                    <a:pt x="785" y="529"/>
                    <a:pt x="1131" y="1"/>
                    <a:pt x="1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11;p45">
              <a:extLst>
                <a:ext uri="{FF2B5EF4-FFF2-40B4-BE49-F238E27FC236}">
                  <a16:creationId xmlns:a16="http://schemas.microsoft.com/office/drawing/2014/main" id="{D3807400-0AD5-AE2B-EC04-5B5628AD01FB}"/>
                </a:ext>
              </a:extLst>
            </p:cNvPr>
            <p:cNvSpPr/>
            <p:nvPr/>
          </p:nvSpPr>
          <p:spPr>
            <a:xfrm>
              <a:off x="7455299" y="960762"/>
              <a:ext cx="188834" cy="145709"/>
            </a:xfrm>
            <a:custGeom>
              <a:avLst/>
              <a:gdLst/>
              <a:ahLst/>
              <a:cxnLst/>
              <a:rect l="l" t="t" r="r" b="b"/>
              <a:pathLst>
                <a:path w="740" h="571" extrusionOk="0">
                  <a:moveTo>
                    <a:pt x="687" y="0"/>
                  </a:moveTo>
                  <a:lnTo>
                    <a:pt x="50" y="145"/>
                  </a:lnTo>
                  <a:cubicBezTo>
                    <a:pt x="32" y="149"/>
                    <a:pt x="21" y="166"/>
                    <a:pt x="25" y="182"/>
                  </a:cubicBezTo>
                  <a:cubicBezTo>
                    <a:pt x="27" y="198"/>
                    <a:pt x="40" y="209"/>
                    <a:pt x="57" y="209"/>
                  </a:cubicBezTo>
                  <a:cubicBezTo>
                    <a:pt x="58" y="209"/>
                    <a:pt x="60" y="209"/>
                    <a:pt x="61" y="209"/>
                  </a:cubicBezTo>
                  <a:lnTo>
                    <a:pt x="510" y="161"/>
                  </a:lnTo>
                  <a:lnTo>
                    <a:pt x="30" y="285"/>
                  </a:lnTo>
                  <a:cubicBezTo>
                    <a:pt x="11" y="290"/>
                    <a:pt x="0" y="307"/>
                    <a:pt x="4" y="326"/>
                  </a:cubicBezTo>
                  <a:cubicBezTo>
                    <a:pt x="8" y="343"/>
                    <a:pt x="22" y="355"/>
                    <a:pt x="38" y="355"/>
                  </a:cubicBezTo>
                  <a:cubicBezTo>
                    <a:pt x="41" y="355"/>
                    <a:pt x="43" y="354"/>
                    <a:pt x="46" y="354"/>
                  </a:cubicBezTo>
                  <a:lnTo>
                    <a:pt x="518" y="269"/>
                  </a:lnTo>
                  <a:lnTo>
                    <a:pt x="518" y="269"/>
                  </a:lnTo>
                  <a:lnTo>
                    <a:pt x="97" y="392"/>
                  </a:lnTo>
                  <a:cubicBezTo>
                    <a:pt x="79" y="396"/>
                    <a:pt x="67" y="416"/>
                    <a:pt x="72" y="434"/>
                  </a:cubicBezTo>
                  <a:cubicBezTo>
                    <a:pt x="76" y="450"/>
                    <a:pt x="91" y="463"/>
                    <a:pt x="107" y="463"/>
                  </a:cubicBezTo>
                  <a:cubicBezTo>
                    <a:pt x="109" y="463"/>
                    <a:pt x="111" y="463"/>
                    <a:pt x="113" y="462"/>
                  </a:cubicBezTo>
                  <a:lnTo>
                    <a:pt x="530" y="402"/>
                  </a:lnTo>
                  <a:lnTo>
                    <a:pt x="212" y="481"/>
                  </a:lnTo>
                  <a:cubicBezTo>
                    <a:pt x="190" y="486"/>
                    <a:pt x="125" y="521"/>
                    <a:pt x="132" y="543"/>
                  </a:cubicBezTo>
                  <a:cubicBezTo>
                    <a:pt x="137" y="559"/>
                    <a:pt x="151" y="570"/>
                    <a:pt x="166" y="570"/>
                  </a:cubicBezTo>
                  <a:cubicBezTo>
                    <a:pt x="168" y="570"/>
                    <a:pt x="170" y="570"/>
                    <a:pt x="172" y="570"/>
                  </a:cubicBezTo>
                  <a:lnTo>
                    <a:pt x="657" y="527"/>
                  </a:lnTo>
                  <a:lnTo>
                    <a:pt x="739" y="299"/>
                  </a:lnTo>
                  <a:lnTo>
                    <a:pt x="6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12;p45">
              <a:extLst>
                <a:ext uri="{FF2B5EF4-FFF2-40B4-BE49-F238E27FC236}">
                  <a16:creationId xmlns:a16="http://schemas.microsoft.com/office/drawing/2014/main" id="{63ECE5B2-05F0-5809-6ADC-8E5C17FFD29C}"/>
                </a:ext>
              </a:extLst>
            </p:cNvPr>
            <p:cNvSpPr/>
            <p:nvPr/>
          </p:nvSpPr>
          <p:spPr>
            <a:xfrm>
              <a:off x="8332103" y="1099326"/>
              <a:ext cx="332247" cy="80382"/>
            </a:xfrm>
            <a:custGeom>
              <a:avLst/>
              <a:gdLst/>
              <a:ahLst/>
              <a:cxnLst/>
              <a:rect l="l" t="t" r="r" b="b"/>
              <a:pathLst>
                <a:path w="1302" h="315" extrusionOk="0">
                  <a:moveTo>
                    <a:pt x="865" y="1"/>
                  </a:moveTo>
                  <a:cubicBezTo>
                    <a:pt x="616" y="1"/>
                    <a:pt x="402" y="27"/>
                    <a:pt x="219" y="67"/>
                  </a:cubicBezTo>
                  <a:cubicBezTo>
                    <a:pt x="213" y="73"/>
                    <a:pt x="0" y="258"/>
                    <a:pt x="475" y="304"/>
                  </a:cubicBezTo>
                  <a:cubicBezTo>
                    <a:pt x="550" y="311"/>
                    <a:pt x="620" y="314"/>
                    <a:pt x="686" y="314"/>
                  </a:cubicBezTo>
                  <a:cubicBezTo>
                    <a:pt x="1040" y="314"/>
                    <a:pt x="1251" y="214"/>
                    <a:pt x="1301" y="26"/>
                  </a:cubicBezTo>
                  <a:cubicBezTo>
                    <a:pt x="1146" y="8"/>
                    <a:pt x="1000" y="1"/>
                    <a:pt x="865" y="1"/>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13;p45">
              <a:extLst>
                <a:ext uri="{FF2B5EF4-FFF2-40B4-BE49-F238E27FC236}">
                  <a16:creationId xmlns:a16="http://schemas.microsoft.com/office/drawing/2014/main" id="{F793B5D4-BEF3-73CE-166F-468ABAD56AB9}"/>
                </a:ext>
              </a:extLst>
            </p:cNvPr>
            <p:cNvSpPr/>
            <p:nvPr/>
          </p:nvSpPr>
          <p:spPr>
            <a:xfrm>
              <a:off x="8496950" y="1042931"/>
              <a:ext cx="195470" cy="117384"/>
            </a:xfrm>
            <a:custGeom>
              <a:avLst/>
              <a:gdLst/>
              <a:ahLst/>
              <a:cxnLst/>
              <a:rect l="l" t="t" r="r" b="b"/>
              <a:pathLst>
                <a:path w="766" h="460" extrusionOk="0">
                  <a:moveTo>
                    <a:pt x="655" y="1"/>
                  </a:moveTo>
                  <a:cubicBezTo>
                    <a:pt x="655" y="1"/>
                    <a:pt x="414" y="92"/>
                    <a:pt x="10" y="154"/>
                  </a:cubicBezTo>
                  <a:cubicBezTo>
                    <a:pt x="0" y="403"/>
                    <a:pt x="24" y="460"/>
                    <a:pt x="24" y="460"/>
                  </a:cubicBezTo>
                  <a:cubicBezTo>
                    <a:pt x="24" y="460"/>
                    <a:pt x="326" y="445"/>
                    <a:pt x="766" y="267"/>
                  </a:cubicBezTo>
                  <a:cubicBezTo>
                    <a:pt x="742" y="101"/>
                    <a:pt x="655" y="1"/>
                    <a:pt x="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14;p45">
              <a:extLst>
                <a:ext uri="{FF2B5EF4-FFF2-40B4-BE49-F238E27FC236}">
                  <a16:creationId xmlns:a16="http://schemas.microsoft.com/office/drawing/2014/main" id="{042540F4-D115-FD87-1456-5ED56E18394C}"/>
                </a:ext>
              </a:extLst>
            </p:cNvPr>
            <p:cNvSpPr/>
            <p:nvPr/>
          </p:nvSpPr>
          <p:spPr>
            <a:xfrm>
              <a:off x="8496950" y="1042931"/>
              <a:ext cx="195470" cy="117384"/>
            </a:xfrm>
            <a:custGeom>
              <a:avLst/>
              <a:gdLst/>
              <a:ahLst/>
              <a:cxnLst/>
              <a:rect l="l" t="t" r="r" b="b"/>
              <a:pathLst>
                <a:path w="766" h="460" extrusionOk="0">
                  <a:moveTo>
                    <a:pt x="655" y="1"/>
                  </a:moveTo>
                  <a:cubicBezTo>
                    <a:pt x="655" y="1"/>
                    <a:pt x="414" y="92"/>
                    <a:pt x="10" y="154"/>
                  </a:cubicBezTo>
                  <a:cubicBezTo>
                    <a:pt x="0" y="403"/>
                    <a:pt x="24" y="460"/>
                    <a:pt x="24" y="460"/>
                  </a:cubicBezTo>
                  <a:cubicBezTo>
                    <a:pt x="24" y="460"/>
                    <a:pt x="326" y="445"/>
                    <a:pt x="766" y="267"/>
                  </a:cubicBezTo>
                  <a:cubicBezTo>
                    <a:pt x="742" y="101"/>
                    <a:pt x="655" y="1"/>
                    <a:pt x="655"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15;p45">
              <a:extLst>
                <a:ext uri="{FF2B5EF4-FFF2-40B4-BE49-F238E27FC236}">
                  <a16:creationId xmlns:a16="http://schemas.microsoft.com/office/drawing/2014/main" id="{57DA116C-3DD2-05AD-C0D1-6376E0098B80}"/>
                </a:ext>
              </a:extLst>
            </p:cNvPr>
            <p:cNvSpPr/>
            <p:nvPr/>
          </p:nvSpPr>
          <p:spPr>
            <a:xfrm>
              <a:off x="8449231" y="1110554"/>
              <a:ext cx="618560" cy="1818935"/>
            </a:xfrm>
            <a:custGeom>
              <a:avLst/>
              <a:gdLst/>
              <a:ahLst/>
              <a:cxnLst/>
              <a:rect l="l" t="t" r="r" b="b"/>
              <a:pathLst>
                <a:path w="2424" h="7128" extrusionOk="0">
                  <a:moveTo>
                    <a:pt x="657" y="0"/>
                  </a:moveTo>
                  <a:lnTo>
                    <a:pt x="208" y="194"/>
                  </a:lnTo>
                  <a:cubicBezTo>
                    <a:pt x="208" y="194"/>
                    <a:pt x="0" y="462"/>
                    <a:pt x="208" y="1741"/>
                  </a:cubicBezTo>
                  <a:cubicBezTo>
                    <a:pt x="234" y="1902"/>
                    <a:pt x="259" y="2083"/>
                    <a:pt x="280" y="2277"/>
                  </a:cubicBezTo>
                  <a:cubicBezTo>
                    <a:pt x="287" y="2350"/>
                    <a:pt x="296" y="2426"/>
                    <a:pt x="303" y="2501"/>
                  </a:cubicBezTo>
                  <a:cubicBezTo>
                    <a:pt x="373" y="3237"/>
                    <a:pt x="399" y="4124"/>
                    <a:pt x="329" y="4948"/>
                  </a:cubicBezTo>
                  <a:cubicBezTo>
                    <a:pt x="322" y="5037"/>
                    <a:pt x="313" y="5126"/>
                    <a:pt x="303" y="5214"/>
                  </a:cubicBezTo>
                  <a:cubicBezTo>
                    <a:pt x="292" y="5316"/>
                    <a:pt x="279" y="5416"/>
                    <a:pt x="265" y="5514"/>
                  </a:cubicBezTo>
                  <a:cubicBezTo>
                    <a:pt x="248" y="5630"/>
                    <a:pt x="229" y="5740"/>
                    <a:pt x="207" y="5849"/>
                  </a:cubicBezTo>
                  <a:cubicBezTo>
                    <a:pt x="200" y="5879"/>
                    <a:pt x="195" y="5907"/>
                    <a:pt x="188" y="5935"/>
                  </a:cubicBezTo>
                  <a:cubicBezTo>
                    <a:pt x="174" y="6002"/>
                    <a:pt x="160" y="6068"/>
                    <a:pt x="144" y="6131"/>
                  </a:cubicBezTo>
                  <a:cubicBezTo>
                    <a:pt x="52" y="6493"/>
                    <a:pt x="254" y="6867"/>
                    <a:pt x="609" y="6984"/>
                  </a:cubicBezTo>
                  <a:cubicBezTo>
                    <a:pt x="935" y="7093"/>
                    <a:pt x="1259" y="7128"/>
                    <a:pt x="1586" y="7128"/>
                  </a:cubicBezTo>
                  <a:cubicBezTo>
                    <a:pt x="1614" y="7128"/>
                    <a:pt x="1642" y="7128"/>
                    <a:pt x="1670" y="7127"/>
                  </a:cubicBezTo>
                  <a:cubicBezTo>
                    <a:pt x="1801" y="7125"/>
                    <a:pt x="1935" y="7118"/>
                    <a:pt x="2068" y="7107"/>
                  </a:cubicBezTo>
                  <a:cubicBezTo>
                    <a:pt x="2275" y="7092"/>
                    <a:pt x="2424" y="6899"/>
                    <a:pt x="2380" y="6697"/>
                  </a:cubicBezTo>
                  <a:cubicBezTo>
                    <a:pt x="2372" y="6653"/>
                    <a:pt x="2362" y="6605"/>
                    <a:pt x="2349" y="6557"/>
                  </a:cubicBezTo>
                  <a:lnTo>
                    <a:pt x="2349" y="6556"/>
                  </a:lnTo>
                  <a:cubicBezTo>
                    <a:pt x="2312" y="6401"/>
                    <a:pt x="2261" y="6237"/>
                    <a:pt x="2212" y="6084"/>
                  </a:cubicBezTo>
                  <a:cubicBezTo>
                    <a:pt x="2109" y="5773"/>
                    <a:pt x="2002" y="5496"/>
                    <a:pt x="1986" y="5396"/>
                  </a:cubicBezTo>
                  <a:lnTo>
                    <a:pt x="1986" y="5394"/>
                  </a:lnTo>
                  <a:cubicBezTo>
                    <a:pt x="1977" y="5334"/>
                    <a:pt x="1959" y="5242"/>
                    <a:pt x="1935" y="5139"/>
                  </a:cubicBezTo>
                  <a:cubicBezTo>
                    <a:pt x="1878" y="4887"/>
                    <a:pt x="1799" y="4575"/>
                    <a:pt x="1789" y="4535"/>
                  </a:cubicBezTo>
                  <a:lnTo>
                    <a:pt x="1789" y="4532"/>
                  </a:lnTo>
                  <a:lnTo>
                    <a:pt x="1789" y="4531"/>
                  </a:lnTo>
                  <a:cubicBezTo>
                    <a:pt x="1789" y="4531"/>
                    <a:pt x="1788" y="4526"/>
                    <a:pt x="1785" y="4517"/>
                  </a:cubicBezTo>
                  <a:cubicBezTo>
                    <a:pt x="1767" y="4446"/>
                    <a:pt x="1689" y="4103"/>
                    <a:pt x="1733" y="3533"/>
                  </a:cubicBezTo>
                  <a:cubicBezTo>
                    <a:pt x="1748" y="3347"/>
                    <a:pt x="1776" y="3136"/>
                    <a:pt x="1823" y="2903"/>
                  </a:cubicBezTo>
                  <a:lnTo>
                    <a:pt x="1823" y="2902"/>
                  </a:lnTo>
                  <a:cubicBezTo>
                    <a:pt x="1849" y="2770"/>
                    <a:pt x="1882" y="2631"/>
                    <a:pt x="1922" y="2484"/>
                  </a:cubicBezTo>
                  <a:cubicBezTo>
                    <a:pt x="2038" y="1993"/>
                    <a:pt x="2151" y="1471"/>
                    <a:pt x="2145" y="1120"/>
                  </a:cubicBezTo>
                  <a:cubicBezTo>
                    <a:pt x="2144" y="1032"/>
                    <a:pt x="2134" y="955"/>
                    <a:pt x="2116" y="892"/>
                  </a:cubicBezTo>
                  <a:cubicBezTo>
                    <a:pt x="2116" y="889"/>
                    <a:pt x="2115" y="888"/>
                    <a:pt x="2115" y="886"/>
                  </a:cubicBezTo>
                  <a:cubicBezTo>
                    <a:pt x="2094" y="820"/>
                    <a:pt x="2048" y="748"/>
                    <a:pt x="1985" y="674"/>
                  </a:cubicBezTo>
                  <a:cubicBezTo>
                    <a:pt x="1738" y="387"/>
                    <a:pt x="1227" y="80"/>
                    <a:pt x="9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16;p45">
              <a:extLst>
                <a:ext uri="{FF2B5EF4-FFF2-40B4-BE49-F238E27FC236}">
                  <a16:creationId xmlns:a16="http://schemas.microsoft.com/office/drawing/2014/main" id="{33C0AA82-8D67-CCB3-4E2D-12B28E0246DF}"/>
                </a:ext>
              </a:extLst>
            </p:cNvPr>
            <p:cNvSpPr/>
            <p:nvPr/>
          </p:nvSpPr>
          <p:spPr>
            <a:xfrm>
              <a:off x="8322916" y="1050586"/>
              <a:ext cx="97990" cy="78851"/>
            </a:xfrm>
            <a:custGeom>
              <a:avLst/>
              <a:gdLst/>
              <a:ahLst/>
              <a:cxnLst/>
              <a:rect l="l" t="t" r="r" b="b"/>
              <a:pathLst>
                <a:path w="384" h="309" extrusionOk="0">
                  <a:moveTo>
                    <a:pt x="384" y="1"/>
                  </a:moveTo>
                  <a:cubicBezTo>
                    <a:pt x="383" y="1"/>
                    <a:pt x="264" y="35"/>
                    <a:pt x="20" y="81"/>
                  </a:cubicBezTo>
                  <a:cubicBezTo>
                    <a:pt x="0" y="191"/>
                    <a:pt x="60" y="309"/>
                    <a:pt x="60" y="309"/>
                  </a:cubicBezTo>
                  <a:cubicBezTo>
                    <a:pt x="60" y="309"/>
                    <a:pt x="282" y="305"/>
                    <a:pt x="347" y="240"/>
                  </a:cubicBezTo>
                  <a:cubicBezTo>
                    <a:pt x="365" y="143"/>
                    <a:pt x="384" y="1"/>
                    <a:pt x="3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017;p45">
              <a:extLst>
                <a:ext uri="{FF2B5EF4-FFF2-40B4-BE49-F238E27FC236}">
                  <a16:creationId xmlns:a16="http://schemas.microsoft.com/office/drawing/2014/main" id="{16E8826C-7F8D-786B-E38E-6144FADA2E4E}"/>
                </a:ext>
              </a:extLst>
            </p:cNvPr>
            <p:cNvSpPr/>
            <p:nvPr/>
          </p:nvSpPr>
          <p:spPr>
            <a:xfrm>
              <a:off x="8322916" y="1050586"/>
              <a:ext cx="97990" cy="78851"/>
            </a:xfrm>
            <a:custGeom>
              <a:avLst/>
              <a:gdLst/>
              <a:ahLst/>
              <a:cxnLst/>
              <a:rect l="l" t="t" r="r" b="b"/>
              <a:pathLst>
                <a:path w="384" h="309" extrusionOk="0">
                  <a:moveTo>
                    <a:pt x="384" y="1"/>
                  </a:moveTo>
                  <a:cubicBezTo>
                    <a:pt x="383" y="1"/>
                    <a:pt x="264" y="35"/>
                    <a:pt x="20" y="81"/>
                  </a:cubicBezTo>
                  <a:cubicBezTo>
                    <a:pt x="0" y="191"/>
                    <a:pt x="60" y="309"/>
                    <a:pt x="60" y="309"/>
                  </a:cubicBezTo>
                  <a:cubicBezTo>
                    <a:pt x="60" y="309"/>
                    <a:pt x="282" y="305"/>
                    <a:pt x="347" y="240"/>
                  </a:cubicBezTo>
                  <a:cubicBezTo>
                    <a:pt x="365" y="143"/>
                    <a:pt x="384" y="1"/>
                    <a:pt x="384"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018;p45">
              <a:extLst>
                <a:ext uri="{FF2B5EF4-FFF2-40B4-BE49-F238E27FC236}">
                  <a16:creationId xmlns:a16="http://schemas.microsoft.com/office/drawing/2014/main" id="{D60F475D-49EA-0390-18E0-75F7A99D2148}"/>
                </a:ext>
              </a:extLst>
            </p:cNvPr>
            <p:cNvSpPr/>
            <p:nvPr/>
          </p:nvSpPr>
          <p:spPr>
            <a:xfrm>
              <a:off x="7812808" y="1329755"/>
              <a:ext cx="1276" cy="4338"/>
            </a:xfrm>
            <a:custGeom>
              <a:avLst/>
              <a:gdLst/>
              <a:ahLst/>
              <a:cxnLst/>
              <a:rect l="l" t="t" r="r" b="b"/>
              <a:pathLst>
                <a:path w="5" h="17" extrusionOk="0">
                  <a:moveTo>
                    <a:pt x="0" y="0"/>
                  </a:moveTo>
                  <a:cubicBezTo>
                    <a:pt x="0" y="6"/>
                    <a:pt x="3" y="12"/>
                    <a:pt x="5" y="17"/>
                  </a:cubicBezTo>
                  <a:cubicBezTo>
                    <a:pt x="4" y="12"/>
                    <a:pt x="3" y="6"/>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019;p45">
              <a:extLst>
                <a:ext uri="{FF2B5EF4-FFF2-40B4-BE49-F238E27FC236}">
                  <a16:creationId xmlns:a16="http://schemas.microsoft.com/office/drawing/2014/main" id="{B4060CCA-F8EC-6139-2E8A-2F6C81620317}"/>
                </a:ext>
              </a:extLst>
            </p:cNvPr>
            <p:cNvSpPr/>
            <p:nvPr/>
          </p:nvSpPr>
          <p:spPr>
            <a:xfrm>
              <a:off x="7812043" y="1328224"/>
              <a:ext cx="4083" cy="7145"/>
            </a:xfrm>
            <a:custGeom>
              <a:avLst/>
              <a:gdLst/>
              <a:ahLst/>
              <a:cxnLst/>
              <a:rect l="l" t="t" r="r" b="b"/>
              <a:pathLst>
                <a:path w="16" h="28" extrusionOk="0">
                  <a:moveTo>
                    <a:pt x="6" y="0"/>
                  </a:moveTo>
                  <a:cubicBezTo>
                    <a:pt x="2" y="0"/>
                    <a:pt x="0" y="3"/>
                    <a:pt x="0" y="5"/>
                  </a:cubicBezTo>
                  <a:cubicBezTo>
                    <a:pt x="1" y="12"/>
                    <a:pt x="2" y="18"/>
                    <a:pt x="3" y="23"/>
                  </a:cubicBezTo>
                  <a:lnTo>
                    <a:pt x="3" y="24"/>
                  </a:lnTo>
                  <a:lnTo>
                    <a:pt x="3" y="25"/>
                  </a:lnTo>
                  <a:cubicBezTo>
                    <a:pt x="3" y="26"/>
                    <a:pt x="7" y="28"/>
                    <a:pt x="8" y="28"/>
                  </a:cubicBezTo>
                  <a:cubicBezTo>
                    <a:pt x="9" y="28"/>
                    <a:pt x="11" y="28"/>
                    <a:pt x="12" y="26"/>
                  </a:cubicBezTo>
                  <a:cubicBezTo>
                    <a:pt x="14" y="25"/>
                    <a:pt x="16" y="23"/>
                    <a:pt x="14" y="20"/>
                  </a:cubicBezTo>
                  <a:cubicBezTo>
                    <a:pt x="12" y="16"/>
                    <a:pt x="10" y="12"/>
                    <a:pt x="10" y="5"/>
                  </a:cubicBezTo>
                  <a:cubicBezTo>
                    <a:pt x="10" y="3"/>
                    <a:pt x="8" y="0"/>
                    <a:pt x="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020;p45">
              <a:extLst>
                <a:ext uri="{FF2B5EF4-FFF2-40B4-BE49-F238E27FC236}">
                  <a16:creationId xmlns:a16="http://schemas.microsoft.com/office/drawing/2014/main" id="{728F769C-8DC8-D10D-EFE2-862210493F99}"/>
                </a:ext>
              </a:extLst>
            </p:cNvPr>
            <p:cNvSpPr/>
            <p:nvPr/>
          </p:nvSpPr>
          <p:spPr>
            <a:xfrm>
              <a:off x="7771214" y="1194764"/>
              <a:ext cx="132439" cy="204401"/>
            </a:xfrm>
            <a:custGeom>
              <a:avLst/>
              <a:gdLst/>
              <a:ahLst/>
              <a:cxnLst/>
              <a:rect l="l" t="t" r="r" b="b"/>
              <a:pathLst>
                <a:path w="519" h="801" extrusionOk="0">
                  <a:moveTo>
                    <a:pt x="489" y="0"/>
                  </a:moveTo>
                  <a:cubicBezTo>
                    <a:pt x="445" y="0"/>
                    <a:pt x="321" y="156"/>
                    <a:pt x="202" y="364"/>
                  </a:cubicBezTo>
                  <a:cubicBezTo>
                    <a:pt x="74" y="583"/>
                    <a:pt x="0" y="778"/>
                    <a:pt x="34" y="799"/>
                  </a:cubicBezTo>
                  <a:cubicBezTo>
                    <a:pt x="36" y="800"/>
                    <a:pt x="39" y="801"/>
                    <a:pt x="42" y="801"/>
                  </a:cubicBezTo>
                  <a:cubicBezTo>
                    <a:pt x="86" y="801"/>
                    <a:pt x="209" y="646"/>
                    <a:pt x="329" y="437"/>
                  </a:cubicBezTo>
                  <a:cubicBezTo>
                    <a:pt x="447" y="235"/>
                    <a:pt x="519" y="54"/>
                    <a:pt x="502" y="9"/>
                  </a:cubicBezTo>
                  <a:cubicBezTo>
                    <a:pt x="501" y="5"/>
                    <a:pt x="498" y="3"/>
                    <a:pt x="496" y="2"/>
                  </a:cubicBezTo>
                  <a:cubicBezTo>
                    <a:pt x="494" y="1"/>
                    <a:pt x="492"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021;p45">
              <a:extLst>
                <a:ext uri="{FF2B5EF4-FFF2-40B4-BE49-F238E27FC236}">
                  <a16:creationId xmlns:a16="http://schemas.microsoft.com/office/drawing/2014/main" id="{97725A45-79FF-AC1E-09FA-49A18CFB47F5}"/>
                </a:ext>
              </a:extLst>
            </p:cNvPr>
            <p:cNvSpPr/>
            <p:nvPr/>
          </p:nvSpPr>
          <p:spPr>
            <a:xfrm>
              <a:off x="7695425" y="1063345"/>
              <a:ext cx="203380" cy="273810"/>
            </a:xfrm>
            <a:custGeom>
              <a:avLst/>
              <a:gdLst/>
              <a:ahLst/>
              <a:cxnLst/>
              <a:rect l="l" t="t" r="r" b="b"/>
              <a:pathLst>
                <a:path w="797" h="1073" extrusionOk="0">
                  <a:moveTo>
                    <a:pt x="347" y="0"/>
                  </a:moveTo>
                  <a:lnTo>
                    <a:pt x="1" y="259"/>
                  </a:lnTo>
                  <a:cubicBezTo>
                    <a:pt x="1" y="259"/>
                    <a:pt x="42" y="333"/>
                    <a:pt x="112" y="457"/>
                  </a:cubicBezTo>
                  <a:cubicBezTo>
                    <a:pt x="149" y="524"/>
                    <a:pt x="195" y="605"/>
                    <a:pt x="248" y="695"/>
                  </a:cubicBezTo>
                  <a:cubicBezTo>
                    <a:pt x="311" y="803"/>
                    <a:pt x="385" y="927"/>
                    <a:pt x="465" y="1060"/>
                  </a:cubicBezTo>
                  <a:lnTo>
                    <a:pt x="465" y="1061"/>
                  </a:lnTo>
                  <a:cubicBezTo>
                    <a:pt x="465" y="1062"/>
                    <a:pt x="466" y="1064"/>
                    <a:pt x="468" y="1066"/>
                  </a:cubicBezTo>
                  <a:cubicBezTo>
                    <a:pt x="469" y="1067"/>
                    <a:pt x="471" y="1068"/>
                    <a:pt x="473" y="1070"/>
                  </a:cubicBezTo>
                  <a:cubicBezTo>
                    <a:pt x="476" y="1072"/>
                    <a:pt x="479" y="1072"/>
                    <a:pt x="482" y="1072"/>
                  </a:cubicBezTo>
                  <a:cubicBezTo>
                    <a:pt x="523" y="1072"/>
                    <a:pt x="611" y="973"/>
                    <a:pt x="690" y="835"/>
                  </a:cubicBezTo>
                  <a:cubicBezTo>
                    <a:pt x="750" y="729"/>
                    <a:pt x="789" y="628"/>
                    <a:pt x="794" y="572"/>
                  </a:cubicBezTo>
                  <a:cubicBezTo>
                    <a:pt x="796" y="550"/>
                    <a:pt x="790" y="539"/>
                    <a:pt x="784" y="530"/>
                  </a:cubicBezTo>
                  <a:lnTo>
                    <a:pt x="770" y="514"/>
                  </a:lnTo>
                  <a:cubicBezTo>
                    <a:pt x="732" y="469"/>
                    <a:pt x="693" y="422"/>
                    <a:pt x="654" y="374"/>
                  </a:cubicBezTo>
                  <a:cubicBezTo>
                    <a:pt x="624" y="338"/>
                    <a:pt x="594" y="302"/>
                    <a:pt x="563" y="265"/>
                  </a:cubicBezTo>
                  <a:cubicBezTo>
                    <a:pt x="495" y="181"/>
                    <a:pt x="422" y="93"/>
                    <a:pt x="347" y="0"/>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022;p45">
              <a:extLst>
                <a:ext uri="{FF2B5EF4-FFF2-40B4-BE49-F238E27FC236}">
                  <a16:creationId xmlns:a16="http://schemas.microsoft.com/office/drawing/2014/main" id="{C645E504-FC82-ADF3-CF35-45F2AA179118}"/>
                </a:ext>
              </a:extLst>
            </p:cNvPr>
            <p:cNvSpPr/>
            <p:nvPr/>
          </p:nvSpPr>
          <p:spPr>
            <a:xfrm>
              <a:off x="8498992" y="1043441"/>
              <a:ext cx="193428" cy="104625"/>
            </a:xfrm>
            <a:custGeom>
              <a:avLst/>
              <a:gdLst/>
              <a:ahLst/>
              <a:cxnLst/>
              <a:rect l="l" t="t" r="r" b="b"/>
              <a:pathLst>
                <a:path w="758" h="410" extrusionOk="0">
                  <a:moveTo>
                    <a:pt x="646" y="1"/>
                  </a:moveTo>
                  <a:cubicBezTo>
                    <a:pt x="646" y="1"/>
                    <a:pt x="323" y="106"/>
                    <a:pt x="0" y="152"/>
                  </a:cubicBezTo>
                  <a:cubicBezTo>
                    <a:pt x="0" y="152"/>
                    <a:pt x="34" y="345"/>
                    <a:pt x="130" y="409"/>
                  </a:cubicBezTo>
                  <a:cubicBezTo>
                    <a:pt x="291" y="383"/>
                    <a:pt x="627" y="290"/>
                    <a:pt x="757" y="213"/>
                  </a:cubicBezTo>
                  <a:cubicBezTo>
                    <a:pt x="758" y="144"/>
                    <a:pt x="646" y="1"/>
                    <a:pt x="6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023;p45">
              <a:extLst>
                <a:ext uri="{FF2B5EF4-FFF2-40B4-BE49-F238E27FC236}">
                  <a16:creationId xmlns:a16="http://schemas.microsoft.com/office/drawing/2014/main" id="{FFB95801-51AE-C92E-673B-EADBA0ACBE84}"/>
                </a:ext>
              </a:extLst>
            </p:cNvPr>
            <p:cNvSpPr/>
            <p:nvPr/>
          </p:nvSpPr>
          <p:spPr>
            <a:xfrm>
              <a:off x="7580593" y="958211"/>
              <a:ext cx="270748" cy="250588"/>
            </a:xfrm>
            <a:custGeom>
              <a:avLst/>
              <a:gdLst/>
              <a:ahLst/>
              <a:cxnLst/>
              <a:rect l="l" t="t" r="r" b="b"/>
              <a:pathLst>
                <a:path w="1061" h="982" extrusionOk="0">
                  <a:moveTo>
                    <a:pt x="295" y="1"/>
                  </a:moveTo>
                  <a:cubicBezTo>
                    <a:pt x="283" y="1"/>
                    <a:pt x="272" y="1"/>
                    <a:pt x="260" y="1"/>
                  </a:cubicBezTo>
                  <a:cubicBezTo>
                    <a:pt x="113" y="5"/>
                    <a:pt x="0" y="137"/>
                    <a:pt x="21" y="284"/>
                  </a:cubicBezTo>
                  <a:cubicBezTo>
                    <a:pt x="22" y="285"/>
                    <a:pt x="22" y="288"/>
                    <a:pt x="22" y="289"/>
                  </a:cubicBezTo>
                  <a:cubicBezTo>
                    <a:pt x="44" y="433"/>
                    <a:pt x="145" y="553"/>
                    <a:pt x="282" y="598"/>
                  </a:cubicBezTo>
                  <a:cubicBezTo>
                    <a:pt x="282" y="598"/>
                    <a:pt x="385" y="642"/>
                    <a:pt x="522" y="898"/>
                  </a:cubicBezTo>
                  <a:cubicBezTo>
                    <a:pt x="544" y="937"/>
                    <a:pt x="580" y="966"/>
                    <a:pt x="623" y="977"/>
                  </a:cubicBezTo>
                  <a:cubicBezTo>
                    <a:pt x="636" y="980"/>
                    <a:pt x="649" y="981"/>
                    <a:pt x="662" y="981"/>
                  </a:cubicBezTo>
                  <a:cubicBezTo>
                    <a:pt x="683" y="981"/>
                    <a:pt x="704" y="977"/>
                    <a:pt x="724" y="968"/>
                  </a:cubicBezTo>
                  <a:cubicBezTo>
                    <a:pt x="810" y="932"/>
                    <a:pt x="920" y="870"/>
                    <a:pt x="1023" y="765"/>
                  </a:cubicBezTo>
                  <a:cubicBezTo>
                    <a:pt x="1034" y="751"/>
                    <a:pt x="1044" y="738"/>
                    <a:pt x="1049" y="722"/>
                  </a:cubicBezTo>
                  <a:cubicBezTo>
                    <a:pt x="1060" y="689"/>
                    <a:pt x="1055" y="652"/>
                    <a:pt x="1036" y="625"/>
                  </a:cubicBezTo>
                  <a:cubicBezTo>
                    <a:pt x="817" y="309"/>
                    <a:pt x="670" y="126"/>
                    <a:pt x="670" y="126"/>
                  </a:cubicBezTo>
                  <a:cubicBezTo>
                    <a:pt x="640" y="85"/>
                    <a:pt x="607" y="53"/>
                    <a:pt x="570" y="40"/>
                  </a:cubicBezTo>
                  <a:cubicBezTo>
                    <a:pt x="488" y="9"/>
                    <a:pt x="388" y="1"/>
                    <a:pt x="2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024;p45">
              <a:extLst>
                <a:ext uri="{FF2B5EF4-FFF2-40B4-BE49-F238E27FC236}">
                  <a16:creationId xmlns:a16="http://schemas.microsoft.com/office/drawing/2014/main" id="{95C90028-BD99-D57B-5789-3D0B7B914CD3}"/>
                </a:ext>
              </a:extLst>
            </p:cNvPr>
            <p:cNvSpPr/>
            <p:nvPr/>
          </p:nvSpPr>
          <p:spPr>
            <a:xfrm>
              <a:off x="8355580" y="354706"/>
              <a:ext cx="362358" cy="120446"/>
            </a:xfrm>
            <a:custGeom>
              <a:avLst/>
              <a:gdLst/>
              <a:ahLst/>
              <a:cxnLst/>
              <a:rect l="l" t="t" r="r" b="b"/>
              <a:pathLst>
                <a:path w="1420" h="472" extrusionOk="0">
                  <a:moveTo>
                    <a:pt x="616" y="1"/>
                  </a:moveTo>
                  <a:cubicBezTo>
                    <a:pt x="190" y="1"/>
                    <a:pt x="0" y="334"/>
                    <a:pt x="0" y="334"/>
                  </a:cubicBezTo>
                  <a:cubicBezTo>
                    <a:pt x="0" y="334"/>
                    <a:pt x="671" y="472"/>
                    <a:pt x="1124" y="472"/>
                  </a:cubicBezTo>
                  <a:cubicBezTo>
                    <a:pt x="1243" y="472"/>
                    <a:pt x="1347" y="463"/>
                    <a:pt x="1419" y="439"/>
                  </a:cubicBezTo>
                  <a:cubicBezTo>
                    <a:pt x="1278" y="216"/>
                    <a:pt x="1088" y="47"/>
                    <a:pt x="709" y="6"/>
                  </a:cubicBezTo>
                  <a:cubicBezTo>
                    <a:pt x="677" y="2"/>
                    <a:pt x="646" y="1"/>
                    <a:pt x="6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025;p45">
              <a:extLst>
                <a:ext uri="{FF2B5EF4-FFF2-40B4-BE49-F238E27FC236}">
                  <a16:creationId xmlns:a16="http://schemas.microsoft.com/office/drawing/2014/main" id="{9AD34EE3-1150-0153-6207-36A2AF69CD09}"/>
                </a:ext>
              </a:extLst>
            </p:cNvPr>
            <p:cNvSpPr/>
            <p:nvPr/>
          </p:nvSpPr>
          <p:spPr>
            <a:xfrm>
              <a:off x="8265500" y="504753"/>
              <a:ext cx="367206" cy="572628"/>
            </a:xfrm>
            <a:custGeom>
              <a:avLst/>
              <a:gdLst/>
              <a:ahLst/>
              <a:cxnLst/>
              <a:rect l="l" t="t" r="r" b="b"/>
              <a:pathLst>
                <a:path w="1439" h="2244" extrusionOk="0">
                  <a:moveTo>
                    <a:pt x="516" y="1"/>
                  </a:moveTo>
                  <a:cubicBezTo>
                    <a:pt x="496" y="1"/>
                    <a:pt x="476" y="2"/>
                    <a:pt x="458" y="5"/>
                  </a:cubicBezTo>
                  <a:cubicBezTo>
                    <a:pt x="399" y="13"/>
                    <a:pt x="395" y="178"/>
                    <a:pt x="395" y="178"/>
                  </a:cubicBezTo>
                  <a:cubicBezTo>
                    <a:pt x="385" y="161"/>
                    <a:pt x="379" y="140"/>
                    <a:pt x="374" y="120"/>
                  </a:cubicBezTo>
                  <a:cubicBezTo>
                    <a:pt x="373" y="116"/>
                    <a:pt x="373" y="113"/>
                    <a:pt x="371" y="110"/>
                  </a:cubicBezTo>
                  <a:cubicBezTo>
                    <a:pt x="370" y="110"/>
                    <a:pt x="288" y="135"/>
                    <a:pt x="219" y="234"/>
                  </a:cubicBezTo>
                  <a:cubicBezTo>
                    <a:pt x="145" y="338"/>
                    <a:pt x="84" y="521"/>
                    <a:pt x="133" y="843"/>
                  </a:cubicBezTo>
                  <a:cubicBezTo>
                    <a:pt x="137" y="885"/>
                    <a:pt x="61" y="1023"/>
                    <a:pt x="30" y="1209"/>
                  </a:cubicBezTo>
                  <a:cubicBezTo>
                    <a:pt x="1" y="1390"/>
                    <a:pt x="21" y="1772"/>
                    <a:pt x="185" y="2179"/>
                  </a:cubicBezTo>
                  <a:cubicBezTo>
                    <a:pt x="192" y="2197"/>
                    <a:pt x="208" y="2208"/>
                    <a:pt x="226" y="2212"/>
                  </a:cubicBezTo>
                  <a:cubicBezTo>
                    <a:pt x="278" y="2223"/>
                    <a:pt x="317" y="2229"/>
                    <a:pt x="344" y="2236"/>
                  </a:cubicBezTo>
                  <a:cubicBezTo>
                    <a:pt x="370" y="2241"/>
                    <a:pt x="395" y="2244"/>
                    <a:pt x="421" y="2244"/>
                  </a:cubicBezTo>
                  <a:cubicBezTo>
                    <a:pt x="454" y="2244"/>
                    <a:pt x="486" y="2239"/>
                    <a:pt x="518" y="2231"/>
                  </a:cubicBezTo>
                  <a:cubicBezTo>
                    <a:pt x="540" y="2224"/>
                    <a:pt x="567" y="2216"/>
                    <a:pt x="598" y="2207"/>
                  </a:cubicBezTo>
                  <a:cubicBezTo>
                    <a:pt x="763" y="2158"/>
                    <a:pt x="1014" y="2069"/>
                    <a:pt x="1258" y="1932"/>
                  </a:cubicBezTo>
                  <a:cubicBezTo>
                    <a:pt x="1311" y="1856"/>
                    <a:pt x="1369" y="1746"/>
                    <a:pt x="1424" y="1621"/>
                  </a:cubicBezTo>
                  <a:cubicBezTo>
                    <a:pt x="1392" y="1616"/>
                    <a:pt x="1371" y="1583"/>
                    <a:pt x="1376" y="1552"/>
                  </a:cubicBezTo>
                  <a:cubicBezTo>
                    <a:pt x="1381" y="1534"/>
                    <a:pt x="1384" y="1512"/>
                    <a:pt x="1389" y="1488"/>
                  </a:cubicBezTo>
                  <a:cubicBezTo>
                    <a:pt x="1402" y="1423"/>
                    <a:pt x="1420" y="1341"/>
                    <a:pt x="1438" y="1262"/>
                  </a:cubicBezTo>
                  <a:cubicBezTo>
                    <a:pt x="1412" y="1260"/>
                    <a:pt x="1415" y="1256"/>
                    <a:pt x="1392" y="1240"/>
                  </a:cubicBezTo>
                  <a:cubicBezTo>
                    <a:pt x="1434" y="1003"/>
                    <a:pt x="1347" y="710"/>
                    <a:pt x="1347" y="710"/>
                  </a:cubicBezTo>
                  <a:cubicBezTo>
                    <a:pt x="1282" y="690"/>
                    <a:pt x="1197" y="631"/>
                    <a:pt x="1197" y="631"/>
                  </a:cubicBezTo>
                  <a:cubicBezTo>
                    <a:pt x="1190" y="564"/>
                    <a:pt x="1203" y="366"/>
                    <a:pt x="1202" y="301"/>
                  </a:cubicBezTo>
                  <a:cubicBezTo>
                    <a:pt x="1036" y="174"/>
                    <a:pt x="746" y="1"/>
                    <a:pt x="516" y="1"/>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026;p45">
              <a:extLst>
                <a:ext uri="{FF2B5EF4-FFF2-40B4-BE49-F238E27FC236}">
                  <a16:creationId xmlns:a16="http://schemas.microsoft.com/office/drawing/2014/main" id="{064BA04C-C2C9-915F-2F12-BC5B3168C7E4}"/>
                </a:ext>
              </a:extLst>
            </p:cNvPr>
            <p:cNvSpPr/>
            <p:nvPr/>
          </p:nvSpPr>
          <p:spPr>
            <a:xfrm>
              <a:off x="8386201" y="657351"/>
              <a:ext cx="176586" cy="99266"/>
            </a:xfrm>
            <a:custGeom>
              <a:avLst/>
              <a:gdLst/>
              <a:ahLst/>
              <a:cxnLst/>
              <a:rect l="l" t="t" r="r" b="b"/>
              <a:pathLst>
                <a:path w="692" h="389" extrusionOk="0">
                  <a:moveTo>
                    <a:pt x="43" y="1"/>
                  </a:moveTo>
                  <a:cubicBezTo>
                    <a:pt x="43" y="1"/>
                    <a:pt x="15" y="34"/>
                    <a:pt x="0" y="109"/>
                  </a:cubicBezTo>
                  <a:cubicBezTo>
                    <a:pt x="158" y="129"/>
                    <a:pt x="391" y="171"/>
                    <a:pt x="484" y="201"/>
                  </a:cubicBezTo>
                  <a:cubicBezTo>
                    <a:pt x="557" y="258"/>
                    <a:pt x="692" y="389"/>
                    <a:pt x="692" y="389"/>
                  </a:cubicBezTo>
                  <a:cubicBezTo>
                    <a:pt x="692" y="389"/>
                    <a:pt x="651" y="272"/>
                    <a:pt x="530" y="145"/>
                  </a:cubicBezTo>
                  <a:cubicBezTo>
                    <a:pt x="422" y="81"/>
                    <a:pt x="301" y="41"/>
                    <a:pt x="160" y="18"/>
                  </a:cubicBezTo>
                  <a:lnTo>
                    <a:pt x="123" y="57"/>
                  </a:lnTo>
                  <a:lnTo>
                    <a:pt x="117" y="10"/>
                  </a:lnTo>
                  <a:cubicBezTo>
                    <a:pt x="93" y="6"/>
                    <a:pt x="68" y="3"/>
                    <a:pt x="43" y="1"/>
                  </a:cubicBezTo>
                  <a:close/>
                </a:path>
              </a:pathLst>
            </a:custGeom>
            <a:solidFill>
              <a:srgbClr val="4E2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027;p45">
              <a:extLst>
                <a:ext uri="{FF2B5EF4-FFF2-40B4-BE49-F238E27FC236}">
                  <a16:creationId xmlns:a16="http://schemas.microsoft.com/office/drawing/2014/main" id="{D9FB2E14-D2BF-DF32-1152-8F63036CCFD0}"/>
                </a:ext>
              </a:extLst>
            </p:cNvPr>
            <p:cNvSpPr/>
            <p:nvPr/>
          </p:nvSpPr>
          <p:spPr>
            <a:xfrm>
              <a:off x="8291529" y="659138"/>
              <a:ext cx="51547" cy="25518"/>
            </a:xfrm>
            <a:custGeom>
              <a:avLst/>
              <a:gdLst/>
              <a:ahLst/>
              <a:cxnLst/>
              <a:rect l="l" t="t" r="r" b="b"/>
              <a:pathLst>
                <a:path w="202" h="100" extrusionOk="0">
                  <a:moveTo>
                    <a:pt x="174" y="0"/>
                  </a:moveTo>
                  <a:cubicBezTo>
                    <a:pt x="90" y="0"/>
                    <a:pt x="9" y="26"/>
                    <a:pt x="9" y="26"/>
                  </a:cubicBezTo>
                  <a:cubicBezTo>
                    <a:pt x="9" y="26"/>
                    <a:pt x="0" y="73"/>
                    <a:pt x="10" y="99"/>
                  </a:cubicBezTo>
                  <a:cubicBezTo>
                    <a:pt x="64" y="81"/>
                    <a:pt x="201" y="79"/>
                    <a:pt x="201" y="79"/>
                  </a:cubicBezTo>
                  <a:cubicBezTo>
                    <a:pt x="201" y="79"/>
                    <a:pt x="202" y="39"/>
                    <a:pt x="183" y="0"/>
                  </a:cubicBezTo>
                  <a:cubicBezTo>
                    <a:pt x="180" y="0"/>
                    <a:pt x="177" y="0"/>
                    <a:pt x="174" y="0"/>
                  </a:cubicBezTo>
                  <a:close/>
                </a:path>
              </a:pathLst>
            </a:custGeom>
            <a:solidFill>
              <a:srgbClr val="4E2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028;p45">
              <a:extLst>
                <a:ext uri="{FF2B5EF4-FFF2-40B4-BE49-F238E27FC236}">
                  <a16:creationId xmlns:a16="http://schemas.microsoft.com/office/drawing/2014/main" id="{0BA166D6-04D6-9154-334B-F8FC2809C63A}"/>
                </a:ext>
              </a:extLst>
            </p:cNvPr>
            <p:cNvSpPr/>
            <p:nvPr/>
          </p:nvSpPr>
          <p:spPr>
            <a:xfrm>
              <a:off x="8509709" y="447847"/>
              <a:ext cx="250078" cy="415436"/>
            </a:xfrm>
            <a:custGeom>
              <a:avLst/>
              <a:gdLst/>
              <a:ahLst/>
              <a:cxnLst/>
              <a:rect l="l" t="t" r="r" b="b"/>
              <a:pathLst>
                <a:path w="980" h="1628" extrusionOk="0">
                  <a:moveTo>
                    <a:pt x="1" y="0"/>
                  </a:moveTo>
                  <a:lnTo>
                    <a:pt x="1" y="0"/>
                  </a:lnTo>
                  <a:cubicBezTo>
                    <a:pt x="79" y="67"/>
                    <a:pt x="165" y="152"/>
                    <a:pt x="243" y="259"/>
                  </a:cubicBezTo>
                  <a:cubicBezTo>
                    <a:pt x="235" y="333"/>
                    <a:pt x="221" y="402"/>
                    <a:pt x="203" y="460"/>
                  </a:cubicBezTo>
                  <a:cubicBezTo>
                    <a:pt x="198" y="478"/>
                    <a:pt x="192" y="496"/>
                    <a:pt x="186" y="512"/>
                  </a:cubicBezTo>
                  <a:cubicBezTo>
                    <a:pt x="188" y="590"/>
                    <a:pt x="192" y="772"/>
                    <a:pt x="199" y="855"/>
                  </a:cubicBezTo>
                  <a:cubicBezTo>
                    <a:pt x="199" y="855"/>
                    <a:pt x="304" y="926"/>
                    <a:pt x="384" y="952"/>
                  </a:cubicBezTo>
                  <a:cubicBezTo>
                    <a:pt x="384" y="952"/>
                    <a:pt x="441" y="1310"/>
                    <a:pt x="389" y="1598"/>
                  </a:cubicBezTo>
                  <a:cubicBezTo>
                    <a:pt x="419" y="1619"/>
                    <a:pt x="462" y="1625"/>
                    <a:pt x="496" y="1627"/>
                  </a:cubicBezTo>
                  <a:cubicBezTo>
                    <a:pt x="525" y="1504"/>
                    <a:pt x="557" y="1390"/>
                    <a:pt x="586" y="1339"/>
                  </a:cubicBezTo>
                  <a:cubicBezTo>
                    <a:pt x="586" y="1339"/>
                    <a:pt x="625" y="1327"/>
                    <a:pt x="698" y="1327"/>
                  </a:cubicBezTo>
                  <a:cubicBezTo>
                    <a:pt x="736" y="1327"/>
                    <a:pt x="784" y="1330"/>
                    <a:pt x="839" y="1340"/>
                  </a:cubicBezTo>
                  <a:cubicBezTo>
                    <a:pt x="839" y="1340"/>
                    <a:pt x="946" y="1132"/>
                    <a:pt x="980" y="945"/>
                  </a:cubicBezTo>
                  <a:cubicBezTo>
                    <a:pt x="899" y="837"/>
                    <a:pt x="898" y="833"/>
                    <a:pt x="898" y="833"/>
                  </a:cubicBezTo>
                  <a:cubicBezTo>
                    <a:pt x="898" y="833"/>
                    <a:pt x="905" y="801"/>
                    <a:pt x="919" y="667"/>
                  </a:cubicBezTo>
                  <a:cubicBezTo>
                    <a:pt x="874" y="482"/>
                    <a:pt x="849" y="323"/>
                    <a:pt x="700" y="155"/>
                  </a:cubicBezTo>
                  <a:cubicBezTo>
                    <a:pt x="473" y="42"/>
                    <a:pt x="132" y="10"/>
                    <a:pt x="1" y="0"/>
                  </a:cubicBezTo>
                  <a:close/>
                </a:path>
              </a:pathLst>
            </a:custGeom>
            <a:solidFill>
              <a:srgbClr val="4E2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029;p45">
              <a:extLst>
                <a:ext uri="{FF2B5EF4-FFF2-40B4-BE49-F238E27FC236}">
                  <a16:creationId xmlns:a16="http://schemas.microsoft.com/office/drawing/2014/main" id="{7F65CD1C-696D-5241-13EE-C7EA582430D4}"/>
                </a:ext>
              </a:extLst>
            </p:cNvPr>
            <p:cNvSpPr/>
            <p:nvPr/>
          </p:nvSpPr>
          <p:spPr>
            <a:xfrm>
              <a:off x="8396919" y="717319"/>
              <a:ext cx="112025" cy="63030"/>
            </a:xfrm>
            <a:custGeom>
              <a:avLst/>
              <a:gdLst/>
              <a:ahLst/>
              <a:cxnLst/>
              <a:rect l="l" t="t" r="r" b="b"/>
              <a:pathLst>
                <a:path w="439" h="247" extrusionOk="0">
                  <a:moveTo>
                    <a:pt x="139" y="1"/>
                  </a:moveTo>
                  <a:cubicBezTo>
                    <a:pt x="43" y="36"/>
                    <a:pt x="1" y="118"/>
                    <a:pt x="1" y="119"/>
                  </a:cubicBezTo>
                  <a:cubicBezTo>
                    <a:pt x="1" y="119"/>
                    <a:pt x="14" y="154"/>
                    <a:pt x="56" y="186"/>
                  </a:cubicBezTo>
                  <a:cubicBezTo>
                    <a:pt x="78" y="204"/>
                    <a:pt x="111" y="221"/>
                    <a:pt x="153" y="232"/>
                  </a:cubicBezTo>
                  <a:cubicBezTo>
                    <a:pt x="169" y="236"/>
                    <a:pt x="189" y="240"/>
                    <a:pt x="207" y="242"/>
                  </a:cubicBezTo>
                  <a:cubicBezTo>
                    <a:pt x="228" y="245"/>
                    <a:pt x="247" y="246"/>
                    <a:pt x="264" y="246"/>
                  </a:cubicBezTo>
                  <a:cubicBezTo>
                    <a:pt x="391" y="246"/>
                    <a:pt x="439" y="185"/>
                    <a:pt x="439" y="185"/>
                  </a:cubicBezTo>
                  <a:cubicBezTo>
                    <a:pt x="379" y="98"/>
                    <a:pt x="264" y="34"/>
                    <a:pt x="13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030;p45">
              <a:extLst>
                <a:ext uri="{FF2B5EF4-FFF2-40B4-BE49-F238E27FC236}">
                  <a16:creationId xmlns:a16="http://schemas.microsoft.com/office/drawing/2014/main" id="{3DBE22D1-BCA0-70FA-03EB-CCBAF239D804}"/>
                </a:ext>
              </a:extLst>
            </p:cNvPr>
            <p:cNvSpPr/>
            <p:nvPr/>
          </p:nvSpPr>
          <p:spPr>
            <a:xfrm>
              <a:off x="8396664" y="717319"/>
              <a:ext cx="112280" cy="47209"/>
            </a:xfrm>
            <a:custGeom>
              <a:avLst/>
              <a:gdLst/>
              <a:ahLst/>
              <a:cxnLst/>
              <a:rect l="l" t="t" r="r" b="b"/>
              <a:pathLst>
                <a:path w="440" h="185" extrusionOk="0">
                  <a:moveTo>
                    <a:pt x="139" y="1"/>
                  </a:moveTo>
                  <a:cubicBezTo>
                    <a:pt x="43" y="36"/>
                    <a:pt x="1" y="118"/>
                    <a:pt x="1" y="119"/>
                  </a:cubicBezTo>
                  <a:cubicBezTo>
                    <a:pt x="1" y="119"/>
                    <a:pt x="18" y="98"/>
                    <a:pt x="46" y="74"/>
                  </a:cubicBezTo>
                  <a:cubicBezTo>
                    <a:pt x="72" y="52"/>
                    <a:pt x="105" y="30"/>
                    <a:pt x="141" y="20"/>
                  </a:cubicBezTo>
                  <a:cubicBezTo>
                    <a:pt x="167" y="26"/>
                    <a:pt x="197" y="36"/>
                    <a:pt x="228" y="47"/>
                  </a:cubicBezTo>
                  <a:cubicBezTo>
                    <a:pt x="298" y="72"/>
                    <a:pt x="374" y="112"/>
                    <a:pt x="440" y="185"/>
                  </a:cubicBezTo>
                  <a:cubicBezTo>
                    <a:pt x="380" y="98"/>
                    <a:pt x="265" y="34"/>
                    <a:pt x="139" y="1"/>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031;p45">
              <a:extLst>
                <a:ext uri="{FF2B5EF4-FFF2-40B4-BE49-F238E27FC236}">
                  <a16:creationId xmlns:a16="http://schemas.microsoft.com/office/drawing/2014/main" id="{49C5296C-079E-3D99-9834-1C79EDD79E92}"/>
                </a:ext>
              </a:extLst>
            </p:cNvPr>
            <p:cNvSpPr/>
            <p:nvPr/>
          </p:nvSpPr>
          <p:spPr>
            <a:xfrm>
              <a:off x="8404575" y="722167"/>
              <a:ext cx="59713" cy="54609"/>
            </a:xfrm>
            <a:custGeom>
              <a:avLst/>
              <a:gdLst/>
              <a:ahLst/>
              <a:cxnLst/>
              <a:rect l="l" t="t" r="r" b="b"/>
              <a:pathLst>
                <a:path w="234" h="214" extrusionOk="0">
                  <a:moveTo>
                    <a:pt x="110" y="0"/>
                  </a:moveTo>
                  <a:cubicBezTo>
                    <a:pt x="74" y="9"/>
                    <a:pt x="41" y="32"/>
                    <a:pt x="15" y="54"/>
                  </a:cubicBezTo>
                  <a:cubicBezTo>
                    <a:pt x="10" y="64"/>
                    <a:pt x="6" y="77"/>
                    <a:pt x="5" y="88"/>
                  </a:cubicBezTo>
                  <a:cubicBezTo>
                    <a:pt x="1" y="118"/>
                    <a:pt x="9" y="145"/>
                    <a:pt x="25" y="167"/>
                  </a:cubicBezTo>
                  <a:cubicBezTo>
                    <a:pt x="47" y="185"/>
                    <a:pt x="79" y="202"/>
                    <a:pt x="121" y="213"/>
                  </a:cubicBezTo>
                  <a:cubicBezTo>
                    <a:pt x="175" y="211"/>
                    <a:pt x="222" y="172"/>
                    <a:pt x="228" y="119"/>
                  </a:cubicBezTo>
                  <a:cubicBezTo>
                    <a:pt x="233" y="84"/>
                    <a:pt x="220" y="51"/>
                    <a:pt x="197" y="27"/>
                  </a:cubicBezTo>
                  <a:cubicBezTo>
                    <a:pt x="166" y="16"/>
                    <a:pt x="136" y="7"/>
                    <a:pt x="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032;p45">
              <a:extLst>
                <a:ext uri="{FF2B5EF4-FFF2-40B4-BE49-F238E27FC236}">
                  <a16:creationId xmlns:a16="http://schemas.microsoft.com/office/drawing/2014/main" id="{270767BF-3147-6D50-137A-462C32B76BF6}"/>
                </a:ext>
              </a:extLst>
            </p:cNvPr>
            <p:cNvSpPr/>
            <p:nvPr/>
          </p:nvSpPr>
          <p:spPr>
            <a:xfrm>
              <a:off x="8298929" y="708643"/>
              <a:ext cx="54099" cy="47464"/>
            </a:xfrm>
            <a:custGeom>
              <a:avLst/>
              <a:gdLst/>
              <a:ahLst/>
              <a:cxnLst/>
              <a:rect l="l" t="t" r="r" b="b"/>
              <a:pathLst>
                <a:path w="212" h="186" extrusionOk="0">
                  <a:moveTo>
                    <a:pt x="199" y="0"/>
                  </a:moveTo>
                  <a:cubicBezTo>
                    <a:pt x="128" y="1"/>
                    <a:pt x="61" y="29"/>
                    <a:pt x="25" y="68"/>
                  </a:cubicBezTo>
                  <a:cubicBezTo>
                    <a:pt x="0" y="110"/>
                    <a:pt x="2" y="163"/>
                    <a:pt x="2" y="163"/>
                  </a:cubicBezTo>
                  <a:cubicBezTo>
                    <a:pt x="21" y="168"/>
                    <a:pt x="38" y="173"/>
                    <a:pt x="56" y="176"/>
                  </a:cubicBezTo>
                  <a:cubicBezTo>
                    <a:pt x="93" y="182"/>
                    <a:pt x="126" y="185"/>
                    <a:pt x="152" y="185"/>
                  </a:cubicBezTo>
                  <a:cubicBezTo>
                    <a:pt x="160" y="185"/>
                    <a:pt x="168" y="185"/>
                    <a:pt x="175" y="184"/>
                  </a:cubicBezTo>
                  <a:cubicBezTo>
                    <a:pt x="187" y="183"/>
                    <a:pt x="197" y="183"/>
                    <a:pt x="206" y="182"/>
                  </a:cubicBezTo>
                  <a:cubicBezTo>
                    <a:pt x="207" y="178"/>
                    <a:pt x="209" y="176"/>
                    <a:pt x="211" y="172"/>
                  </a:cubicBezTo>
                  <a:lnTo>
                    <a:pt x="212" y="158"/>
                  </a:lnTo>
                  <a:lnTo>
                    <a:pt x="212" y="142"/>
                  </a:lnTo>
                  <a:lnTo>
                    <a:pt x="211" y="127"/>
                  </a:lnTo>
                  <a:cubicBezTo>
                    <a:pt x="209" y="121"/>
                    <a:pt x="209" y="116"/>
                    <a:pt x="209" y="111"/>
                  </a:cubicBezTo>
                  <a:cubicBezTo>
                    <a:pt x="208" y="90"/>
                    <a:pt x="206" y="71"/>
                    <a:pt x="204" y="50"/>
                  </a:cubicBezTo>
                  <a:cubicBezTo>
                    <a:pt x="203" y="42"/>
                    <a:pt x="203" y="33"/>
                    <a:pt x="202" y="23"/>
                  </a:cubicBezTo>
                  <a:cubicBezTo>
                    <a:pt x="201" y="16"/>
                    <a:pt x="201" y="8"/>
                    <a:pt x="1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033;p45">
              <a:extLst>
                <a:ext uri="{FF2B5EF4-FFF2-40B4-BE49-F238E27FC236}">
                  <a16:creationId xmlns:a16="http://schemas.microsoft.com/office/drawing/2014/main" id="{88BF0FE3-6096-6C41-5094-4148BEF75E20}"/>
                </a:ext>
              </a:extLst>
            </p:cNvPr>
            <p:cNvSpPr/>
            <p:nvPr/>
          </p:nvSpPr>
          <p:spPr>
            <a:xfrm>
              <a:off x="8298419" y="708643"/>
              <a:ext cx="51802" cy="41595"/>
            </a:xfrm>
            <a:custGeom>
              <a:avLst/>
              <a:gdLst/>
              <a:ahLst/>
              <a:cxnLst/>
              <a:rect l="l" t="t" r="r" b="b"/>
              <a:pathLst>
                <a:path w="203" h="163" extrusionOk="0">
                  <a:moveTo>
                    <a:pt x="199" y="0"/>
                  </a:moveTo>
                  <a:cubicBezTo>
                    <a:pt x="128" y="1"/>
                    <a:pt x="61" y="29"/>
                    <a:pt x="25" y="68"/>
                  </a:cubicBezTo>
                  <a:cubicBezTo>
                    <a:pt x="0" y="110"/>
                    <a:pt x="3" y="163"/>
                    <a:pt x="3" y="163"/>
                  </a:cubicBezTo>
                  <a:cubicBezTo>
                    <a:pt x="3" y="163"/>
                    <a:pt x="11" y="102"/>
                    <a:pt x="32" y="74"/>
                  </a:cubicBezTo>
                  <a:cubicBezTo>
                    <a:pt x="39" y="68"/>
                    <a:pt x="51" y="60"/>
                    <a:pt x="64" y="54"/>
                  </a:cubicBezTo>
                  <a:cubicBezTo>
                    <a:pt x="84" y="45"/>
                    <a:pt x="108" y="37"/>
                    <a:pt x="137" y="31"/>
                  </a:cubicBezTo>
                  <a:cubicBezTo>
                    <a:pt x="157" y="27"/>
                    <a:pt x="179" y="24"/>
                    <a:pt x="203" y="23"/>
                  </a:cubicBezTo>
                  <a:cubicBezTo>
                    <a:pt x="201" y="16"/>
                    <a:pt x="201" y="8"/>
                    <a:pt x="199" y="0"/>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034;p45">
              <a:extLst>
                <a:ext uri="{FF2B5EF4-FFF2-40B4-BE49-F238E27FC236}">
                  <a16:creationId xmlns:a16="http://schemas.microsoft.com/office/drawing/2014/main" id="{80C1663B-80B3-87A3-E624-C34BDA9CFA4B}"/>
                </a:ext>
              </a:extLst>
            </p:cNvPr>
            <p:cNvSpPr/>
            <p:nvPr/>
          </p:nvSpPr>
          <p:spPr>
            <a:xfrm>
              <a:off x="8308371" y="716809"/>
              <a:ext cx="39298" cy="39298"/>
            </a:xfrm>
            <a:custGeom>
              <a:avLst/>
              <a:gdLst/>
              <a:ahLst/>
              <a:cxnLst/>
              <a:rect l="l" t="t" r="r" b="b"/>
              <a:pathLst>
                <a:path w="154" h="154" extrusionOk="0">
                  <a:moveTo>
                    <a:pt x="98" y="1"/>
                  </a:moveTo>
                  <a:cubicBezTo>
                    <a:pt x="69" y="7"/>
                    <a:pt x="45" y="15"/>
                    <a:pt x="25" y="23"/>
                  </a:cubicBezTo>
                  <a:cubicBezTo>
                    <a:pt x="10" y="41"/>
                    <a:pt x="0" y="64"/>
                    <a:pt x="0" y="89"/>
                  </a:cubicBezTo>
                  <a:cubicBezTo>
                    <a:pt x="0" y="110"/>
                    <a:pt x="7" y="129"/>
                    <a:pt x="17" y="144"/>
                  </a:cubicBezTo>
                  <a:cubicBezTo>
                    <a:pt x="55" y="150"/>
                    <a:pt x="88" y="153"/>
                    <a:pt x="114" y="153"/>
                  </a:cubicBezTo>
                  <a:cubicBezTo>
                    <a:pt x="122" y="153"/>
                    <a:pt x="129" y="153"/>
                    <a:pt x="136" y="152"/>
                  </a:cubicBezTo>
                  <a:cubicBezTo>
                    <a:pt x="144" y="145"/>
                    <a:pt x="149" y="137"/>
                    <a:pt x="153" y="127"/>
                  </a:cubicBezTo>
                  <a:cubicBezTo>
                    <a:pt x="135" y="123"/>
                    <a:pt x="120" y="106"/>
                    <a:pt x="119" y="88"/>
                  </a:cubicBezTo>
                  <a:cubicBezTo>
                    <a:pt x="119" y="69"/>
                    <a:pt x="134" y="52"/>
                    <a:pt x="151" y="48"/>
                  </a:cubicBezTo>
                  <a:cubicBezTo>
                    <a:pt x="141" y="25"/>
                    <a:pt x="122" y="7"/>
                    <a:pt x="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035;p45">
              <a:extLst>
                <a:ext uri="{FF2B5EF4-FFF2-40B4-BE49-F238E27FC236}">
                  <a16:creationId xmlns:a16="http://schemas.microsoft.com/office/drawing/2014/main" id="{D905BA89-ADF1-99EC-D1DA-75FAD503B6FE}"/>
                </a:ext>
              </a:extLst>
            </p:cNvPr>
            <p:cNvSpPr/>
            <p:nvPr/>
          </p:nvSpPr>
          <p:spPr>
            <a:xfrm>
              <a:off x="8310923" y="691035"/>
              <a:ext cx="43636" cy="218946"/>
            </a:xfrm>
            <a:custGeom>
              <a:avLst/>
              <a:gdLst/>
              <a:ahLst/>
              <a:cxnLst/>
              <a:rect l="l" t="t" r="r" b="b"/>
              <a:pathLst>
                <a:path w="171" h="858" extrusionOk="0">
                  <a:moveTo>
                    <a:pt x="141" y="0"/>
                  </a:moveTo>
                  <a:cubicBezTo>
                    <a:pt x="142" y="5"/>
                    <a:pt x="143" y="9"/>
                    <a:pt x="144" y="13"/>
                  </a:cubicBezTo>
                  <a:lnTo>
                    <a:pt x="144" y="13"/>
                  </a:lnTo>
                  <a:cubicBezTo>
                    <a:pt x="143" y="8"/>
                    <a:pt x="143" y="4"/>
                    <a:pt x="141" y="0"/>
                  </a:cubicBezTo>
                  <a:close/>
                  <a:moveTo>
                    <a:pt x="144" y="13"/>
                  </a:moveTo>
                  <a:lnTo>
                    <a:pt x="144" y="13"/>
                  </a:lnTo>
                  <a:cubicBezTo>
                    <a:pt x="145" y="18"/>
                    <a:pt x="146" y="24"/>
                    <a:pt x="146" y="30"/>
                  </a:cubicBezTo>
                  <a:cubicBezTo>
                    <a:pt x="147" y="39"/>
                    <a:pt x="149" y="50"/>
                    <a:pt x="150" y="60"/>
                  </a:cubicBezTo>
                  <a:cubicBezTo>
                    <a:pt x="150" y="64"/>
                    <a:pt x="152" y="66"/>
                    <a:pt x="152" y="70"/>
                  </a:cubicBezTo>
                  <a:cubicBezTo>
                    <a:pt x="153" y="78"/>
                    <a:pt x="153" y="86"/>
                    <a:pt x="155" y="93"/>
                  </a:cubicBezTo>
                  <a:cubicBezTo>
                    <a:pt x="156" y="103"/>
                    <a:pt x="156" y="112"/>
                    <a:pt x="157" y="121"/>
                  </a:cubicBezTo>
                  <a:cubicBezTo>
                    <a:pt x="160" y="142"/>
                    <a:pt x="161" y="160"/>
                    <a:pt x="162" y="181"/>
                  </a:cubicBezTo>
                  <a:cubicBezTo>
                    <a:pt x="163" y="186"/>
                    <a:pt x="163" y="191"/>
                    <a:pt x="163" y="197"/>
                  </a:cubicBezTo>
                  <a:lnTo>
                    <a:pt x="165" y="212"/>
                  </a:lnTo>
                  <a:lnTo>
                    <a:pt x="165" y="228"/>
                  </a:lnTo>
                  <a:lnTo>
                    <a:pt x="165" y="242"/>
                  </a:lnTo>
                  <a:cubicBezTo>
                    <a:pt x="163" y="246"/>
                    <a:pt x="161" y="248"/>
                    <a:pt x="160" y="252"/>
                  </a:cubicBezTo>
                  <a:cubicBezTo>
                    <a:pt x="145" y="283"/>
                    <a:pt x="131" y="313"/>
                    <a:pt x="116" y="344"/>
                  </a:cubicBezTo>
                  <a:lnTo>
                    <a:pt x="111" y="357"/>
                  </a:lnTo>
                  <a:lnTo>
                    <a:pt x="106" y="370"/>
                  </a:lnTo>
                  <a:lnTo>
                    <a:pt x="101" y="383"/>
                  </a:lnTo>
                  <a:lnTo>
                    <a:pt x="96" y="396"/>
                  </a:lnTo>
                  <a:lnTo>
                    <a:pt x="91" y="408"/>
                  </a:lnTo>
                  <a:lnTo>
                    <a:pt x="85" y="422"/>
                  </a:lnTo>
                  <a:lnTo>
                    <a:pt x="80" y="434"/>
                  </a:lnTo>
                  <a:lnTo>
                    <a:pt x="75" y="448"/>
                  </a:lnTo>
                  <a:cubicBezTo>
                    <a:pt x="64" y="484"/>
                    <a:pt x="53" y="520"/>
                    <a:pt x="46" y="557"/>
                  </a:cubicBezTo>
                  <a:cubicBezTo>
                    <a:pt x="38" y="593"/>
                    <a:pt x="34" y="631"/>
                    <a:pt x="33" y="669"/>
                  </a:cubicBezTo>
                  <a:cubicBezTo>
                    <a:pt x="28" y="671"/>
                    <a:pt x="25" y="676"/>
                    <a:pt x="21" y="680"/>
                  </a:cubicBezTo>
                  <a:cubicBezTo>
                    <a:pt x="17" y="685"/>
                    <a:pt x="15" y="691"/>
                    <a:pt x="12" y="696"/>
                  </a:cubicBezTo>
                  <a:cubicBezTo>
                    <a:pt x="7" y="707"/>
                    <a:pt x="3" y="718"/>
                    <a:pt x="2" y="731"/>
                  </a:cubicBezTo>
                  <a:cubicBezTo>
                    <a:pt x="1" y="737"/>
                    <a:pt x="1" y="742"/>
                    <a:pt x="1" y="748"/>
                  </a:cubicBezTo>
                  <a:cubicBezTo>
                    <a:pt x="1" y="755"/>
                    <a:pt x="2" y="760"/>
                    <a:pt x="3" y="767"/>
                  </a:cubicBezTo>
                  <a:cubicBezTo>
                    <a:pt x="6" y="778"/>
                    <a:pt x="11" y="789"/>
                    <a:pt x="17" y="799"/>
                  </a:cubicBezTo>
                  <a:cubicBezTo>
                    <a:pt x="23" y="808"/>
                    <a:pt x="33" y="817"/>
                    <a:pt x="42" y="824"/>
                  </a:cubicBezTo>
                  <a:cubicBezTo>
                    <a:pt x="52" y="830"/>
                    <a:pt x="63" y="835"/>
                    <a:pt x="73" y="840"/>
                  </a:cubicBezTo>
                  <a:cubicBezTo>
                    <a:pt x="94" y="850"/>
                    <a:pt x="117" y="856"/>
                    <a:pt x="140" y="858"/>
                  </a:cubicBezTo>
                  <a:lnTo>
                    <a:pt x="140" y="858"/>
                  </a:lnTo>
                  <a:cubicBezTo>
                    <a:pt x="129" y="857"/>
                    <a:pt x="118" y="855"/>
                    <a:pt x="106" y="851"/>
                  </a:cubicBezTo>
                  <a:cubicBezTo>
                    <a:pt x="96" y="848"/>
                    <a:pt x="84" y="845"/>
                    <a:pt x="74" y="839"/>
                  </a:cubicBezTo>
                  <a:cubicBezTo>
                    <a:pt x="64" y="834"/>
                    <a:pt x="53" y="827"/>
                    <a:pt x="44" y="821"/>
                  </a:cubicBezTo>
                  <a:cubicBezTo>
                    <a:pt x="36" y="815"/>
                    <a:pt x="28" y="805"/>
                    <a:pt x="21" y="796"/>
                  </a:cubicBezTo>
                  <a:cubicBezTo>
                    <a:pt x="15" y="788"/>
                    <a:pt x="11" y="777"/>
                    <a:pt x="9" y="765"/>
                  </a:cubicBezTo>
                  <a:cubicBezTo>
                    <a:pt x="6" y="755"/>
                    <a:pt x="6" y="743"/>
                    <a:pt x="7" y="732"/>
                  </a:cubicBezTo>
                  <a:cubicBezTo>
                    <a:pt x="8" y="721"/>
                    <a:pt x="12" y="710"/>
                    <a:pt x="17" y="700"/>
                  </a:cubicBezTo>
                  <a:cubicBezTo>
                    <a:pt x="20" y="695"/>
                    <a:pt x="22" y="690"/>
                    <a:pt x="26" y="685"/>
                  </a:cubicBezTo>
                  <a:cubicBezTo>
                    <a:pt x="31" y="681"/>
                    <a:pt x="35" y="676"/>
                    <a:pt x="38" y="674"/>
                  </a:cubicBezTo>
                  <a:cubicBezTo>
                    <a:pt x="38" y="674"/>
                    <a:pt x="40" y="672"/>
                    <a:pt x="40" y="671"/>
                  </a:cubicBezTo>
                  <a:cubicBezTo>
                    <a:pt x="40" y="662"/>
                    <a:pt x="40" y="651"/>
                    <a:pt x="41" y="643"/>
                  </a:cubicBezTo>
                  <a:lnTo>
                    <a:pt x="43" y="622"/>
                  </a:lnTo>
                  <a:lnTo>
                    <a:pt x="43" y="618"/>
                  </a:lnTo>
                  <a:lnTo>
                    <a:pt x="43" y="614"/>
                  </a:lnTo>
                  <a:lnTo>
                    <a:pt x="45" y="600"/>
                  </a:lnTo>
                  <a:lnTo>
                    <a:pt x="46" y="593"/>
                  </a:lnTo>
                  <a:cubicBezTo>
                    <a:pt x="46" y="592"/>
                    <a:pt x="47" y="589"/>
                    <a:pt x="47" y="587"/>
                  </a:cubicBezTo>
                  <a:lnTo>
                    <a:pt x="50" y="573"/>
                  </a:lnTo>
                  <a:lnTo>
                    <a:pt x="51" y="567"/>
                  </a:lnTo>
                  <a:lnTo>
                    <a:pt x="52" y="560"/>
                  </a:lnTo>
                  <a:cubicBezTo>
                    <a:pt x="55" y="551"/>
                    <a:pt x="56" y="542"/>
                    <a:pt x="59" y="532"/>
                  </a:cubicBezTo>
                  <a:lnTo>
                    <a:pt x="63" y="519"/>
                  </a:lnTo>
                  <a:cubicBezTo>
                    <a:pt x="63" y="517"/>
                    <a:pt x="63" y="515"/>
                    <a:pt x="64" y="512"/>
                  </a:cubicBezTo>
                  <a:lnTo>
                    <a:pt x="66" y="506"/>
                  </a:lnTo>
                  <a:lnTo>
                    <a:pt x="69" y="491"/>
                  </a:lnTo>
                  <a:cubicBezTo>
                    <a:pt x="71" y="488"/>
                    <a:pt x="72" y="483"/>
                    <a:pt x="73" y="479"/>
                  </a:cubicBezTo>
                  <a:lnTo>
                    <a:pt x="77" y="465"/>
                  </a:lnTo>
                  <a:lnTo>
                    <a:pt x="81" y="453"/>
                  </a:lnTo>
                  <a:cubicBezTo>
                    <a:pt x="94" y="417"/>
                    <a:pt x="107" y="382"/>
                    <a:pt x="123" y="346"/>
                  </a:cubicBezTo>
                  <a:cubicBezTo>
                    <a:pt x="136" y="314"/>
                    <a:pt x="150" y="283"/>
                    <a:pt x="166" y="251"/>
                  </a:cubicBezTo>
                  <a:lnTo>
                    <a:pt x="170" y="243"/>
                  </a:lnTo>
                  <a:lnTo>
                    <a:pt x="170" y="242"/>
                  </a:lnTo>
                  <a:cubicBezTo>
                    <a:pt x="169" y="221"/>
                    <a:pt x="167" y="201"/>
                    <a:pt x="168" y="181"/>
                  </a:cubicBezTo>
                  <a:cubicBezTo>
                    <a:pt x="167" y="160"/>
                    <a:pt x="165" y="142"/>
                    <a:pt x="162" y="121"/>
                  </a:cubicBezTo>
                  <a:lnTo>
                    <a:pt x="158" y="93"/>
                  </a:lnTo>
                  <a:lnTo>
                    <a:pt x="155" y="70"/>
                  </a:lnTo>
                  <a:cubicBezTo>
                    <a:pt x="155" y="66"/>
                    <a:pt x="153" y="64"/>
                    <a:pt x="153" y="60"/>
                  </a:cubicBezTo>
                  <a:cubicBezTo>
                    <a:pt x="152" y="51"/>
                    <a:pt x="149" y="41"/>
                    <a:pt x="147" y="30"/>
                  </a:cubicBezTo>
                  <a:cubicBezTo>
                    <a:pt x="146" y="24"/>
                    <a:pt x="145" y="19"/>
                    <a:pt x="144" y="13"/>
                  </a:cubicBezTo>
                  <a:close/>
                </a:path>
              </a:pathLst>
            </a:custGeom>
            <a:solidFill>
              <a:srgbClr val="B36A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036;p45">
              <a:extLst>
                <a:ext uri="{FF2B5EF4-FFF2-40B4-BE49-F238E27FC236}">
                  <a16:creationId xmlns:a16="http://schemas.microsoft.com/office/drawing/2014/main" id="{E59E2649-FA27-F77B-5D47-175235D6D793}"/>
                </a:ext>
              </a:extLst>
            </p:cNvPr>
            <p:cNvSpPr/>
            <p:nvPr/>
          </p:nvSpPr>
          <p:spPr>
            <a:xfrm>
              <a:off x="8359918" y="965356"/>
              <a:ext cx="60733" cy="10462"/>
            </a:xfrm>
            <a:custGeom>
              <a:avLst/>
              <a:gdLst/>
              <a:ahLst/>
              <a:cxnLst/>
              <a:rect l="l" t="t" r="r" b="b"/>
              <a:pathLst>
                <a:path w="238" h="41" extrusionOk="0">
                  <a:moveTo>
                    <a:pt x="229" y="1"/>
                  </a:moveTo>
                  <a:cubicBezTo>
                    <a:pt x="228" y="1"/>
                    <a:pt x="228" y="1"/>
                    <a:pt x="227" y="1"/>
                  </a:cubicBezTo>
                  <a:cubicBezTo>
                    <a:pt x="142" y="22"/>
                    <a:pt x="69" y="25"/>
                    <a:pt x="33" y="25"/>
                  </a:cubicBezTo>
                  <a:cubicBezTo>
                    <a:pt x="18" y="25"/>
                    <a:pt x="9" y="25"/>
                    <a:pt x="9" y="25"/>
                  </a:cubicBezTo>
                  <a:cubicBezTo>
                    <a:pt x="5" y="25"/>
                    <a:pt x="1" y="29"/>
                    <a:pt x="1" y="33"/>
                  </a:cubicBezTo>
                  <a:cubicBezTo>
                    <a:pt x="1" y="36"/>
                    <a:pt x="5" y="40"/>
                    <a:pt x="9" y="40"/>
                  </a:cubicBezTo>
                  <a:lnTo>
                    <a:pt x="49" y="40"/>
                  </a:lnTo>
                  <a:cubicBezTo>
                    <a:pt x="89" y="39"/>
                    <a:pt x="156" y="34"/>
                    <a:pt x="231" y="16"/>
                  </a:cubicBezTo>
                  <a:cubicBezTo>
                    <a:pt x="235" y="16"/>
                    <a:pt x="238" y="10"/>
                    <a:pt x="236" y="6"/>
                  </a:cubicBezTo>
                  <a:cubicBezTo>
                    <a:pt x="236" y="4"/>
                    <a:pt x="232" y="1"/>
                    <a:pt x="229" y="1"/>
                  </a:cubicBezTo>
                  <a:close/>
                </a:path>
              </a:pathLst>
            </a:custGeom>
            <a:solidFill>
              <a:srgbClr val="B36A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037;p45">
              <a:extLst>
                <a:ext uri="{FF2B5EF4-FFF2-40B4-BE49-F238E27FC236}">
                  <a16:creationId xmlns:a16="http://schemas.microsoft.com/office/drawing/2014/main" id="{D695F746-36F1-DD4A-5DB9-734E9940EBDD}"/>
                </a:ext>
              </a:extLst>
            </p:cNvPr>
            <p:cNvSpPr/>
            <p:nvPr/>
          </p:nvSpPr>
          <p:spPr>
            <a:xfrm>
              <a:off x="8615355" y="764272"/>
              <a:ext cx="114832" cy="156426"/>
            </a:xfrm>
            <a:custGeom>
              <a:avLst/>
              <a:gdLst/>
              <a:ahLst/>
              <a:cxnLst/>
              <a:rect l="l" t="t" r="r" b="b"/>
              <a:pathLst>
                <a:path w="450" h="613" extrusionOk="0">
                  <a:moveTo>
                    <a:pt x="232" y="0"/>
                  </a:moveTo>
                  <a:cubicBezTo>
                    <a:pt x="172" y="0"/>
                    <a:pt x="141" y="10"/>
                    <a:pt x="141" y="10"/>
                  </a:cubicBezTo>
                  <a:cubicBezTo>
                    <a:pt x="117" y="52"/>
                    <a:pt x="90" y="145"/>
                    <a:pt x="67" y="245"/>
                  </a:cubicBezTo>
                  <a:cubicBezTo>
                    <a:pt x="48" y="325"/>
                    <a:pt x="31" y="406"/>
                    <a:pt x="18" y="471"/>
                  </a:cubicBezTo>
                  <a:cubicBezTo>
                    <a:pt x="18" y="473"/>
                    <a:pt x="18" y="477"/>
                    <a:pt x="17" y="480"/>
                  </a:cubicBezTo>
                  <a:cubicBezTo>
                    <a:pt x="16" y="485"/>
                    <a:pt x="16" y="488"/>
                    <a:pt x="14" y="493"/>
                  </a:cubicBezTo>
                  <a:cubicBezTo>
                    <a:pt x="13" y="502"/>
                    <a:pt x="12" y="509"/>
                    <a:pt x="11" y="516"/>
                  </a:cubicBezTo>
                  <a:cubicBezTo>
                    <a:pt x="10" y="521"/>
                    <a:pt x="10" y="524"/>
                    <a:pt x="7" y="529"/>
                  </a:cubicBezTo>
                  <a:cubicBezTo>
                    <a:pt x="7" y="530"/>
                    <a:pt x="6" y="533"/>
                    <a:pt x="6" y="535"/>
                  </a:cubicBezTo>
                  <a:cubicBezTo>
                    <a:pt x="0" y="568"/>
                    <a:pt x="21" y="599"/>
                    <a:pt x="53" y="605"/>
                  </a:cubicBezTo>
                  <a:lnTo>
                    <a:pt x="54" y="605"/>
                  </a:lnTo>
                  <a:cubicBezTo>
                    <a:pt x="69" y="607"/>
                    <a:pt x="88" y="610"/>
                    <a:pt x="109" y="611"/>
                  </a:cubicBezTo>
                  <a:cubicBezTo>
                    <a:pt x="119" y="612"/>
                    <a:pt x="129" y="613"/>
                    <a:pt x="140" y="613"/>
                  </a:cubicBezTo>
                  <a:cubicBezTo>
                    <a:pt x="167" y="613"/>
                    <a:pt x="196" y="610"/>
                    <a:pt x="229" y="605"/>
                  </a:cubicBezTo>
                  <a:cubicBezTo>
                    <a:pt x="353" y="482"/>
                    <a:pt x="440" y="322"/>
                    <a:pt x="440" y="322"/>
                  </a:cubicBezTo>
                  <a:cubicBezTo>
                    <a:pt x="440" y="322"/>
                    <a:pt x="450" y="168"/>
                    <a:pt x="414" y="25"/>
                  </a:cubicBezTo>
                  <a:cubicBezTo>
                    <a:pt x="390" y="18"/>
                    <a:pt x="369" y="15"/>
                    <a:pt x="348" y="11"/>
                  </a:cubicBezTo>
                  <a:cubicBezTo>
                    <a:pt x="302" y="3"/>
                    <a:pt x="263" y="0"/>
                    <a:pt x="232" y="0"/>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038;p45">
              <a:extLst>
                <a:ext uri="{FF2B5EF4-FFF2-40B4-BE49-F238E27FC236}">
                  <a16:creationId xmlns:a16="http://schemas.microsoft.com/office/drawing/2014/main" id="{5BFAF5B4-62ED-6FDF-FBD1-B57F3FC39F41}"/>
                </a:ext>
              </a:extLst>
            </p:cNvPr>
            <p:cNvSpPr/>
            <p:nvPr/>
          </p:nvSpPr>
          <p:spPr>
            <a:xfrm>
              <a:off x="8630921" y="782135"/>
              <a:ext cx="81658" cy="128867"/>
            </a:xfrm>
            <a:custGeom>
              <a:avLst/>
              <a:gdLst/>
              <a:ahLst/>
              <a:cxnLst/>
              <a:rect l="l" t="t" r="r" b="b"/>
              <a:pathLst>
                <a:path w="320" h="505" extrusionOk="0">
                  <a:moveTo>
                    <a:pt x="196" y="1"/>
                  </a:moveTo>
                  <a:cubicBezTo>
                    <a:pt x="182" y="1"/>
                    <a:pt x="168" y="1"/>
                    <a:pt x="153" y="3"/>
                  </a:cubicBezTo>
                  <a:cubicBezTo>
                    <a:pt x="140" y="3"/>
                    <a:pt x="125" y="4"/>
                    <a:pt x="111" y="8"/>
                  </a:cubicBezTo>
                  <a:cubicBezTo>
                    <a:pt x="110" y="8"/>
                    <a:pt x="108" y="8"/>
                    <a:pt x="108" y="9"/>
                  </a:cubicBezTo>
                  <a:cubicBezTo>
                    <a:pt x="95" y="39"/>
                    <a:pt x="85" y="70"/>
                    <a:pt x="78" y="101"/>
                  </a:cubicBezTo>
                  <a:cubicBezTo>
                    <a:pt x="69" y="132"/>
                    <a:pt x="64" y="163"/>
                    <a:pt x="60" y="195"/>
                  </a:cubicBezTo>
                  <a:cubicBezTo>
                    <a:pt x="65" y="164"/>
                    <a:pt x="74" y="133"/>
                    <a:pt x="85" y="101"/>
                  </a:cubicBezTo>
                  <a:cubicBezTo>
                    <a:pt x="93" y="72"/>
                    <a:pt x="104" y="41"/>
                    <a:pt x="116" y="13"/>
                  </a:cubicBezTo>
                  <a:lnTo>
                    <a:pt x="116" y="13"/>
                  </a:lnTo>
                  <a:cubicBezTo>
                    <a:pt x="128" y="10"/>
                    <a:pt x="142" y="9"/>
                    <a:pt x="156" y="9"/>
                  </a:cubicBezTo>
                  <a:lnTo>
                    <a:pt x="199" y="9"/>
                  </a:lnTo>
                  <a:cubicBezTo>
                    <a:pt x="225" y="10"/>
                    <a:pt x="253" y="11"/>
                    <a:pt x="280" y="13"/>
                  </a:cubicBezTo>
                  <a:lnTo>
                    <a:pt x="280" y="13"/>
                  </a:lnTo>
                  <a:cubicBezTo>
                    <a:pt x="287" y="33"/>
                    <a:pt x="292" y="55"/>
                    <a:pt x="297" y="75"/>
                  </a:cubicBezTo>
                  <a:cubicBezTo>
                    <a:pt x="302" y="97"/>
                    <a:pt x="305" y="119"/>
                    <a:pt x="307" y="141"/>
                  </a:cubicBezTo>
                  <a:cubicBezTo>
                    <a:pt x="310" y="163"/>
                    <a:pt x="311" y="186"/>
                    <a:pt x="311" y="209"/>
                  </a:cubicBezTo>
                  <a:cubicBezTo>
                    <a:pt x="311" y="230"/>
                    <a:pt x="310" y="253"/>
                    <a:pt x="307" y="276"/>
                  </a:cubicBezTo>
                  <a:lnTo>
                    <a:pt x="307" y="274"/>
                  </a:lnTo>
                  <a:cubicBezTo>
                    <a:pt x="298" y="294"/>
                    <a:pt x="287" y="317"/>
                    <a:pt x="276" y="336"/>
                  </a:cubicBezTo>
                  <a:cubicBezTo>
                    <a:pt x="265" y="355"/>
                    <a:pt x="253" y="375"/>
                    <a:pt x="240" y="395"/>
                  </a:cubicBezTo>
                  <a:cubicBezTo>
                    <a:pt x="228" y="413"/>
                    <a:pt x="213" y="432"/>
                    <a:pt x="199" y="449"/>
                  </a:cubicBezTo>
                  <a:cubicBezTo>
                    <a:pt x="184" y="466"/>
                    <a:pt x="170" y="482"/>
                    <a:pt x="154" y="496"/>
                  </a:cubicBezTo>
                  <a:lnTo>
                    <a:pt x="154" y="496"/>
                  </a:lnTo>
                  <a:cubicBezTo>
                    <a:pt x="146" y="482"/>
                    <a:pt x="138" y="471"/>
                    <a:pt x="129" y="459"/>
                  </a:cubicBezTo>
                  <a:cubicBezTo>
                    <a:pt x="119" y="446"/>
                    <a:pt x="106" y="434"/>
                    <a:pt x="91" y="427"/>
                  </a:cubicBezTo>
                  <a:cubicBezTo>
                    <a:pt x="79" y="419"/>
                    <a:pt x="65" y="416"/>
                    <a:pt x="51" y="416"/>
                  </a:cubicBezTo>
                  <a:cubicBezTo>
                    <a:pt x="49" y="416"/>
                    <a:pt x="47" y="416"/>
                    <a:pt x="45" y="416"/>
                  </a:cubicBezTo>
                  <a:cubicBezTo>
                    <a:pt x="28" y="416"/>
                    <a:pt x="14" y="423"/>
                    <a:pt x="0" y="432"/>
                  </a:cubicBezTo>
                  <a:cubicBezTo>
                    <a:pt x="14" y="426"/>
                    <a:pt x="29" y="418"/>
                    <a:pt x="45" y="418"/>
                  </a:cubicBezTo>
                  <a:cubicBezTo>
                    <a:pt x="46" y="418"/>
                    <a:pt x="47" y="418"/>
                    <a:pt x="49" y="418"/>
                  </a:cubicBezTo>
                  <a:cubicBezTo>
                    <a:pt x="63" y="418"/>
                    <a:pt x="79" y="423"/>
                    <a:pt x="90" y="431"/>
                  </a:cubicBezTo>
                  <a:cubicBezTo>
                    <a:pt x="105" y="439"/>
                    <a:pt x="115" y="449"/>
                    <a:pt x="125" y="463"/>
                  </a:cubicBezTo>
                  <a:cubicBezTo>
                    <a:pt x="134" y="474"/>
                    <a:pt x="143" y="489"/>
                    <a:pt x="150" y="503"/>
                  </a:cubicBezTo>
                  <a:lnTo>
                    <a:pt x="150" y="504"/>
                  </a:lnTo>
                  <a:cubicBezTo>
                    <a:pt x="150" y="505"/>
                    <a:pt x="151" y="505"/>
                    <a:pt x="151" y="505"/>
                  </a:cubicBezTo>
                  <a:cubicBezTo>
                    <a:pt x="152" y="505"/>
                    <a:pt x="153" y="505"/>
                    <a:pt x="153" y="504"/>
                  </a:cubicBezTo>
                  <a:cubicBezTo>
                    <a:pt x="173" y="489"/>
                    <a:pt x="188" y="473"/>
                    <a:pt x="204" y="454"/>
                  </a:cubicBezTo>
                  <a:cubicBezTo>
                    <a:pt x="219" y="437"/>
                    <a:pt x="234" y="418"/>
                    <a:pt x="246" y="400"/>
                  </a:cubicBezTo>
                  <a:cubicBezTo>
                    <a:pt x="261" y="380"/>
                    <a:pt x="272" y="360"/>
                    <a:pt x="283" y="340"/>
                  </a:cubicBezTo>
                  <a:cubicBezTo>
                    <a:pt x="296" y="319"/>
                    <a:pt x="306" y="298"/>
                    <a:pt x="316" y="278"/>
                  </a:cubicBezTo>
                  <a:lnTo>
                    <a:pt x="316" y="277"/>
                  </a:lnTo>
                  <a:cubicBezTo>
                    <a:pt x="318" y="253"/>
                    <a:pt x="320" y="231"/>
                    <a:pt x="320" y="207"/>
                  </a:cubicBezTo>
                  <a:cubicBezTo>
                    <a:pt x="320" y="185"/>
                    <a:pt x="318" y="163"/>
                    <a:pt x="316" y="139"/>
                  </a:cubicBezTo>
                  <a:cubicBezTo>
                    <a:pt x="313" y="118"/>
                    <a:pt x="309" y="94"/>
                    <a:pt x="304" y="72"/>
                  </a:cubicBezTo>
                  <a:cubicBezTo>
                    <a:pt x="299" y="50"/>
                    <a:pt x="293" y="29"/>
                    <a:pt x="285" y="6"/>
                  </a:cubicBezTo>
                  <a:cubicBezTo>
                    <a:pt x="285" y="5"/>
                    <a:pt x="282" y="4"/>
                    <a:pt x="281" y="4"/>
                  </a:cubicBezTo>
                  <a:cubicBezTo>
                    <a:pt x="252" y="3"/>
                    <a:pt x="224" y="1"/>
                    <a:pt x="196" y="1"/>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039;p45">
              <a:extLst>
                <a:ext uri="{FF2B5EF4-FFF2-40B4-BE49-F238E27FC236}">
                  <a16:creationId xmlns:a16="http://schemas.microsoft.com/office/drawing/2014/main" id="{A43BE8B2-3B0A-A107-500F-1899DC746566}"/>
                </a:ext>
              </a:extLst>
            </p:cNvPr>
            <p:cNvSpPr/>
            <p:nvPr/>
          </p:nvSpPr>
          <p:spPr>
            <a:xfrm>
              <a:off x="8255293" y="372824"/>
              <a:ext cx="547620" cy="320253"/>
            </a:xfrm>
            <a:custGeom>
              <a:avLst/>
              <a:gdLst/>
              <a:ahLst/>
              <a:cxnLst/>
              <a:rect l="l" t="t" r="r" b="b"/>
              <a:pathLst>
                <a:path w="2146" h="1255" extrusionOk="0">
                  <a:moveTo>
                    <a:pt x="1006" y="1"/>
                  </a:moveTo>
                  <a:cubicBezTo>
                    <a:pt x="976" y="1"/>
                    <a:pt x="947" y="2"/>
                    <a:pt x="918" y="4"/>
                  </a:cubicBezTo>
                  <a:cubicBezTo>
                    <a:pt x="215" y="63"/>
                    <a:pt x="105" y="870"/>
                    <a:pt x="88" y="971"/>
                  </a:cubicBezTo>
                  <a:cubicBezTo>
                    <a:pt x="72" y="979"/>
                    <a:pt x="55" y="991"/>
                    <a:pt x="44" y="1003"/>
                  </a:cubicBezTo>
                  <a:cubicBezTo>
                    <a:pt x="26" y="1025"/>
                    <a:pt x="13" y="1050"/>
                    <a:pt x="6" y="1071"/>
                  </a:cubicBezTo>
                  <a:cubicBezTo>
                    <a:pt x="0" y="1085"/>
                    <a:pt x="11" y="1102"/>
                    <a:pt x="26" y="1102"/>
                  </a:cubicBezTo>
                  <a:cubicBezTo>
                    <a:pt x="28" y="1102"/>
                    <a:pt x="30" y="1102"/>
                    <a:pt x="32" y="1102"/>
                  </a:cubicBezTo>
                  <a:cubicBezTo>
                    <a:pt x="211" y="1067"/>
                    <a:pt x="459" y="1034"/>
                    <a:pt x="749" y="1034"/>
                  </a:cubicBezTo>
                  <a:cubicBezTo>
                    <a:pt x="1112" y="1034"/>
                    <a:pt x="1541" y="1086"/>
                    <a:pt x="1985" y="1251"/>
                  </a:cubicBezTo>
                  <a:cubicBezTo>
                    <a:pt x="1991" y="1254"/>
                    <a:pt x="1997" y="1255"/>
                    <a:pt x="2003" y="1255"/>
                  </a:cubicBezTo>
                  <a:cubicBezTo>
                    <a:pt x="2035" y="1255"/>
                    <a:pt x="2061" y="1222"/>
                    <a:pt x="2045" y="1187"/>
                  </a:cubicBezTo>
                  <a:cubicBezTo>
                    <a:pt x="2039" y="1169"/>
                    <a:pt x="2024" y="1149"/>
                    <a:pt x="2001" y="1136"/>
                  </a:cubicBezTo>
                  <a:cubicBezTo>
                    <a:pt x="2146" y="522"/>
                    <a:pt x="1618" y="21"/>
                    <a:pt x="1036" y="1"/>
                  </a:cubicBezTo>
                  <a:cubicBezTo>
                    <a:pt x="1026" y="1"/>
                    <a:pt x="1016" y="1"/>
                    <a:pt x="10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040;p45">
              <a:extLst>
                <a:ext uri="{FF2B5EF4-FFF2-40B4-BE49-F238E27FC236}">
                  <a16:creationId xmlns:a16="http://schemas.microsoft.com/office/drawing/2014/main" id="{BBFB9BD0-D9B3-2CC6-EB9E-823173BBCA6A}"/>
                </a:ext>
              </a:extLst>
            </p:cNvPr>
            <p:cNvSpPr/>
            <p:nvPr/>
          </p:nvSpPr>
          <p:spPr>
            <a:xfrm>
              <a:off x="8609230" y="572121"/>
              <a:ext cx="174034" cy="94162"/>
            </a:xfrm>
            <a:custGeom>
              <a:avLst/>
              <a:gdLst/>
              <a:ahLst/>
              <a:cxnLst/>
              <a:rect l="l" t="t" r="r" b="b"/>
              <a:pathLst>
                <a:path w="682" h="369" extrusionOk="0">
                  <a:moveTo>
                    <a:pt x="147" y="1"/>
                  </a:moveTo>
                  <a:cubicBezTo>
                    <a:pt x="121" y="1"/>
                    <a:pt x="95" y="13"/>
                    <a:pt x="80" y="35"/>
                  </a:cubicBezTo>
                  <a:cubicBezTo>
                    <a:pt x="43" y="88"/>
                    <a:pt x="0" y="176"/>
                    <a:pt x="0" y="176"/>
                  </a:cubicBezTo>
                  <a:cubicBezTo>
                    <a:pt x="0" y="176"/>
                    <a:pt x="473" y="342"/>
                    <a:pt x="648" y="368"/>
                  </a:cubicBezTo>
                  <a:cubicBezTo>
                    <a:pt x="666" y="311"/>
                    <a:pt x="674" y="263"/>
                    <a:pt x="677" y="225"/>
                  </a:cubicBezTo>
                  <a:cubicBezTo>
                    <a:pt x="681" y="176"/>
                    <a:pt x="654" y="129"/>
                    <a:pt x="606" y="113"/>
                  </a:cubicBezTo>
                  <a:cubicBezTo>
                    <a:pt x="529" y="83"/>
                    <a:pt x="385" y="37"/>
                    <a:pt x="155" y="1"/>
                  </a:cubicBezTo>
                  <a:cubicBezTo>
                    <a:pt x="153" y="1"/>
                    <a:pt x="150"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041;p45">
              <a:extLst>
                <a:ext uri="{FF2B5EF4-FFF2-40B4-BE49-F238E27FC236}">
                  <a16:creationId xmlns:a16="http://schemas.microsoft.com/office/drawing/2014/main" id="{FEDA60F6-07C3-A391-C328-1F2BAE89C33C}"/>
                </a:ext>
              </a:extLst>
            </p:cNvPr>
            <p:cNvSpPr/>
            <p:nvPr/>
          </p:nvSpPr>
          <p:spPr>
            <a:xfrm>
              <a:off x="8255548" y="604529"/>
              <a:ext cx="525674" cy="88548"/>
            </a:xfrm>
            <a:custGeom>
              <a:avLst/>
              <a:gdLst/>
              <a:ahLst/>
              <a:cxnLst/>
              <a:rect l="l" t="t" r="r" b="b"/>
              <a:pathLst>
                <a:path w="2060" h="347" extrusionOk="0">
                  <a:moveTo>
                    <a:pt x="790" y="0"/>
                  </a:moveTo>
                  <a:cubicBezTo>
                    <a:pt x="742" y="0"/>
                    <a:pt x="697" y="1"/>
                    <a:pt x="653" y="2"/>
                  </a:cubicBezTo>
                  <a:cubicBezTo>
                    <a:pt x="421" y="11"/>
                    <a:pt x="240" y="36"/>
                    <a:pt x="151" y="52"/>
                  </a:cubicBezTo>
                  <a:cubicBezTo>
                    <a:pt x="112" y="58"/>
                    <a:pt x="89" y="63"/>
                    <a:pt x="89" y="63"/>
                  </a:cubicBezTo>
                  <a:lnTo>
                    <a:pt x="82" y="67"/>
                  </a:lnTo>
                  <a:cubicBezTo>
                    <a:pt x="78" y="68"/>
                    <a:pt x="76" y="71"/>
                    <a:pt x="73" y="73"/>
                  </a:cubicBezTo>
                  <a:cubicBezTo>
                    <a:pt x="72" y="74"/>
                    <a:pt x="71" y="74"/>
                    <a:pt x="69" y="75"/>
                  </a:cubicBezTo>
                  <a:cubicBezTo>
                    <a:pt x="68" y="76"/>
                    <a:pt x="66" y="78"/>
                    <a:pt x="64" y="79"/>
                  </a:cubicBezTo>
                  <a:cubicBezTo>
                    <a:pt x="63" y="79"/>
                    <a:pt x="62" y="80"/>
                    <a:pt x="61" y="81"/>
                  </a:cubicBezTo>
                  <a:cubicBezTo>
                    <a:pt x="53" y="85"/>
                    <a:pt x="50" y="90"/>
                    <a:pt x="45" y="95"/>
                  </a:cubicBezTo>
                  <a:cubicBezTo>
                    <a:pt x="26" y="117"/>
                    <a:pt x="14" y="142"/>
                    <a:pt x="6" y="163"/>
                  </a:cubicBezTo>
                  <a:cubicBezTo>
                    <a:pt x="0" y="177"/>
                    <a:pt x="11" y="194"/>
                    <a:pt x="27" y="194"/>
                  </a:cubicBezTo>
                  <a:cubicBezTo>
                    <a:pt x="28" y="194"/>
                    <a:pt x="30" y="194"/>
                    <a:pt x="32" y="194"/>
                  </a:cubicBezTo>
                  <a:cubicBezTo>
                    <a:pt x="211" y="159"/>
                    <a:pt x="458" y="126"/>
                    <a:pt x="748" y="126"/>
                  </a:cubicBezTo>
                  <a:cubicBezTo>
                    <a:pt x="858" y="126"/>
                    <a:pt x="974" y="130"/>
                    <a:pt x="1095" y="142"/>
                  </a:cubicBezTo>
                  <a:cubicBezTo>
                    <a:pt x="1204" y="152"/>
                    <a:pt x="1317" y="168"/>
                    <a:pt x="1432" y="189"/>
                  </a:cubicBezTo>
                  <a:cubicBezTo>
                    <a:pt x="1514" y="205"/>
                    <a:pt x="1596" y="225"/>
                    <a:pt x="1680" y="246"/>
                  </a:cubicBezTo>
                  <a:cubicBezTo>
                    <a:pt x="1779" y="274"/>
                    <a:pt x="1881" y="305"/>
                    <a:pt x="1984" y="343"/>
                  </a:cubicBezTo>
                  <a:cubicBezTo>
                    <a:pt x="1990" y="346"/>
                    <a:pt x="1996" y="347"/>
                    <a:pt x="2002" y="347"/>
                  </a:cubicBezTo>
                  <a:cubicBezTo>
                    <a:pt x="2034" y="347"/>
                    <a:pt x="2060" y="315"/>
                    <a:pt x="2047" y="280"/>
                  </a:cubicBezTo>
                  <a:cubicBezTo>
                    <a:pt x="2041" y="262"/>
                    <a:pt x="2026" y="243"/>
                    <a:pt x="2002" y="229"/>
                  </a:cubicBezTo>
                  <a:cubicBezTo>
                    <a:pt x="1810" y="145"/>
                    <a:pt x="1612" y="89"/>
                    <a:pt x="1417" y="54"/>
                  </a:cubicBezTo>
                  <a:cubicBezTo>
                    <a:pt x="1195" y="13"/>
                    <a:pt x="980" y="0"/>
                    <a:pt x="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042;p45">
              <a:extLst>
                <a:ext uri="{FF2B5EF4-FFF2-40B4-BE49-F238E27FC236}">
                  <a16:creationId xmlns:a16="http://schemas.microsoft.com/office/drawing/2014/main" id="{4B806421-5B25-1F74-EEB2-C688422D5847}"/>
                </a:ext>
              </a:extLst>
            </p:cNvPr>
            <p:cNvSpPr/>
            <p:nvPr/>
          </p:nvSpPr>
          <p:spPr>
            <a:xfrm>
              <a:off x="8620713" y="652758"/>
              <a:ext cx="131163" cy="122742"/>
            </a:xfrm>
            <a:custGeom>
              <a:avLst/>
              <a:gdLst/>
              <a:ahLst/>
              <a:cxnLst/>
              <a:rect l="l" t="t" r="r" b="b"/>
              <a:pathLst>
                <a:path w="514" h="481" extrusionOk="0">
                  <a:moveTo>
                    <a:pt x="1" y="0"/>
                  </a:moveTo>
                  <a:lnTo>
                    <a:pt x="1" y="0"/>
                  </a:lnTo>
                  <a:cubicBezTo>
                    <a:pt x="47" y="34"/>
                    <a:pt x="367" y="272"/>
                    <a:pt x="440" y="481"/>
                  </a:cubicBezTo>
                  <a:cubicBezTo>
                    <a:pt x="513" y="417"/>
                    <a:pt x="497" y="315"/>
                    <a:pt x="497" y="315"/>
                  </a:cubicBezTo>
                  <a:lnTo>
                    <a:pt x="497" y="315"/>
                  </a:lnTo>
                  <a:cubicBezTo>
                    <a:pt x="497" y="315"/>
                    <a:pt x="497" y="315"/>
                    <a:pt x="497" y="315"/>
                  </a:cubicBezTo>
                  <a:lnTo>
                    <a:pt x="249" y="57"/>
                  </a:lnTo>
                  <a:cubicBezTo>
                    <a:pt x="165" y="36"/>
                    <a:pt x="83" y="1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043;p45">
              <a:extLst>
                <a:ext uri="{FF2B5EF4-FFF2-40B4-BE49-F238E27FC236}">
                  <a16:creationId xmlns:a16="http://schemas.microsoft.com/office/drawing/2014/main" id="{0E123FF8-0820-4B89-6D01-7B0E3FCA3F42}"/>
                </a:ext>
              </a:extLst>
            </p:cNvPr>
            <p:cNvSpPr/>
            <p:nvPr/>
          </p:nvSpPr>
          <p:spPr>
            <a:xfrm>
              <a:off x="7853382" y="1045228"/>
              <a:ext cx="134226" cy="92631"/>
            </a:xfrm>
            <a:custGeom>
              <a:avLst/>
              <a:gdLst/>
              <a:ahLst/>
              <a:cxnLst/>
              <a:rect l="l" t="t" r="r" b="b"/>
              <a:pathLst>
                <a:path w="526" h="363" extrusionOk="0">
                  <a:moveTo>
                    <a:pt x="80" y="0"/>
                  </a:moveTo>
                  <a:lnTo>
                    <a:pt x="1" y="328"/>
                  </a:lnTo>
                  <a:cubicBezTo>
                    <a:pt x="1" y="328"/>
                    <a:pt x="14" y="332"/>
                    <a:pt x="35" y="336"/>
                  </a:cubicBezTo>
                  <a:cubicBezTo>
                    <a:pt x="85" y="346"/>
                    <a:pt x="185" y="363"/>
                    <a:pt x="295" y="363"/>
                  </a:cubicBezTo>
                  <a:cubicBezTo>
                    <a:pt x="370" y="363"/>
                    <a:pt x="450" y="355"/>
                    <a:pt x="520" y="331"/>
                  </a:cubicBezTo>
                  <a:cubicBezTo>
                    <a:pt x="521" y="331"/>
                    <a:pt x="524" y="330"/>
                    <a:pt x="526" y="330"/>
                  </a:cubicBezTo>
                  <a:lnTo>
                    <a:pt x="526" y="92"/>
                  </a:lnTo>
                  <a:lnTo>
                    <a:pt x="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044;p45">
              <a:extLst>
                <a:ext uri="{FF2B5EF4-FFF2-40B4-BE49-F238E27FC236}">
                  <a16:creationId xmlns:a16="http://schemas.microsoft.com/office/drawing/2014/main" id="{DFB84E88-7CBE-A9DA-E113-070E7ECEA73A}"/>
                </a:ext>
              </a:extLst>
            </p:cNvPr>
            <p:cNvSpPr/>
            <p:nvPr/>
          </p:nvSpPr>
          <p:spPr>
            <a:xfrm>
              <a:off x="8415037" y="918402"/>
              <a:ext cx="229408" cy="173524"/>
            </a:xfrm>
            <a:custGeom>
              <a:avLst/>
              <a:gdLst/>
              <a:ahLst/>
              <a:cxnLst/>
              <a:rect l="l" t="t" r="r" b="b"/>
              <a:pathLst>
                <a:path w="899" h="680" extrusionOk="0">
                  <a:moveTo>
                    <a:pt x="841" y="0"/>
                  </a:moveTo>
                  <a:cubicBezTo>
                    <a:pt x="785" y="125"/>
                    <a:pt x="725" y="234"/>
                    <a:pt x="673" y="311"/>
                  </a:cubicBezTo>
                  <a:cubicBezTo>
                    <a:pt x="429" y="448"/>
                    <a:pt x="177" y="537"/>
                    <a:pt x="14" y="586"/>
                  </a:cubicBezTo>
                  <a:cubicBezTo>
                    <a:pt x="10" y="617"/>
                    <a:pt x="6" y="648"/>
                    <a:pt x="1" y="679"/>
                  </a:cubicBezTo>
                  <a:lnTo>
                    <a:pt x="708" y="425"/>
                  </a:lnTo>
                  <a:lnTo>
                    <a:pt x="899" y="174"/>
                  </a:lnTo>
                  <a:cubicBezTo>
                    <a:pt x="896" y="121"/>
                    <a:pt x="895" y="65"/>
                    <a:pt x="895" y="6"/>
                  </a:cubicBezTo>
                  <a:cubicBezTo>
                    <a:pt x="874" y="4"/>
                    <a:pt x="857" y="2"/>
                    <a:pt x="841" y="0"/>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045;p45">
              <a:extLst>
                <a:ext uri="{FF2B5EF4-FFF2-40B4-BE49-F238E27FC236}">
                  <a16:creationId xmlns:a16="http://schemas.microsoft.com/office/drawing/2014/main" id="{4C98BB9B-C1E1-32F1-D703-8D1F6F80E64C}"/>
                </a:ext>
              </a:extLst>
            </p:cNvPr>
            <p:cNvSpPr/>
            <p:nvPr/>
          </p:nvSpPr>
          <p:spPr>
            <a:xfrm>
              <a:off x="8447700" y="742072"/>
              <a:ext cx="28580" cy="28836"/>
            </a:xfrm>
            <a:custGeom>
              <a:avLst/>
              <a:gdLst/>
              <a:ahLst/>
              <a:cxnLst/>
              <a:rect l="l" t="t" r="r" b="b"/>
              <a:pathLst>
                <a:path w="112" h="113" extrusionOk="0">
                  <a:moveTo>
                    <a:pt x="57" y="1"/>
                  </a:moveTo>
                  <a:cubicBezTo>
                    <a:pt x="26" y="1"/>
                    <a:pt x="1" y="26"/>
                    <a:pt x="1" y="57"/>
                  </a:cubicBezTo>
                  <a:cubicBezTo>
                    <a:pt x="1" y="88"/>
                    <a:pt x="26" y="112"/>
                    <a:pt x="57" y="112"/>
                  </a:cubicBezTo>
                  <a:cubicBezTo>
                    <a:pt x="88" y="112"/>
                    <a:pt x="112" y="88"/>
                    <a:pt x="112" y="57"/>
                  </a:cubicBezTo>
                  <a:cubicBezTo>
                    <a:pt x="112" y="26"/>
                    <a:pt x="88" y="1"/>
                    <a:pt x="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046;p45">
              <a:extLst>
                <a:ext uri="{FF2B5EF4-FFF2-40B4-BE49-F238E27FC236}">
                  <a16:creationId xmlns:a16="http://schemas.microsoft.com/office/drawing/2014/main" id="{E22E09EE-58EB-53A5-4F5E-ED0E284BF5F9}"/>
                </a:ext>
              </a:extLst>
            </p:cNvPr>
            <p:cNvSpPr/>
            <p:nvPr/>
          </p:nvSpPr>
          <p:spPr>
            <a:xfrm>
              <a:off x="8521703" y="1396358"/>
              <a:ext cx="477190" cy="615753"/>
            </a:xfrm>
            <a:custGeom>
              <a:avLst/>
              <a:gdLst/>
              <a:ahLst/>
              <a:cxnLst/>
              <a:rect l="l" t="t" r="r" b="b"/>
              <a:pathLst>
                <a:path w="1870" h="2413" extrusionOk="0">
                  <a:moveTo>
                    <a:pt x="1866" y="1"/>
                  </a:moveTo>
                  <a:lnTo>
                    <a:pt x="1866" y="1"/>
                  </a:lnTo>
                  <a:cubicBezTo>
                    <a:pt x="1865" y="8"/>
                    <a:pt x="1863" y="13"/>
                    <a:pt x="1862" y="19"/>
                  </a:cubicBezTo>
                  <a:cubicBezTo>
                    <a:pt x="1838" y="118"/>
                    <a:pt x="1786" y="213"/>
                    <a:pt x="1692" y="282"/>
                  </a:cubicBezTo>
                  <a:cubicBezTo>
                    <a:pt x="1181" y="652"/>
                    <a:pt x="536" y="949"/>
                    <a:pt x="0" y="1158"/>
                  </a:cubicBezTo>
                  <a:cubicBezTo>
                    <a:pt x="8" y="1233"/>
                    <a:pt x="16" y="1307"/>
                    <a:pt x="23" y="1383"/>
                  </a:cubicBezTo>
                  <a:lnTo>
                    <a:pt x="271" y="1300"/>
                  </a:lnTo>
                  <a:cubicBezTo>
                    <a:pt x="366" y="1267"/>
                    <a:pt x="462" y="1252"/>
                    <a:pt x="556" y="1252"/>
                  </a:cubicBezTo>
                  <a:cubicBezTo>
                    <a:pt x="1015" y="1252"/>
                    <a:pt x="1422" y="1614"/>
                    <a:pt x="1442" y="2106"/>
                  </a:cubicBezTo>
                  <a:lnTo>
                    <a:pt x="1453" y="2413"/>
                  </a:lnTo>
                  <a:cubicBezTo>
                    <a:pt x="1468" y="2227"/>
                    <a:pt x="1496" y="2016"/>
                    <a:pt x="1542" y="1783"/>
                  </a:cubicBezTo>
                  <a:lnTo>
                    <a:pt x="1542" y="1782"/>
                  </a:lnTo>
                  <a:cubicBezTo>
                    <a:pt x="1568" y="1651"/>
                    <a:pt x="1602" y="1512"/>
                    <a:pt x="1642" y="1364"/>
                  </a:cubicBezTo>
                  <a:cubicBezTo>
                    <a:pt x="1757" y="873"/>
                    <a:pt x="1870" y="351"/>
                    <a:pt x="1866"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047;p45">
              <a:extLst>
                <a:ext uri="{FF2B5EF4-FFF2-40B4-BE49-F238E27FC236}">
                  <a16:creationId xmlns:a16="http://schemas.microsoft.com/office/drawing/2014/main" id="{58AA21ED-E484-EC53-536E-262B917E1A08}"/>
                </a:ext>
              </a:extLst>
            </p:cNvPr>
            <p:cNvSpPr/>
            <p:nvPr/>
          </p:nvSpPr>
          <p:spPr>
            <a:xfrm>
              <a:off x="8205278" y="1236103"/>
              <a:ext cx="799739" cy="546599"/>
            </a:xfrm>
            <a:custGeom>
              <a:avLst/>
              <a:gdLst/>
              <a:ahLst/>
              <a:cxnLst/>
              <a:rect l="l" t="t" r="r" b="b"/>
              <a:pathLst>
                <a:path w="3134" h="2142" extrusionOk="0">
                  <a:moveTo>
                    <a:pt x="2488" y="1"/>
                  </a:moveTo>
                  <a:cubicBezTo>
                    <a:pt x="2398" y="1"/>
                    <a:pt x="2301" y="20"/>
                    <a:pt x="2200" y="65"/>
                  </a:cubicBezTo>
                  <a:cubicBezTo>
                    <a:pt x="1178" y="522"/>
                    <a:pt x="1013" y="930"/>
                    <a:pt x="0" y="1266"/>
                  </a:cubicBezTo>
                  <a:lnTo>
                    <a:pt x="186" y="2142"/>
                  </a:lnTo>
                  <a:cubicBezTo>
                    <a:pt x="186" y="2142"/>
                    <a:pt x="1855" y="1688"/>
                    <a:pt x="2930" y="908"/>
                  </a:cubicBezTo>
                  <a:cubicBezTo>
                    <a:pt x="3024" y="840"/>
                    <a:pt x="3075" y="746"/>
                    <a:pt x="3100" y="646"/>
                  </a:cubicBezTo>
                  <a:cubicBezTo>
                    <a:pt x="3134" y="502"/>
                    <a:pt x="3066" y="321"/>
                    <a:pt x="2931" y="186"/>
                  </a:cubicBezTo>
                  <a:cubicBezTo>
                    <a:pt x="2821" y="78"/>
                    <a:pt x="2667" y="1"/>
                    <a:pt x="2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048;p45">
              <a:extLst>
                <a:ext uri="{FF2B5EF4-FFF2-40B4-BE49-F238E27FC236}">
                  <a16:creationId xmlns:a16="http://schemas.microsoft.com/office/drawing/2014/main" id="{041A7C34-E52A-C191-6C0A-D0896A9FBD38}"/>
                </a:ext>
              </a:extLst>
            </p:cNvPr>
            <p:cNvSpPr/>
            <p:nvPr/>
          </p:nvSpPr>
          <p:spPr>
            <a:xfrm>
              <a:off x="7780400" y="1197061"/>
              <a:ext cx="508577" cy="585897"/>
            </a:xfrm>
            <a:custGeom>
              <a:avLst/>
              <a:gdLst/>
              <a:ahLst/>
              <a:cxnLst/>
              <a:rect l="l" t="t" r="r" b="b"/>
              <a:pathLst>
                <a:path w="1993" h="2296" extrusionOk="0">
                  <a:moveTo>
                    <a:pt x="467" y="0"/>
                  </a:moveTo>
                  <a:cubicBezTo>
                    <a:pt x="469" y="6"/>
                    <a:pt x="471" y="15"/>
                    <a:pt x="469" y="26"/>
                  </a:cubicBezTo>
                  <a:cubicBezTo>
                    <a:pt x="462" y="97"/>
                    <a:pt x="395" y="254"/>
                    <a:pt x="295" y="428"/>
                  </a:cubicBezTo>
                  <a:cubicBezTo>
                    <a:pt x="255" y="496"/>
                    <a:pt x="215" y="558"/>
                    <a:pt x="178" y="611"/>
                  </a:cubicBezTo>
                  <a:cubicBezTo>
                    <a:pt x="102" y="722"/>
                    <a:pt x="36" y="793"/>
                    <a:pt x="7" y="793"/>
                  </a:cubicBezTo>
                  <a:cubicBezTo>
                    <a:pt x="5" y="793"/>
                    <a:pt x="2" y="792"/>
                    <a:pt x="0" y="791"/>
                  </a:cubicBezTo>
                  <a:lnTo>
                    <a:pt x="0" y="791"/>
                  </a:lnTo>
                  <a:cubicBezTo>
                    <a:pt x="1" y="791"/>
                    <a:pt x="918" y="1791"/>
                    <a:pt x="1216" y="2009"/>
                  </a:cubicBezTo>
                  <a:cubicBezTo>
                    <a:pt x="1238" y="2030"/>
                    <a:pt x="1263" y="2048"/>
                    <a:pt x="1285" y="2063"/>
                  </a:cubicBezTo>
                  <a:cubicBezTo>
                    <a:pt x="1300" y="2073"/>
                    <a:pt x="1315" y="2084"/>
                    <a:pt x="1330" y="2093"/>
                  </a:cubicBezTo>
                  <a:cubicBezTo>
                    <a:pt x="1618" y="2279"/>
                    <a:pt x="1851" y="2296"/>
                    <a:pt x="1851" y="2296"/>
                  </a:cubicBezTo>
                  <a:cubicBezTo>
                    <a:pt x="1851" y="2296"/>
                    <a:pt x="1977" y="2047"/>
                    <a:pt x="1991" y="1808"/>
                  </a:cubicBezTo>
                  <a:cubicBezTo>
                    <a:pt x="1993" y="1732"/>
                    <a:pt x="1987" y="1658"/>
                    <a:pt x="1960" y="1591"/>
                  </a:cubicBezTo>
                  <a:cubicBezTo>
                    <a:pt x="1924" y="1503"/>
                    <a:pt x="1878" y="1464"/>
                    <a:pt x="1778" y="1380"/>
                  </a:cubicBezTo>
                  <a:cubicBezTo>
                    <a:pt x="1760" y="1366"/>
                    <a:pt x="1743" y="1350"/>
                    <a:pt x="1722" y="1334"/>
                  </a:cubicBezTo>
                  <a:cubicBezTo>
                    <a:pt x="1641" y="1267"/>
                    <a:pt x="1535" y="1174"/>
                    <a:pt x="1385" y="1029"/>
                  </a:cubicBezTo>
                  <a:lnTo>
                    <a:pt x="1383" y="1028"/>
                  </a:lnTo>
                  <a:cubicBezTo>
                    <a:pt x="1352" y="994"/>
                    <a:pt x="672" y="268"/>
                    <a:pt x="4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049;p45">
              <a:extLst>
                <a:ext uri="{FF2B5EF4-FFF2-40B4-BE49-F238E27FC236}">
                  <a16:creationId xmlns:a16="http://schemas.microsoft.com/office/drawing/2014/main" id="{76587FFA-F174-D27E-AC29-219C61CFE040}"/>
                </a:ext>
              </a:extLst>
            </p:cNvPr>
            <p:cNvSpPr/>
            <p:nvPr/>
          </p:nvSpPr>
          <p:spPr>
            <a:xfrm>
              <a:off x="8119537" y="1730901"/>
              <a:ext cx="53588" cy="81148"/>
            </a:xfrm>
            <a:custGeom>
              <a:avLst/>
              <a:gdLst/>
              <a:ahLst/>
              <a:cxnLst/>
              <a:rect l="l" t="t" r="r" b="b"/>
              <a:pathLst>
                <a:path w="210" h="318" extrusionOk="0">
                  <a:moveTo>
                    <a:pt x="0" y="0"/>
                  </a:moveTo>
                  <a:cubicBezTo>
                    <a:pt x="1" y="23"/>
                    <a:pt x="2" y="47"/>
                    <a:pt x="4" y="68"/>
                  </a:cubicBezTo>
                  <a:cubicBezTo>
                    <a:pt x="6" y="88"/>
                    <a:pt x="7" y="109"/>
                    <a:pt x="8" y="127"/>
                  </a:cubicBezTo>
                  <a:lnTo>
                    <a:pt x="12" y="190"/>
                  </a:lnTo>
                  <a:lnTo>
                    <a:pt x="16" y="252"/>
                  </a:lnTo>
                  <a:lnTo>
                    <a:pt x="209" y="317"/>
                  </a:lnTo>
                  <a:cubicBezTo>
                    <a:pt x="200" y="244"/>
                    <a:pt x="188" y="172"/>
                    <a:pt x="177" y="99"/>
                  </a:cubicBezTo>
                  <a:cubicBezTo>
                    <a:pt x="123" y="72"/>
                    <a:pt x="62" y="39"/>
                    <a:pt x="0" y="0"/>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050;p45">
              <a:extLst>
                <a:ext uri="{FF2B5EF4-FFF2-40B4-BE49-F238E27FC236}">
                  <a16:creationId xmlns:a16="http://schemas.microsoft.com/office/drawing/2014/main" id="{D40F6769-83F4-E01D-84D0-497F9AF440C3}"/>
                </a:ext>
              </a:extLst>
            </p:cNvPr>
            <p:cNvSpPr/>
            <p:nvPr/>
          </p:nvSpPr>
          <p:spPr>
            <a:xfrm>
              <a:off x="8164704" y="1691858"/>
              <a:ext cx="362103" cy="140605"/>
            </a:xfrm>
            <a:custGeom>
              <a:avLst/>
              <a:gdLst/>
              <a:ahLst/>
              <a:cxnLst/>
              <a:rect l="l" t="t" r="r" b="b"/>
              <a:pathLst>
                <a:path w="1419" h="551" extrusionOk="0">
                  <a:moveTo>
                    <a:pt x="1396" y="0"/>
                  </a:moveTo>
                  <a:cubicBezTo>
                    <a:pt x="804" y="232"/>
                    <a:pt x="344" y="357"/>
                    <a:pt x="344" y="357"/>
                  </a:cubicBezTo>
                  <a:cubicBezTo>
                    <a:pt x="344" y="357"/>
                    <a:pt x="280" y="352"/>
                    <a:pt x="179" y="323"/>
                  </a:cubicBezTo>
                  <a:cubicBezTo>
                    <a:pt x="128" y="307"/>
                    <a:pt x="67" y="284"/>
                    <a:pt x="0" y="253"/>
                  </a:cubicBezTo>
                  <a:lnTo>
                    <a:pt x="0" y="253"/>
                  </a:lnTo>
                  <a:cubicBezTo>
                    <a:pt x="11" y="326"/>
                    <a:pt x="22" y="398"/>
                    <a:pt x="31" y="472"/>
                  </a:cubicBezTo>
                  <a:lnTo>
                    <a:pt x="166" y="519"/>
                  </a:lnTo>
                  <a:cubicBezTo>
                    <a:pt x="169" y="479"/>
                    <a:pt x="171" y="439"/>
                    <a:pt x="174" y="402"/>
                  </a:cubicBezTo>
                  <a:lnTo>
                    <a:pt x="174" y="402"/>
                  </a:lnTo>
                  <a:cubicBezTo>
                    <a:pt x="171" y="441"/>
                    <a:pt x="170" y="480"/>
                    <a:pt x="166" y="519"/>
                  </a:cubicBezTo>
                  <a:cubicBezTo>
                    <a:pt x="229" y="540"/>
                    <a:pt x="295" y="551"/>
                    <a:pt x="360" y="551"/>
                  </a:cubicBezTo>
                  <a:cubicBezTo>
                    <a:pt x="425" y="551"/>
                    <a:pt x="489" y="540"/>
                    <a:pt x="552" y="519"/>
                  </a:cubicBezTo>
                  <a:lnTo>
                    <a:pt x="1419" y="225"/>
                  </a:lnTo>
                  <a:cubicBezTo>
                    <a:pt x="1414" y="148"/>
                    <a:pt x="1406" y="72"/>
                    <a:pt x="1396" y="0"/>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051;p45">
              <a:extLst>
                <a:ext uri="{FF2B5EF4-FFF2-40B4-BE49-F238E27FC236}">
                  <a16:creationId xmlns:a16="http://schemas.microsoft.com/office/drawing/2014/main" id="{F9AA7828-2DCC-878E-CF7E-C80A72B94A91}"/>
                </a:ext>
              </a:extLst>
            </p:cNvPr>
            <p:cNvSpPr/>
            <p:nvPr/>
          </p:nvSpPr>
          <p:spPr>
            <a:xfrm>
              <a:off x="8185884" y="1537983"/>
              <a:ext cx="48229" cy="75023"/>
            </a:xfrm>
            <a:custGeom>
              <a:avLst/>
              <a:gdLst/>
              <a:ahLst/>
              <a:cxnLst/>
              <a:rect l="l" t="t" r="r" b="b"/>
              <a:pathLst>
                <a:path w="189" h="294" extrusionOk="0">
                  <a:moveTo>
                    <a:pt x="132" y="1"/>
                  </a:moveTo>
                  <a:cubicBezTo>
                    <a:pt x="92" y="26"/>
                    <a:pt x="1" y="107"/>
                    <a:pt x="1" y="293"/>
                  </a:cubicBezTo>
                  <a:cubicBezTo>
                    <a:pt x="62" y="117"/>
                    <a:pt x="189" y="45"/>
                    <a:pt x="189" y="45"/>
                  </a:cubicBezTo>
                  <a:cubicBezTo>
                    <a:pt x="171" y="32"/>
                    <a:pt x="153" y="16"/>
                    <a:pt x="132" y="1"/>
                  </a:cubicBezTo>
                  <a:close/>
                </a:path>
              </a:pathLst>
            </a:custGeom>
            <a:solidFill>
              <a:srgbClr val="4A485E">
                <a:alpha val="19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052;p45">
              <a:extLst>
                <a:ext uri="{FF2B5EF4-FFF2-40B4-BE49-F238E27FC236}">
                  <a16:creationId xmlns:a16="http://schemas.microsoft.com/office/drawing/2014/main" id="{FB987150-EA0A-5CBF-FCE3-3918A18BC556}"/>
                </a:ext>
              </a:extLst>
            </p:cNvPr>
            <p:cNvSpPr/>
            <p:nvPr/>
          </p:nvSpPr>
          <p:spPr>
            <a:xfrm>
              <a:off x="7739571" y="1141941"/>
              <a:ext cx="122232" cy="98500"/>
            </a:xfrm>
            <a:custGeom>
              <a:avLst/>
              <a:gdLst/>
              <a:ahLst/>
              <a:cxnLst/>
              <a:rect l="l" t="t" r="r" b="b"/>
              <a:pathLst>
                <a:path w="479" h="386" extrusionOk="0">
                  <a:moveTo>
                    <a:pt x="426" y="0"/>
                  </a:moveTo>
                  <a:cubicBezTo>
                    <a:pt x="421" y="16"/>
                    <a:pt x="411" y="30"/>
                    <a:pt x="400" y="44"/>
                  </a:cubicBezTo>
                  <a:cubicBezTo>
                    <a:pt x="297" y="149"/>
                    <a:pt x="187" y="211"/>
                    <a:pt x="101" y="247"/>
                  </a:cubicBezTo>
                  <a:cubicBezTo>
                    <a:pt x="81" y="256"/>
                    <a:pt x="60" y="261"/>
                    <a:pt x="39" y="261"/>
                  </a:cubicBezTo>
                  <a:cubicBezTo>
                    <a:pt x="26" y="261"/>
                    <a:pt x="13" y="259"/>
                    <a:pt x="0" y="256"/>
                  </a:cubicBezTo>
                  <a:lnTo>
                    <a:pt x="0" y="256"/>
                  </a:lnTo>
                  <a:cubicBezTo>
                    <a:pt x="23" y="295"/>
                    <a:pt x="48" y="339"/>
                    <a:pt x="75" y="386"/>
                  </a:cubicBezTo>
                  <a:lnTo>
                    <a:pt x="479" y="66"/>
                  </a:lnTo>
                  <a:cubicBezTo>
                    <a:pt x="462" y="45"/>
                    <a:pt x="445" y="23"/>
                    <a:pt x="426" y="0"/>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053;p45">
              <a:extLst>
                <a:ext uri="{FF2B5EF4-FFF2-40B4-BE49-F238E27FC236}">
                  <a16:creationId xmlns:a16="http://schemas.microsoft.com/office/drawing/2014/main" id="{209455FE-BAD8-E1BE-BD50-201E4BB310A7}"/>
                </a:ext>
              </a:extLst>
            </p:cNvPr>
            <p:cNvSpPr/>
            <p:nvPr/>
          </p:nvSpPr>
          <p:spPr>
            <a:xfrm>
              <a:off x="7859251" y="1129693"/>
              <a:ext cx="126825" cy="71451"/>
            </a:xfrm>
            <a:custGeom>
              <a:avLst/>
              <a:gdLst/>
              <a:ahLst/>
              <a:cxnLst/>
              <a:rect l="l" t="t" r="r" b="b"/>
              <a:pathLst>
                <a:path w="497" h="280" extrusionOk="0">
                  <a:moveTo>
                    <a:pt x="496" y="1"/>
                  </a:moveTo>
                  <a:cubicBezTo>
                    <a:pt x="426" y="25"/>
                    <a:pt x="347" y="33"/>
                    <a:pt x="272" y="33"/>
                  </a:cubicBezTo>
                  <a:cubicBezTo>
                    <a:pt x="162" y="33"/>
                    <a:pt x="61" y="16"/>
                    <a:pt x="11" y="6"/>
                  </a:cubicBezTo>
                  <a:cubicBezTo>
                    <a:pt x="8" y="32"/>
                    <a:pt x="4" y="58"/>
                    <a:pt x="0" y="85"/>
                  </a:cubicBezTo>
                  <a:lnTo>
                    <a:pt x="15" y="61"/>
                  </a:lnTo>
                  <a:lnTo>
                    <a:pt x="224" y="73"/>
                  </a:lnTo>
                  <a:cubicBezTo>
                    <a:pt x="333" y="79"/>
                    <a:pt x="418" y="170"/>
                    <a:pt x="418" y="280"/>
                  </a:cubicBezTo>
                  <a:cubicBezTo>
                    <a:pt x="461" y="260"/>
                    <a:pt x="488" y="242"/>
                    <a:pt x="493" y="224"/>
                  </a:cubicBezTo>
                  <a:cubicBezTo>
                    <a:pt x="494" y="221"/>
                    <a:pt x="494" y="217"/>
                    <a:pt x="494" y="214"/>
                  </a:cubicBezTo>
                  <a:lnTo>
                    <a:pt x="493" y="213"/>
                  </a:lnTo>
                  <a:cubicBezTo>
                    <a:pt x="494" y="145"/>
                    <a:pt x="495" y="74"/>
                    <a:pt x="496" y="1"/>
                  </a:cubicBezTo>
                  <a:close/>
                </a:path>
              </a:pathLst>
            </a:custGeom>
            <a:solidFill>
              <a:srgbClr val="EF8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054;p45">
              <a:extLst>
                <a:ext uri="{FF2B5EF4-FFF2-40B4-BE49-F238E27FC236}">
                  <a16:creationId xmlns:a16="http://schemas.microsoft.com/office/drawing/2014/main" id="{839E4FF5-83A9-F038-1668-C335AB5D3FE8}"/>
                </a:ext>
              </a:extLst>
            </p:cNvPr>
            <p:cNvSpPr/>
            <p:nvPr/>
          </p:nvSpPr>
          <p:spPr>
            <a:xfrm>
              <a:off x="7648981" y="3122917"/>
              <a:ext cx="689501" cy="68899"/>
            </a:xfrm>
            <a:custGeom>
              <a:avLst/>
              <a:gdLst/>
              <a:ahLst/>
              <a:cxnLst/>
              <a:rect l="l" t="t" r="r" b="b"/>
              <a:pathLst>
                <a:path w="2702" h="270" extrusionOk="0">
                  <a:moveTo>
                    <a:pt x="1" y="1"/>
                  </a:moveTo>
                  <a:cubicBezTo>
                    <a:pt x="9" y="84"/>
                    <a:pt x="14" y="173"/>
                    <a:pt x="15" y="269"/>
                  </a:cubicBezTo>
                  <a:lnTo>
                    <a:pt x="2567" y="269"/>
                  </a:lnTo>
                  <a:cubicBezTo>
                    <a:pt x="2604" y="269"/>
                    <a:pt x="2637" y="255"/>
                    <a:pt x="2662" y="230"/>
                  </a:cubicBezTo>
                  <a:cubicBezTo>
                    <a:pt x="2686" y="207"/>
                    <a:pt x="2701" y="173"/>
                    <a:pt x="2701" y="136"/>
                  </a:cubicBezTo>
                  <a:cubicBezTo>
                    <a:pt x="2701" y="61"/>
                    <a:pt x="2641" y="2"/>
                    <a:pt x="25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055;p45">
              <a:extLst>
                <a:ext uri="{FF2B5EF4-FFF2-40B4-BE49-F238E27FC236}">
                  <a16:creationId xmlns:a16="http://schemas.microsoft.com/office/drawing/2014/main" id="{C076C3B8-437D-A857-27DB-5EBAD6118722}"/>
                </a:ext>
              </a:extLst>
            </p:cNvPr>
            <p:cNvSpPr/>
            <p:nvPr/>
          </p:nvSpPr>
          <p:spPr>
            <a:xfrm>
              <a:off x="8285405" y="3123172"/>
              <a:ext cx="773711" cy="68899"/>
            </a:xfrm>
            <a:custGeom>
              <a:avLst/>
              <a:gdLst/>
              <a:ahLst/>
              <a:cxnLst/>
              <a:rect l="l" t="t" r="r" b="b"/>
              <a:pathLst>
                <a:path w="3032" h="270" extrusionOk="0">
                  <a:moveTo>
                    <a:pt x="135" y="1"/>
                  </a:moveTo>
                  <a:cubicBezTo>
                    <a:pt x="60" y="1"/>
                    <a:pt x="0" y="62"/>
                    <a:pt x="0" y="135"/>
                  </a:cubicBezTo>
                  <a:cubicBezTo>
                    <a:pt x="0" y="208"/>
                    <a:pt x="60" y="269"/>
                    <a:pt x="135" y="269"/>
                  </a:cubicBezTo>
                  <a:lnTo>
                    <a:pt x="2897" y="269"/>
                  </a:lnTo>
                  <a:cubicBezTo>
                    <a:pt x="2973" y="269"/>
                    <a:pt x="3031" y="208"/>
                    <a:pt x="3031" y="135"/>
                  </a:cubicBezTo>
                  <a:cubicBezTo>
                    <a:pt x="3031" y="62"/>
                    <a:pt x="2972" y="1"/>
                    <a:pt x="28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056;p45">
              <a:extLst>
                <a:ext uri="{FF2B5EF4-FFF2-40B4-BE49-F238E27FC236}">
                  <a16:creationId xmlns:a16="http://schemas.microsoft.com/office/drawing/2014/main" id="{52ED7AA1-1470-243A-6F41-8B2D9C3CF670}"/>
                </a:ext>
              </a:extLst>
            </p:cNvPr>
            <p:cNvSpPr/>
            <p:nvPr/>
          </p:nvSpPr>
          <p:spPr>
            <a:xfrm>
              <a:off x="8300716" y="2522474"/>
              <a:ext cx="746407" cy="655051"/>
            </a:xfrm>
            <a:custGeom>
              <a:avLst/>
              <a:gdLst/>
              <a:ahLst/>
              <a:cxnLst/>
              <a:rect l="l" t="t" r="r" b="b"/>
              <a:pathLst>
                <a:path w="2925" h="2567" extrusionOk="0">
                  <a:moveTo>
                    <a:pt x="1456" y="0"/>
                  </a:moveTo>
                  <a:cubicBezTo>
                    <a:pt x="1436" y="0"/>
                    <a:pt x="1416" y="13"/>
                    <a:pt x="1406" y="30"/>
                  </a:cubicBezTo>
                  <a:lnTo>
                    <a:pt x="17" y="2479"/>
                  </a:lnTo>
                  <a:cubicBezTo>
                    <a:pt x="0" y="2507"/>
                    <a:pt x="11" y="2543"/>
                    <a:pt x="40" y="2558"/>
                  </a:cubicBezTo>
                  <a:cubicBezTo>
                    <a:pt x="49" y="2563"/>
                    <a:pt x="57" y="2567"/>
                    <a:pt x="68" y="2567"/>
                  </a:cubicBezTo>
                  <a:cubicBezTo>
                    <a:pt x="88" y="2567"/>
                    <a:pt x="108" y="2554"/>
                    <a:pt x="119" y="2536"/>
                  </a:cubicBezTo>
                  <a:lnTo>
                    <a:pt x="1456" y="177"/>
                  </a:lnTo>
                  <a:lnTo>
                    <a:pt x="2807" y="2537"/>
                  </a:lnTo>
                  <a:cubicBezTo>
                    <a:pt x="2817" y="2556"/>
                    <a:pt x="2837" y="2566"/>
                    <a:pt x="2857" y="2566"/>
                  </a:cubicBezTo>
                  <a:cubicBezTo>
                    <a:pt x="2868" y="2566"/>
                    <a:pt x="2878" y="2563"/>
                    <a:pt x="2888" y="2558"/>
                  </a:cubicBezTo>
                  <a:cubicBezTo>
                    <a:pt x="2916" y="2543"/>
                    <a:pt x="2925" y="2507"/>
                    <a:pt x="2909" y="2479"/>
                  </a:cubicBezTo>
                  <a:lnTo>
                    <a:pt x="1507" y="30"/>
                  </a:lnTo>
                  <a:cubicBezTo>
                    <a:pt x="1497" y="13"/>
                    <a:pt x="1477" y="0"/>
                    <a:pt x="1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057;p45">
              <a:extLst>
                <a:ext uri="{FF2B5EF4-FFF2-40B4-BE49-F238E27FC236}">
                  <a16:creationId xmlns:a16="http://schemas.microsoft.com/office/drawing/2014/main" id="{2E5D51A5-F3C1-763F-728A-598119DC71A0}"/>
                </a:ext>
              </a:extLst>
            </p:cNvPr>
            <p:cNvSpPr/>
            <p:nvPr/>
          </p:nvSpPr>
          <p:spPr>
            <a:xfrm>
              <a:off x="8661287" y="3"/>
              <a:ext cx="22456" cy="2549010"/>
            </a:xfrm>
            <a:custGeom>
              <a:avLst/>
              <a:gdLst/>
              <a:ahLst/>
              <a:cxnLst/>
              <a:rect l="l" t="t" r="r" b="b"/>
              <a:pathLst>
                <a:path w="88" h="9989" extrusionOk="0">
                  <a:moveTo>
                    <a:pt x="43" y="1"/>
                  </a:moveTo>
                  <a:cubicBezTo>
                    <a:pt x="19" y="1"/>
                    <a:pt x="0" y="20"/>
                    <a:pt x="0" y="45"/>
                  </a:cubicBezTo>
                  <a:lnTo>
                    <a:pt x="0" y="9945"/>
                  </a:lnTo>
                  <a:cubicBezTo>
                    <a:pt x="0" y="9970"/>
                    <a:pt x="19" y="9989"/>
                    <a:pt x="43" y="9989"/>
                  </a:cubicBezTo>
                  <a:cubicBezTo>
                    <a:pt x="68" y="9989"/>
                    <a:pt x="88" y="9968"/>
                    <a:pt x="88" y="9945"/>
                  </a:cubicBezTo>
                  <a:lnTo>
                    <a:pt x="88" y="45"/>
                  </a:lnTo>
                  <a:cubicBezTo>
                    <a:pt x="88" y="20"/>
                    <a:pt x="68" y="1"/>
                    <a:pt x="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54775337"/>
      </p:ext>
    </p:extLst>
  </p:cSld>
  <p:clrMapOvr>
    <a:masterClrMapping/>
  </p:clrMapOvr>
</p:sld>
</file>

<file path=ppt/theme/theme1.xml><?xml version="1.0" encoding="utf-8"?>
<a:theme xmlns:a="http://schemas.openxmlformats.org/drawingml/2006/main" name="Air Conditioner Brand Company Profile by Slidesgo">
  <a:themeElements>
    <a:clrScheme name="Simple Light">
      <a:dk1>
        <a:srgbClr val="342745"/>
      </a:dk1>
      <a:lt1>
        <a:srgbClr val="ACBFE2"/>
      </a:lt1>
      <a:dk2>
        <a:srgbClr val="E9EEF7"/>
      </a:dk2>
      <a:lt2>
        <a:srgbClr val="BDD090"/>
      </a:lt2>
      <a:accent1>
        <a:srgbClr val="F18D4F"/>
      </a:accent1>
      <a:accent2>
        <a:srgbClr val="FEB16D"/>
      </a:accent2>
      <a:accent3>
        <a:srgbClr val="493A5B"/>
      </a:accent3>
      <a:accent4>
        <a:srgbClr val="837693"/>
      </a:accent4>
      <a:accent5>
        <a:srgbClr val="C8B5BB"/>
      </a:accent5>
      <a:accent6>
        <a:srgbClr val="FFFFFF"/>
      </a:accent6>
      <a:hlink>
        <a:srgbClr val="34274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8c541b3-3be4-41e4-aee4-d83a3b97f5b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DC97E42CB96504FB3DE8949D29C144A" ma:contentTypeVersion="16" ma:contentTypeDescription="Create a new document." ma:contentTypeScope="" ma:versionID="247700691d19249ac84ac71aba0f0612">
  <xsd:schema xmlns:xsd="http://www.w3.org/2001/XMLSchema" xmlns:xs="http://www.w3.org/2001/XMLSchema" xmlns:p="http://schemas.microsoft.com/office/2006/metadata/properties" xmlns:ns3="08c541b3-3be4-41e4-aee4-d83a3b97f5b1" xmlns:ns4="ededc38e-65b2-44a5-b872-de5d9a42d14f" targetNamespace="http://schemas.microsoft.com/office/2006/metadata/properties" ma:root="true" ma:fieldsID="d26644f86664895d4b505286d89f9aaf" ns3:_="" ns4:_="">
    <xsd:import namespace="08c541b3-3be4-41e4-aee4-d83a3b97f5b1"/>
    <xsd:import namespace="ededc38e-65b2-44a5-b872-de5d9a42d14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AutoTags" minOccurs="0"/>
                <xsd:element ref="ns3:MediaServiceOCR" minOccurs="0"/>
                <xsd:element ref="ns3:MediaServiceGenerationTime" minOccurs="0"/>
                <xsd:element ref="ns3:MediaServiceEventHashCode" minOccurs="0"/>
                <xsd:element ref="ns3:MediaServiceSystemTags" minOccurs="0"/>
                <xsd:element ref="ns3:MediaServiceDateTaken" minOccurs="0"/>
                <xsd:element ref="ns3:MediaLengthInSeconds" minOccurs="0"/>
                <xsd:element ref="ns4:SharedWithUsers" minOccurs="0"/>
                <xsd:element ref="ns4:SharedWithDetails" minOccurs="0"/>
                <xsd:element ref="ns4:SharingHintHash"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c541b3-3be4-41e4-aee4-d83a3b97f5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edc38e-65b2-44a5-b872-de5d9a42d14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585A8E-15A5-4129-92EE-00612344DC0E}">
  <ds:schemaRefs>
    <ds:schemaRef ds:uri="ededc38e-65b2-44a5-b872-de5d9a42d14f"/>
    <ds:schemaRef ds:uri="http://purl.org/dc/terms/"/>
    <ds:schemaRef ds:uri="http://schemas.microsoft.com/office/2006/documentManagement/types"/>
    <ds:schemaRef ds:uri="http://purl.org/dc/dcmitype/"/>
    <ds:schemaRef ds:uri="http://purl.org/dc/elements/1.1/"/>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08c541b3-3be4-41e4-aee4-d83a3b97f5b1"/>
  </ds:schemaRefs>
</ds:datastoreItem>
</file>

<file path=customXml/itemProps2.xml><?xml version="1.0" encoding="utf-8"?>
<ds:datastoreItem xmlns:ds="http://schemas.openxmlformats.org/officeDocument/2006/customXml" ds:itemID="{F6F42841-2C1C-4485-95BE-7BCE3529E87F}">
  <ds:schemaRefs>
    <ds:schemaRef ds:uri="http://schemas.microsoft.com/sharepoint/v3/contenttype/forms"/>
  </ds:schemaRefs>
</ds:datastoreItem>
</file>

<file path=customXml/itemProps3.xml><?xml version="1.0" encoding="utf-8"?>
<ds:datastoreItem xmlns:ds="http://schemas.openxmlformats.org/officeDocument/2006/customXml" ds:itemID="{B5BD89AE-751A-4434-807D-CD4B4B4D8831}">
  <ds:schemaRefs>
    <ds:schemaRef ds:uri="08c541b3-3be4-41e4-aee4-d83a3b97f5b1"/>
    <ds:schemaRef ds:uri="ededc38e-65b2-44a5-b872-de5d9a42d1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1375</Words>
  <Application>Microsoft Office PowerPoint</Application>
  <PresentationFormat>On-screen Show (16:9)</PresentationFormat>
  <Paragraphs>142</Paragraphs>
  <Slides>21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Work Sans Black</vt:lpstr>
      <vt:lpstr>Work Sans</vt:lpstr>
      <vt:lpstr>Arial</vt:lpstr>
      <vt:lpstr>Montserrat Medium</vt:lpstr>
      <vt:lpstr>Air Conditioner Brand Company Profile by Slidesgo</vt:lpstr>
      <vt:lpstr>Black Box System</vt:lpstr>
      <vt:lpstr>How are you feeling? Warm? Cold? Uncomfortable?</vt:lpstr>
      <vt:lpstr>The Application Problem</vt:lpstr>
      <vt:lpstr>Occupants</vt:lpstr>
      <vt:lpstr>System Diagram</vt:lpstr>
      <vt:lpstr>SCIM – A Brief Overview</vt:lpstr>
      <vt:lpstr>Proposed Mathematical Solution</vt:lpstr>
      <vt:lpstr>Validating LTI Assumption</vt:lpstr>
      <vt:lpstr>Validating LTI Assumption (cont.)</vt:lpstr>
      <vt:lpstr>Extracting system noise</vt:lpstr>
      <vt:lpstr>Characterising noise</vt:lpstr>
      <vt:lpstr>Filtering</vt:lpstr>
      <vt:lpstr>Frequency Response</vt:lpstr>
      <vt:lpstr>Bode Plot of System</vt:lpstr>
      <vt:lpstr>Modelling The Transfer Function</vt:lpstr>
      <vt:lpstr>Controller Design</vt:lpstr>
      <vt:lpstr>Triple Bottom Line Analysis</vt:lpstr>
      <vt:lpstr>Statistics</vt:lpstr>
      <vt:lpstr>PowerPoint Presentation</vt:lpstr>
      <vt:lpstr>Future Improvements and Considerations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Brendan Ritchie</cp:lastModifiedBy>
  <cp:revision>1</cp:revision>
  <dcterms:modified xsi:type="dcterms:W3CDTF">2026-04-07T15:48:52Z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0x010100FDC97E42CB96504FB3DE8949D29C144A</vt:lpwstr>
  </property>
</Properties>
</file>